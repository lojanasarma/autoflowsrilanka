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We are Group 2026-Y2-S1-KU-01, presenting AutoFlow Sri Lanka, a Vehicle Service and Fuel Management System, for the SE2030 Software Engineering module. Each of the six members leads one core module, which we will introduce as we go through the proposal. Let's begin with the problem we are solving.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service centers manage vehicles using paper job cards, handwritten fuel logbooks, phone bookings, and separate invoicing spreadsheets. This creates duplicate data entry, slow coordination between stations, booking conflicts, isolated fuel records, delayed updates, and difficulty preparing reports. AutoFlow Sri Lanka replaces this fragmented approach with one connected web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objectives are to connect all vehicle, booking, fuel, payment, notification, and user information into one system. This improves customer service through quick booking, verified payment, and digital invoices; reduces errors and booking conflicts; strengthens financial control, refunds, audit records, and reporting; and supports better planning using demand, occupancy, and fuel-consumption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actors who interact with AutoFlow: public visitors, guest and registered customers, and staff roles such as Customer Service, Scheduling, Finance, Fuel Station Manager, Operations Manager, and Administrator. They all connect to the AutoFlow platform, which is built around six core modules: Vehicle, Service Booking, Fuel, Payment, Notification, and User Management. The platform also integrates with external systems: the payment gateway and banks, SMS and email services, workshop systems, and fuel-station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modules define our core functional requirements. Vehicle Management covers registration and history; Service Booking covers slots, bays, and rescheduling; Fuel Logging tracks consumption and flags discrepancies; Payment handles verification, receipts, and refunds; Notifications reach customers by SMS, email, and in-app messages; and User Management covers login, roles, and access control. At the bottom, you can see the customer's end-to-end booking workflow, from search to service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features, AutoFlow must meet clear quality targets: a mobile-first interface accessible in English, Sinhala, and Tamil; secure role-based access with a complete audit trail for every important change; search responses under three seconds; booking completion under ten seconds after payment; 99.5% proposed uptime with backup and recovery; and an architecture that scales reliably as usage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AutoFlow serves a wide set of users: public visitors and guest customers, registered customers, and staff including Customer Service, Scheduling, Finance, Fuel Station Manager, Workshop Operations Manager, and Administrators. External stakeholders include banks and payment gateways, fuel suppliers, regulators, insurance providers, and IT support. Privacy is central to our design: customers can only access their own records, and staff receive access strictly according to their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 six core modules is owned by one team member. Vehicle Management by Manathunge, Service Booking by Ahamed, Fuel Management by Sarma, Payment Management by Nayanajith, Notification Management by Herath, and User Management by Liyanage. This table summarizes each owner's major tasks and the expected outcome for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Alongside the six core modules, AutoFlow includes supporting functions such as login, password reset, OTP verification, search, dashboards, reports, digital invoices, feedback, complaints, maintenance history, a waiting list, and audit logs. We have also defined key business rules — for example, one bay slot allows only one active booking, payment must be verified before an invoice is issued, and a lower odometer reading than the previous entry is automatically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items remain open for confirmation: exact third-party APIs for payment, SMS, email, and fuel suppliers; refund percentages and approval limits; the guest invoice retrieval method; offline synchronisation procedures; and peak load and device targets. The initial version of AutoFlow focuses on the six core modules, with loyalty programmes, advanced analytics, group bookings, and a mobile app planned as future enhancements.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timeline runs from Week 3 to Week 14. We present the proposal in Week 3, complete analysis and design in Weeks 4 and 5, build the Vehicle, User, and Service Booking modules in Weeks 6 and 7, then Fuel, Payment, and Notification in Weeks 8 and 9. We demonstrate 75% of the system in Week 10, integrate and test in Weeks 11 and 12, hold the final presentation and viva in Week 13, and submit the final report and source code in Week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AutoFlow Sri Lanka provides one reliable platform for vehicle service, fuel tracking, bookings, payments, and customer communication. It reduces manual work, improves financial control, avoids scheduling conflicts, and gives customers a better service experience. One platform, six core modules, every vehicle ready. Thank you — we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4.png"/><Relationship Id="rId4" Type="http://schemas.openxmlformats.org/officeDocument/2006/relationships/image" Target="../media/image6.png"/><Relationship Id="rId3" Type="http://schemas.openxmlformats.org/officeDocument/2006/relationships/image" Target="../media/image15.png"/><Relationship Id="rId2" Type="http://schemas.openxmlformats.org/officeDocument/2006/relationships/image" Target="../media/image14.png"/><Relationship Id="rId18" Type="http://schemas.openxmlformats.org/officeDocument/2006/relationships/notesSlide" Target="../notesSlides/notesSlide4.xml"/><Relationship Id="rId17" Type="http://schemas.openxmlformats.org/officeDocument/2006/relationships/slideLayout" Target="../slideLayouts/slideLayout1.xml"/><Relationship Id="rId16" Type="http://schemas.openxmlformats.org/officeDocument/2006/relationships/image" Target="../media/image26.png"/><Relationship Id="rId15" Type="http://schemas.openxmlformats.org/officeDocument/2006/relationships/image" Target="../media/image25.png"/><Relationship Id="rId14" Type="http://schemas.openxmlformats.org/officeDocument/2006/relationships/image" Target="../media/image24.png"/><Relationship Id="rId13" Type="http://schemas.openxmlformats.org/officeDocument/2006/relationships/image" Target="../media/image23.png"/><Relationship Id="rId12" Type="http://schemas.openxmlformats.org/officeDocument/2006/relationships/image" Target="../media/image22.png"/><Relationship Id="rId11" Type="http://schemas.openxmlformats.org/officeDocument/2006/relationships/image" Target="../media/image21.png"/><Relationship Id="rId10" Type="http://schemas.openxmlformats.org/officeDocument/2006/relationships/image" Target="../media/image20.png"/><Relationship Id="rId1" Type="http://schemas.openxmlformats.org/officeDocument/2006/relationships/image" Target="../media/image13.pn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1.xml"/><Relationship Id="rId7" Type="http://schemas.openxmlformats.org/officeDocument/2006/relationships/image" Target="../media/image32.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10.png"/><Relationship Id="rId1" Type="http://schemas.openxmlformats.org/officeDocument/2006/relationships/image" Target="../media/image33.png"/></Relationships>
</file>

<file path=ppt/slides/_rels/slide7.xml.rels><?xml version="1.0" encoding="UTF-8" standalone="yes"?>
<Relationships xmlns="http://schemas.openxmlformats.org/package/2006/relationships"><Relationship Id="rId9" Type="http://schemas.openxmlformats.org/officeDocument/2006/relationships/image" Target="../media/image38.png"/><Relationship Id="rId8" Type="http://schemas.openxmlformats.org/officeDocument/2006/relationships/image" Target="../media/image17.png"/><Relationship Id="rId7" Type="http://schemas.openxmlformats.org/officeDocument/2006/relationships/image" Target="../media/image26.png"/><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37.png"/><Relationship Id="rId11" Type="http://schemas.openxmlformats.org/officeDocument/2006/relationships/notesSlide" Target="../notesSlides/notesSlide7.xml"/><Relationship Id="rId10" Type="http://schemas.openxmlformats.org/officeDocument/2006/relationships/slideLayout" Target="../slideLayouts/slideLayout1.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39.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41.png"/><Relationship Id="rId1" Type="http://schemas.openxmlformats.org/officeDocument/2006/relationships/image" Target="../media/image4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080C"/>
        </a:solidFill>
        <a:effectLst/>
      </p:bgPr>
    </p:bg>
    <p:spTree>
      <p:nvGrpSpPr>
        <p:cNvPr id="1" name=""/>
        <p:cNvGrpSpPr/>
        <p:nvPr/>
      </p:nvGrpSpPr>
      <p:grpSpPr>
        <a:xfrm>
          <a:off x="0" y="0"/>
          <a:ext cx="0" cy="0"/>
          <a:chOff x="0" y="0"/>
          <a:chExt cx="0" cy="0"/>
        </a:xfrm>
      </p:grpSpPr>
      <p:pic>
        <p:nvPicPr>
          <p:cNvPr id="2" name="Image 0" descr="hero.png"/>
          <p:cNvPicPr>
            <a:picLocks noChangeAspect="1"/>
          </p:cNvPicPr>
          <p:nvPr/>
        </p:nvPicPr>
        <p:blipFill>
          <a:blip r:embed="rId1"/>
          <a:stretch>
            <a:fillRect/>
          </a:stretch>
        </p:blipFill>
        <p:spPr>
          <a:xfrm>
            <a:off x="3175" y="0"/>
            <a:ext cx="12188952" cy="6858000"/>
          </a:xfrm>
          <a:prstGeom prst="rect">
            <a:avLst/>
          </a:prstGeom>
        </p:spPr>
      </p:pic>
      <p:sp>
        <p:nvSpPr>
          <p:cNvPr id="3" name="Shape 0"/>
          <p:cNvSpPr/>
          <p:nvPr/>
        </p:nvSpPr>
        <p:spPr>
          <a:xfrm>
            <a:off x="502920" y="384048"/>
            <a:ext cx="457200" cy="457200"/>
          </a:xfrm>
          <a:prstGeom prst="ellipse">
            <a:avLst/>
          </a:prstGeom>
          <a:solidFill>
            <a:srgbClr val="2F6FED"/>
          </a:solidFill>
        </p:spPr>
      </p:sp>
      <p:pic>
        <p:nvPicPr>
          <p:cNvPr id="4" name="Image 1" descr="icons/car_white.png"/>
          <p:cNvPicPr>
            <a:picLocks noChangeAspect="1"/>
          </p:cNvPicPr>
          <p:nvPr/>
        </p:nvPicPr>
        <p:blipFill>
          <a:blip r:embed="rId2"/>
          <a:stretch>
            <a:fillRect/>
          </a:stretch>
        </p:blipFill>
        <p:spPr>
          <a:xfrm>
            <a:off x="626364" y="507492"/>
            <a:ext cx="210312" cy="210312"/>
          </a:xfrm>
          <a:prstGeom prst="rect">
            <a:avLst/>
          </a:prstGeom>
        </p:spPr>
      </p:pic>
      <p:sp>
        <p:nvSpPr>
          <p:cNvPr id="5" name="Text 1"/>
          <p:cNvSpPr/>
          <p:nvPr/>
        </p:nvSpPr>
        <p:spPr>
          <a:xfrm>
            <a:off x="1051560" y="365760"/>
            <a:ext cx="2743200" cy="274320"/>
          </a:xfrm>
          <a:prstGeom prst="rect">
            <a:avLst/>
          </a:prstGeom>
          <a:noFill/>
        </p:spPr>
        <p:txBody>
          <a:bodyPr wrap="square" rtlCol="0" anchor="ctr"/>
          <a:lstStyle/>
          <a:p>
            <a:pPr marL="0" indent="0">
              <a:buNone/>
            </a:pPr>
            <a:r>
              <a:rPr lang="en-US" sz="1500" b="1" kern="0" spc="100" dirty="0">
                <a:solidFill>
                  <a:srgbClr val="FFFFFF"/>
                </a:solidFill>
                <a:latin typeface="Arial" panose="020B0604020202020204" pitchFamily="34" charset="0"/>
                <a:ea typeface="Arial" panose="020B0604020202020204" pitchFamily="34" charset="-122"/>
                <a:cs typeface="Arial" panose="020B0604020202020204" pitchFamily="34" charset="-120"/>
              </a:rPr>
              <a:t>AUTO</a:t>
            </a:r>
            <a:r>
              <a:rPr lang="en-US" sz="1500" b="1" kern="0" spc="100" dirty="0">
                <a:solidFill>
                  <a:srgbClr val="2F6FED"/>
                </a:solidFill>
                <a:latin typeface="Arial" panose="020B0604020202020204" pitchFamily="34" charset="0"/>
                <a:ea typeface="Arial" panose="020B0604020202020204" pitchFamily="34" charset="-122"/>
                <a:cs typeface="Arial" panose="020B0604020202020204" pitchFamily="34" charset="-120"/>
              </a:rPr>
              <a:t>FLOW</a:t>
            </a:r>
            <a:endParaRPr lang="en-US" sz="1500" dirty="0"/>
          </a:p>
        </p:txBody>
      </p:sp>
      <p:sp>
        <p:nvSpPr>
          <p:cNvPr id="6" name="Text 2"/>
          <p:cNvSpPr/>
          <p:nvPr/>
        </p:nvSpPr>
        <p:spPr>
          <a:xfrm>
            <a:off x="1051560" y="621792"/>
            <a:ext cx="3657600" cy="228600"/>
          </a:xfrm>
          <a:prstGeom prst="rect">
            <a:avLst/>
          </a:prstGeom>
          <a:noFill/>
        </p:spPr>
        <p:txBody>
          <a:bodyPr wrap="square" rtlCol="0" anchor="ctr"/>
          <a:lstStyle/>
          <a:p>
            <a:pPr marL="0" indent="0">
              <a:buNone/>
            </a:pPr>
            <a:r>
              <a:rPr lang="en-US" sz="800" b="1" kern="0" spc="150" dirty="0">
                <a:solidFill>
                  <a:srgbClr val="8FA3B8"/>
                </a:solidFill>
                <a:latin typeface="Arial" panose="020B0604020202020204" pitchFamily="34" charset="0"/>
                <a:ea typeface="Arial" panose="020B0604020202020204" pitchFamily="34" charset="-122"/>
                <a:cs typeface="Arial" panose="020B0604020202020204" pitchFamily="34" charset="-120"/>
              </a:rPr>
              <a:t>SRI LANKA · GROUP PROPOSAL</a:t>
            </a:r>
            <a:endParaRPr lang="en-US" sz="800" dirty="0"/>
          </a:p>
        </p:txBody>
      </p:sp>
      <p:sp>
        <p:nvSpPr>
          <p:cNvPr id="7" name="Text 3"/>
          <p:cNvSpPr/>
          <p:nvPr/>
        </p:nvSpPr>
        <p:spPr>
          <a:xfrm>
            <a:off x="3148330" y="320040"/>
            <a:ext cx="7315200" cy="320040"/>
          </a:xfrm>
          <a:prstGeom prst="rect">
            <a:avLst/>
          </a:prstGeom>
          <a:noFill/>
        </p:spPr>
        <p:txBody>
          <a:bodyPr wrap="square" rtlCol="0" anchor="ctr"/>
          <a:lstStyle/>
          <a:p>
            <a:pPr marL="0" indent="0">
              <a:buNone/>
            </a:pPr>
            <a:r>
              <a:rPr lang="en-US" sz="1300" b="1" kern="0" spc="200" dirty="0">
                <a:solidFill>
                  <a:srgbClr val="2F6FED"/>
                </a:solidFill>
                <a:latin typeface="Arial" panose="020B0604020202020204" pitchFamily="34" charset="0"/>
                <a:ea typeface="Arial" panose="020B0604020202020204" pitchFamily="34" charset="-122"/>
                <a:cs typeface="Arial" panose="020B0604020202020204" pitchFamily="34" charset="-120"/>
              </a:rPr>
              <a:t>SE2030  ·  SOFTWARE ENGINEERING</a:t>
            </a:r>
            <a:endParaRPr lang="en-US" sz="1300" dirty="0"/>
          </a:p>
        </p:txBody>
      </p:sp>
      <p:sp>
        <p:nvSpPr>
          <p:cNvPr id="8" name="Text 4"/>
          <p:cNvSpPr/>
          <p:nvPr/>
        </p:nvSpPr>
        <p:spPr>
          <a:xfrm>
            <a:off x="457200" y="1127760"/>
            <a:ext cx="6014720" cy="1925955"/>
          </a:xfrm>
          <a:prstGeom prst="rect">
            <a:avLst/>
          </a:prstGeom>
          <a:noFill/>
        </p:spPr>
        <p:txBody>
          <a:bodyPr wrap="square" rtlCol="0" anchor="ctr"/>
          <a:lstStyle/>
          <a:p>
            <a:pPr marL="0" indent="0">
              <a:lnSpc>
                <a:spcPct val="100000"/>
              </a:lnSpc>
              <a:buNone/>
            </a:pPr>
            <a:r>
              <a:rPr lang="en-US" sz="5400" b="1" dirty="0">
                <a:solidFill>
                  <a:srgbClr val="FFFFFF"/>
                </a:solidFill>
                <a:latin typeface="Arial" panose="020B0604020202020204" pitchFamily="34" charset="0"/>
                <a:ea typeface="Arial" panose="020B0604020202020204" pitchFamily="34" charset="-122"/>
                <a:cs typeface="Arial" panose="020B0604020202020204" pitchFamily="34" charset="-120"/>
              </a:rPr>
              <a:t>AutoFlow</a:t>
            </a:r>
            <a:endParaRPr lang="en-US" sz="5400" dirty="0"/>
          </a:p>
          <a:p>
            <a:pPr marL="0" indent="0">
              <a:lnSpc>
                <a:spcPct val="100000"/>
              </a:lnSpc>
              <a:buNone/>
            </a:pPr>
            <a:r>
              <a:rPr lang="en-US" sz="5400" b="1" dirty="0">
                <a:solidFill>
                  <a:srgbClr val="FFFFFF"/>
                </a:solidFill>
                <a:latin typeface="Arial" panose="020B0604020202020204" pitchFamily="34" charset="0"/>
                <a:ea typeface="Arial" panose="020B0604020202020204" pitchFamily="34" charset="-122"/>
                <a:cs typeface="Arial" panose="020B0604020202020204" pitchFamily="34" charset="-120"/>
              </a:rPr>
              <a:t>Sri Lanka</a:t>
            </a:r>
            <a:endParaRPr lang="en-US" sz="5400" dirty="0"/>
          </a:p>
        </p:txBody>
      </p:sp>
      <p:sp>
        <p:nvSpPr>
          <p:cNvPr id="9" name="Text 5"/>
          <p:cNvSpPr/>
          <p:nvPr/>
        </p:nvSpPr>
        <p:spPr>
          <a:xfrm>
            <a:off x="502920" y="3364992"/>
            <a:ext cx="7315200" cy="457200"/>
          </a:xfrm>
          <a:prstGeom prst="rect">
            <a:avLst/>
          </a:prstGeom>
          <a:noFill/>
        </p:spPr>
        <p:txBody>
          <a:bodyPr wrap="square" rtlCol="0" anchor="ctr"/>
          <a:lstStyle/>
          <a:p>
            <a:pPr marL="0" indent="0">
              <a:buNone/>
            </a:pPr>
            <a:r>
              <a:rPr lang="en-US" sz="3200" b="1" dirty="0">
                <a:solidFill>
                  <a:srgbClr val="5FD8E8"/>
                </a:solidFill>
                <a:latin typeface="Arial" panose="020B0604020202020204" pitchFamily="34" charset="0"/>
                <a:ea typeface="Arial" panose="020B0604020202020204" pitchFamily="34" charset="-122"/>
                <a:cs typeface="Arial" panose="020B0604020202020204" pitchFamily="34" charset="-120"/>
              </a:rPr>
              <a:t>Vehicle Service &amp; Fuel Management System</a:t>
            </a:r>
            <a:endParaRPr lang="en-US" sz="3200" dirty="0"/>
          </a:p>
        </p:txBody>
      </p:sp>
      <p:sp>
        <p:nvSpPr>
          <p:cNvPr id="10" name="Text 6"/>
          <p:cNvSpPr/>
          <p:nvPr/>
        </p:nvSpPr>
        <p:spPr>
          <a:xfrm>
            <a:off x="502920" y="4047490"/>
            <a:ext cx="7315200" cy="615950"/>
          </a:xfrm>
          <a:prstGeom prst="rect">
            <a:avLst/>
          </a:prstGeom>
          <a:noFill/>
        </p:spPr>
        <p:txBody>
          <a:bodyPr wrap="square" rtlCol="0" anchor="ctr"/>
          <a:lstStyle/>
          <a:p>
            <a:pPr marL="0" indent="0">
              <a:buNone/>
            </a:pPr>
            <a:r>
              <a:rPr lang="en-US" sz="1250" dirty="0">
                <a:solidFill>
                  <a:srgbClr val="8FA3B8"/>
                </a:solidFill>
                <a:latin typeface="Arial" panose="020B0604020202020204" pitchFamily="34" charset="0"/>
                <a:ea typeface="Arial" panose="020B0604020202020204" pitchFamily="34" charset="-122"/>
                <a:cs typeface="Arial" panose="020B0604020202020204" pitchFamily="34" charset="-120"/>
              </a:rPr>
              <a:t>Group ID: </a:t>
            </a:r>
            <a:r>
              <a:rPr lang="en-US" sz="1250" b="1" dirty="0">
                <a:solidFill>
                  <a:srgbClr val="FFFFFF"/>
                </a:solidFill>
                <a:latin typeface="Arial" panose="020B0604020202020204" pitchFamily="34" charset="0"/>
                <a:ea typeface="Arial" panose="020B0604020202020204" pitchFamily="34" charset="-122"/>
                <a:cs typeface="Arial" panose="020B0604020202020204" pitchFamily="34" charset="-120"/>
              </a:rPr>
              <a:t>2026-Y2-S1-KU-01</a:t>
            </a:r>
            <a:r>
              <a:rPr lang="en-US" sz="1250" dirty="0">
                <a:solidFill>
                  <a:srgbClr val="8FA3B8"/>
                </a:solidFill>
                <a:latin typeface="Arial" panose="020B0604020202020204" pitchFamily="34" charset="0"/>
                <a:ea typeface="Arial" panose="020B0604020202020204" pitchFamily="34" charset="-122"/>
                <a:cs typeface="Arial" panose="020B0604020202020204" pitchFamily="34" charset="-120"/>
              </a:rPr>
              <a:t>      Date: </a:t>
            </a:r>
            <a:r>
              <a:rPr lang="en-US" sz="1250" b="1" dirty="0">
                <a:solidFill>
                  <a:srgbClr val="FFFFFF"/>
                </a:solidFill>
                <a:latin typeface="Arial" panose="020B0604020202020204" pitchFamily="34" charset="0"/>
                <a:ea typeface="Arial" panose="020B0604020202020204" pitchFamily="34" charset="-122"/>
                <a:cs typeface="Arial" panose="020B0604020202020204" pitchFamily="34" charset="-120"/>
              </a:rPr>
              <a:t>24 July 2026</a:t>
            </a:r>
            <a:endParaRPr lang="en-US" sz="1250" dirty="0"/>
          </a:p>
        </p:txBody>
      </p:sp>
      <p:sp>
        <p:nvSpPr>
          <p:cNvPr id="11" name="Text 7"/>
          <p:cNvSpPr/>
          <p:nvPr/>
        </p:nvSpPr>
        <p:spPr>
          <a:xfrm>
            <a:off x="502920" y="6440678"/>
            <a:ext cx="10058400" cy="274320"/>
          </a:xfrm>
          <a:prstGeom prst="rect">
            <a:avLst/>
          </a:prstGeom>
          <a:noFill/>
        </p:spPr>
        <p:txBody>
          <a:bodyPr wrap="square" rtlCol="0" anchor="ctr"/>
          <a:lstStyle/>
          <a:p>
            <a:pPr marL="0" indent="0">
              <a:buNone/>
            </a:pPr>
            <a:r>
              <a:rPr lang="en-US" sz="900" b="1" kern="0" spc="120" dirty="0">
                <a:solidFill>
                  <a:srgbClr val="6E8296"/>
                </a:solidFill>
                <a:latin typeface="Arial" panose="020B0604020202020204" pitchFamily="34" charset="0"/>
                <a:ea typeface="Arial" panose="020B0604020202020204" pitchFamily="34" charset="-122"/>
                <a:cs typeface="Arial" panose="020B0604020202020204" pitchFamily="34" charset="-120"/>
              </a:rPr>
              <a:t>WWW.AUTOFLOW.LK   ·   A CONNECTED PLATFORM FOR VEHICLE SERVICE &amp; FUEL MANAGEMENT</a:t>
            </a:r>
            <a:endParaRPr lang="en-US" sz="900" dirty="0"/>
          </a:p>
        </p:txBody>
      </p:sp>
      <p:sp>
        <p:nvSpPr>
          <p:cNvPr id="12" name="Shape 8"/>
          <p:cNvSpPr/>
          <p:nvPr/>
        </p:nvSpPr>
        <p:spPr>
          <a:xfrm>
            <a:off x="0" y="4709160"/>
            <a:ext cx="12188952" cy="1536192"/>
          </a:xfrm>
          <a:prstGeom prst="rect">
            <a:avLst/>
          </a:prstGeom>
          <a:solidFill>
            <a:srgbClr val="020608">
              <a:alpha val="78000"/>
            </a:srgbClr>
          </a:solidFill>
        </p:spPr>
      </p:sp>
      <p:sp>
        <p:nvSpPr>
          <p:cNvPr id="13" name="Text 9"/>
          <p:cNvSpPr/>
          <p:nvPr/>
        </p:nvSpPr>
        <p:spPr>
          <a:xfrm>
            <a:off x="502920" y="4828032"/>
            <a:ext cx="5486400" cy="256032"/>
          </a:xfrm>
          <a:prstGeom prst="rect">
            <a:avLst/>
          </a:prstGeom>
          <a:noFill/>
        </p:spPr>
        <p:txBody>
          <a:bodyPr wrap="square" rtlCol="0" anchor="ctr"/>
          <a:lstStyle/>
          <a:p>
            <a:pPr marL="0" indent="0">
              <a:buNone/>
            </a:pPr>
            <a:r>
              <a:rPr lang="en-US" sz="950" b="1" kern="0" spc="150" dirty="0">
                <a:solidFill>
                  <a:srgbClr val="2F6FED"/>
                </a:solidFill>
                <a:latin typeface="Arial" panose="020B0604020202020204" pitchFamily="34" charset="0"/>
                <a:ea typeface="Arial" panose="020B0604020202020204" pitchFamily="34" charset="-122"/>
                <a:cs typeface="Arial" panose="020B0604020202020204" pitchFamily="34" charset="-120"/>
              </a:rPr>
              <a:t>SIX MEMBERS · SIX CORE MODULES</a:t>
            </a:r>
            <a:endParaRPr lang="en-US" sz="950" dirty="0"/>
          </a:p>
        </p:txBody>
      </p:sp>
      <p:sp>
        <p:nvSpPr>
          <p:cNvPr id="14" name="Shape 10"/>
          <p:cNvSpPr/>
          <p:nvPr/>
        </p:nvSpPr>
        <p:spPr>
          <a:xfrm>
            <a:off x="502920" y="5138928"/>
            <a:ext cx="1783080" cy="932688"/>
          </a:xfrm>
          <a:prstGeom prst="roundRect">
            <a:avLst>
              <a:gd name="adj" fmla="val 6863"/>
            </a:avLst>
          </a:prstGeom>
          <a:solidFill>
            <a:srgbClr val="0C1A26">
              <a:alpha val="92000"/>
            </a:srgbClr>
          </a:solidFill>
          <a:ln w="9525">
            <a:solidFill>
              <a:srgbClr val="1D3A4E"/>
            </a:solidFill>
            <a:prstDash val="solid"/>
          </a:ln>
        </p:spPr>
      </p:sp>
      <p:sp>
        <p:nvSpPr>
          <p:cNvPr id="15" name="Shape 11"/>
          <p:cNvSpPr/>
          <p:nvPr/>
        </p:nvSpPr>
        <p:spPr>
          <a:xfrm>
            <a:off x="612648" y="5248656"/>
            <a:ext cx="146304" cy="146304"/>
          </a:xfrm>
          <a:prstGeom prst="ellipse">
            <a:avLst/>
          </a:prstGeom>
          <a:solidFill>
            <a:srgbClr val="2F6FED"/>
          </a:solidFill>
        </p:spPr>
      </p:sp>
      <p:sp>
        <p:nvSpPr>
          <p:cNvPr id="16" name="Text 12"/>
          <p:cNvSpPr/>
          <p:nvPr/>
        </p:nvSpPr>
        <p:spPr>
          <a:xfrm>
            <a:off x="612648" y="5449824"/>
            <a:ext cx="1563624" cy="292608"/>
          </a:xfrm>
          <a:prstGeom prst="rect">
            <a:avLst/>
          </a:prstGeom>
          <a:noFill/>
        </p:spPr>
        <p:txBody>
          <a:bodyPr wrap="square" rtlCol="0" anchor="t"/>
          <a:lstStyle/>
          <a:p>
            <a:pPr marL="0" indent="0">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Manathunge A.I</a:t>
            </a:r>
            <a:endParaRPr lang="en-US" sz="950" dirty="0"/>
          </a:p>
        </p:txBody>
      </p:sp>
      <p:sp>
        <p:nvSpPr>
          <p:cNvPr id="17" name="Text 13"/>
          <p:cNvSpPr/>
          <p:nvPr/>
        </p:nvSpPr>
        <p:spPr>
          <a:xfrm>
            <a:off x="612648" y="5742432"/>
            <a:ext cx="1563624" cy="274320"/>
          </a:xfrm>
          <a:prstGeom prst="rect">
            <a:avLst/>
          </a:prstGeom>
          <a:noFill/>
        </p:spPr>
        <p:txBody>
          <a:bodyPr wrap="square" rtlCol="0" anchor="t"/>
          <a:lstStyle/>
          <a:p>
            <a:pPr marL="0" indent="0">
              <a:buNone/>
            </a:pPr>
            <a:r>
              <a:rPr lang="en-US" sz="850" dirty="0">
                <a:solidFill>
                  <a:srgbClr val="5FD8E8"/>
                </a:solidFill>
                <a:latin typeface="Arial" panose="020B0604020202020204" pitchFamily="34" charset="0"/>
                <a:ea typeface="Arial" panose="020B0604020202020204" pitchFamily="34" charset="-122"/>
                <a:cs typeface="Arial" panose="020B0604020202020204" pitchFamily="34" charset="-120"/>
              </a:rPr>
              <a:t>Vehicle </a:t>
            </a:r>
            <a:r>
              <a:rPr lang="en-US" sz="850" dirty="0">
                <a:solidFill>
                  <a:srgbClr val="5FD8E8"/>
                </a:solidFill>
                <a:latin typeface="Arial" panose="020B0604020202020204" pitchFamily="34" charset="0"/>
                <a:ea typeface="Arial" panose="020B0604020202020204" pitchFamily="34" charset="-122"/>
                <a:cs typeface="Arial" panose="020B0604020202020204" pitchFamily="34" charset="-120"/>
                <a:sym typeface="+mn-ea"/>
              </a:rPr>
              <a:t>Management</a:t>
            </a:r>
            <a:endParaRPr lang="en-US" sz="850" dirty="0"/>
          </a:p>
          <a:p>
            <a:pPr marL="0" indent="0">
              <a:buNone/>
            </a:pPr>
            <a:endParaRPr lang="en-US" sz="850" dirty="0"/>
          </a:p>
        </p:txBody>
      </p:sp>
      <p:sp>
        <p:nvSpPr>
          <p:cNvPr id="18" name="Shape 14"/>
          <p:cNvSpPr/>
          <p:nvPr/>
        </p:nvSpPr>
        <p:spPr>
          <a:xfrm>
            <a:off x="2386584" y="5138928"/>
            <a:ext cx="1783080" cy="932688"/>
          </a:xfrm>
          <a:prstGeom prst="roundRect">
            <a:avLst>
              <a:gd name="adj" fmla="val 6863"/>
            </a:avLst>
          </a:prstGeom>
          <a:solidFill>
            <a:srgbClr val="0C1A26">
              <a:alpha val="92000"/>
            </a:srgbClr>
          </a:solidFill>
          <a:ln w="9525">
            <a:solidFill>
              <a:srgbClr val="1D3A4E"/>
            </a:solidFill>
            <a:prstDash val="solid"/>
          </a:ln>
        </p:spPr>
      </p:sp>
      <p:sp>
        <p:nvSpPr>
          <p:cNvPr id="19" name="Shape 15"/>
          <p:cNvSpPr/>
          <p:nvPr/>
        </p:nvSpPr>
        <p:spPr>
          <a:xfrm>
            <a:off x="2496312" y="5248656"/>
            <a:ext cx="146304" cy="146304"/>
          </a:xfrm>
          <a:prstGeom prst="ellipse">
            <a:avLst/>
          </a:prstGeom>
          <a:solidFill>
            <a:srgbClr val="2F6FED"/>
          </a:solidFill>
        </p:spPr>
      </p:sp>
      <p:sp>
        <p:nvSpPr>
          <p:cNvPr id="20" name="Text 16"/>
          <p:cNvSpPr/>
          <p:nvPr/>
        </p:nvSpPr>
        <p:spPr>
          <a:xfrm>
            <a:off x="2496312" y="5449824"/>
            <a:ext cx="1563624" cy="292608"/>
          </a:xfrm>
          <a:prstGeom prst="rect">
            <a:avLst/>
          </a:prstGeom>
          <a:noFill/>
        </p:spPr>
        <p:txBody>
          <a:bodyPr wrap="square" rtlCol="0" anchor="t"/>
          <a:lstStyle/>
          <a:p>
            <a:pPr marL="0" indent="0">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Ahamed M.N.A</a:t>
            </a:r>
            <a:endPar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endParaRPr>
          </a:p>
        </p:txBody>
      </p:sp>
      <p:sp>
        <p:nvSpPr>
          <p:cNvPr id="21" name="Text 17"/>
          <p:cNvSpPr/>
          <p:nvPr/>
        </p:nvSpPr>
        <p:spPr>
          <a:xfrm>
            <a:off x="2496312" y="5742432"/>
            <a:ext cx="1563624" cy="274320"/>
          </a:xfrm>
          <a:prstGeom prst="rect">
            <a:avLst/>
          </a:prstGeom>
          <a:noFill/>
        </p:spPr>
        <p:txBody>
          <a:bodyPr wrap="square" rtlCol="0" anchor="t"/>
          <a:lstStyle/>
          <a:p>
            <a:pPr marL="0" indent="0">
              <a:buNone/>
            </a:pPr>
            <a:r>
              <a:rPr lang="en-US" sz="850" dirty="0">
                <a:solidFill>
                  <a:srgbClr val="5FD8E8"/>
                </a:solidFill>
                <a:latin typeface="Arial" panose="020B0604020202020204" pitchFamily="34" charset="0"/>
                <a:ea typeface="Arial" panose="020B0604020202020204" pitchFamily="34" charset="-122"/>
                <a:cs typeface="Arial" panose="020B0604020202020204" pitchFamily="34" charset="-120"/>
              </a:rPr>
              <a:t>Service Booking</a:t>
            </a:r>
            <a:endParaRPr lang="en-US" sz="850" dirty="0"/>
          </a:p>
        </p:txBody>
      </p:sp>
      <p:sp>
        <p:nvSpPr>
          <p:cNvPr id="22" name="Shape 18"/>
          <p:cNvSpPr/>
          <p:nvPr/>
        </p:nvSpPr>
        <p:spPr>
          <a:xfrm>
            <a:off x="4270248" y="5138928"/>
            <a:ext cx="1783080" cy="932688"/>
          </a:xfrm>
          <a:prstGeom prst="roundRect">
            <a:avLst>
              <a:gd name="adj" fmla="val 6863"/>
            </a:avLst>
          </a:prstGeom>
          <a:solidFill>
            <a:srgbClr val="0C1A26">
              <a:alpha val="92000"/>
            </a:srgbClr>
          </a:solidFill>
          <a:ln w="9525">
            <a:solidFill>
              <a:srgbClr val="1D3A4E"/>
            </a:solidFill>
            <a:prstDash val="solid"/>
          </a:ln>
        </p:spPr>
      </p:sp>
      <p:sp>
        <p:nvSpPr>
          <p:cNvPr id="23" name="Shape 19"/>
          <p:cNvSpPr/>
          <p:nvPr/>
        </p:nvSpPr>
        <p:spPr>
          <a:xfrm>
            <a:off x="4379976" y="5248656"/>
            <a:ext cx="146304" cy="146304"/>
          </a:xfrm>
          <a:prstGeom prst="ellipse">
            <a:avLst/>
          </a:prstGeom>
          <a:solidFill>
            <a:srgbClr val="2F6FED"/>
          </a:solidFill>
        </p:spPr>
      </p:sp>
      <p:sp>
        <p:nvSpPr>
          <p:cNvPr id="24" name="Text 20"/>
          <p:cNvSpPr/>
          <p:nvPr/>
        </p:nvSpPr>
        <p:spPr>
          <a:xfrm>
            <a:off x="4379976" y="5449824"/>
            <a:ext cx="1563624" cy="292608"/>
          </a:xfrm>
          <a:prstGeom prst="rect">
            <a:avLst/>
          </a:prstGeom>
          <a:noFill/>
        </p:spPr>
        <p:txBody>
          <a:bodyPr wrap="square" rtlCol="0" anchor="t"/>
          <a:lstStyle/>
          <a:p>
            <a:pPr marL="0" indent="0">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Sarma S.S.L</a:t>
            </a:r>
            <a:endPar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endParaRPr>
          </a:p>
        </p:txBody>
      </p:sp>
      <p:sp>
        <p:nvSpPr>
          <p:cNvPr id="25" name="Text 21"/>
          <p:cNvSpPr/>
          <p:nvPr/>
        </p:nvSpPr>
        <p:spPr>
          <a:xfrm>
            <a:off x="4379976" y="5742432"/>
            <a:ext cx="1563624" cy="274320"/>
          </a:xfrm>
          <a:prstGeom prst="rect">
            <a:avLst/>
          </a:prstGeom>
          <a:noFill/>
        </p:spPr>
        <p:txBody>
          <a:bodyPr wrap="square" rtlCol="0" anchor="t"/>
          <a:lstStyle/>
          <a:p>
            <a:pPr marL="0" indent="0">
              <a:buNone/>
            </a:pPr>
            <a:r>
              <a:rPr lang="en-US" sz="850" dirty="0">
                <a:solidFill>
                  <a:srgbClr val="5FD8E8"/>
                </a:solidFill>
                <a:latin typeface="Arial" panose="020B0604020202020204" pitchFamily="34" charset="0"/>
                <a:ea typeface="Arial" panose="020B0604020202020204" pitchFamily="34" charset="-122"/>
                <a:cs typeface="Arial" panose="020B0604020202020204" pitchFamily="34" charset="-120"/>
              </a:rPr>
              <a:t>Fuel Management</a:t>
            </a:r>
            <a:endParaRPr lang="en-US" sz="850" dirty="0"/>
          </a:p>
        </p:txBody>
      </p:sp>
      <p:sp>
        <p:nvSpPr>
          <p:cNvPr id="26" name="Shape 22"/>
          <p:cNvSpPr/>
          <p:nvPr/>
        </p:nvSpPr>
        <p:spPr>
          <a:xfrm>
            <a:off x="6153912" y="5138928"/>
            <a:ext cx="1783080" cy="932688"/>
          </a:xfrm>
          <a:prstGeom prst="roundRect">
            <a:avLst>
              <a:gd name="adj" fmla="val 6863"/>
            </a:avLst>
          </a:prstGeom>
          <a:solidFill>
            <a:srgbClr val="0C1A26">
              <a:alpha val="92000"/>
            </a:srgbClr>
          </a:solidFill>
          <a:ln w="9525">
            <a:solidFill>
              <a:srgbClr val="1D3A4E"/>
            </a:solidFill>
            <a:prstDash val="solid"/>
          </a:ln>
        </p:spPr>
      </p:sp>
      <p:sp>
        <p:nvSpPr>
          <p:cNvPr id="27" name="Shape 23"/>
          <p:cNvSpPr/>
          <p:nvPr/>
        </p:nvSpPr>
        <p:spPr>
          <a:xfrm>
            <a:off x="6263640" y="5248656"/>
            <a:ext cx="146304" cy="146304"/>
          </a:xfrm>
          <a:prstGeom prst="ellipse">
            <a:avLst/>
          </a:prstGeom>
          <a:solidFill>
            <a:srgbClr val="2F6FED"/>
          </a:solidFill>
        </p:spPr>
      </p:sp>
      <p:sp>
        <p:nvSpPr>
          <p:cNvPr id="28" name="Text 24"/>
          <p:cNvSpPr/>
          <p:nvPr/>
        </p:nvSpPr>
        <p:spPr>
          <a:xfrm>
            <a:off x="6264275" y="5406009"/>
            <a:ext cx="1563624" cy="292608"/>
          </a:xfrm>
          <a:prstGeom prst="rect">
            <a:avLst/>
          </a:prstGeom>
          <a:noFill/>
        </p:spPr>
        <p:txBody>
          <a:bodyPr wrap="square" rtlCol="0" anchor="t"/>
          <a:lstStyle/>
          <a:p>
            <a:pPr marL="0" indent="0">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Nayanajith K.A.T</a:t>
            </a:r>
            <a:endParaRPr lang="en-US" sz="1400" dirty="0"/>
          </a:p>
        </p:txBody>
      </p:sp>
      <p:sp>
        <p:nvSpPr>
          <p:cNvPr id="29" name="Text 25"/>
          <p:cNvSpPr/>
          <p:nvPr/>
        </p:nvSpPr>
        <p:spPr>
          <a:xfrm>
            <a:off x="6209030" y="5808345"/>
            <a:ext cx="1563370" cy="246380"/>
          </a:xfrm>
          <a:prstGeom prst="rect">
            <a:avLst/>
          </a:prstGeom>
          <a:noFill/>
        </p:spPr>
        <p:txBody>
          <a:bodyPr wrap="square" rtlCol="0" anchor="t"/>
          <a:lstStyle/>
          <a:p>
            <a:pPr marL="0" indent="0">
              <a:buNone/>
            </a:pPr>
            <a:r>
              <a:rPr lang="en-US" sz="850" dirty="0">
                <a:solidFill>
                  <a:srgbClr val="5FD8E8"/>
                </a:solidFill>
                <a:latin typeface="Arial" panose="020B0604020202020204" pitchFamily="34" charset="0"/>
                <a:ea typeface="Arial" panose="020B0604020202020204" pitchFamily="34" charset="-122"/>
                <a:cs typeface="Arial" panose="020B0604020202020204" pitchFamily="34" charset="-120"/>
              </a:rPr>
              <a:t>Payment </a:t>
            </a:r>
            <a:r>
              <a:rPr lang="en-US" sz="850" dirty="0">
                <a:solidFill>
                  <a:srgbClr val="5FD8E8"/>
                </a:solidFill>
                <a:latin typeface="Arial" panose="020B0604020202020204" pitchFamily="34" charset="0"/>
                <a:ea typeface="Arial" panose="020B0604020202020204" pitchFamily="34" charset="-122"/>
                <a:cs typeface="Arial" panose="020B0604020202020204" pitchFamily="34" charset="-120"/>
                <a:sym typeface="+mn-ea"/>
              </a:rPr>
              <a:t> Management</a:t>
            </a:r>
            <a:endParaRPr lang="en-US" sz="850" dirty="0"/>
          </a:p>
          <a:p>
            <a:pPr marL="0" indent="0">
              <a:buNone/>
            </a:pPr>
            <a:endParaRPr lang="en-US" sz="850" dirty="0"/>
          </a:p>
        </p:txBody>
      </p:sp>
      <p:sp>
        <p:nvSpPr>
          <p:cNvPr id="30" name="Shape 26"/>
          <p:cNvSpPr/>
          <p:nvPr/>
        </p:nvSpPr>
        <p:spPr>
          <a:xfrm>
            <a:off x="8037576" y="5138928"/>
            <a:ext cx="1783080" cy="932688"/>
          </a:xfrm>
          <a:prstGeom prst="roundRect">
            <a:avLst>
              <a:gd name="adj" fmla="val 6863"/>
            </a:avLst>
          </a:prstGeom>
          <a:solidFill>
            <a:srgbClr val="0C1A26">
              <a:alpha val="92000"/>
            </a:srgbClr>
          </a:solidFill>
          <a:ln w="9525">
            <a:solidFill>
              <a:srgbClr val="1D3A4E"/>
            </a:solidFill>
            <a:prstDash val="solid"/>
          </a:ln>
        </p:spPr>
      </p:sp>
      <p:sp>
        <p:nvSpPr>
          <p:cNvPr id="31" name="Shape 27"/>
          <p:cNvSpPr/>
          <p:nvPr/>
        </p:nvSpPr>
        <p:spPr>
          <a:xfrm>
            <a:off x="8147304" y="5248656"/>
            <a:ext cx="146304" cy="146304"/>
          </a:xfrm>
          <a:prstGeom prst="ellipse">
            <a:avLst/>
          </a:prstGeom>
          <a:solidFill>
            <a:srgbClr val="2F6FED"/>
          </a:solidFill>
        </p:spPr>
      </p:sp>
      <p:sp>
        <p:nvSpPr>
          <p:cNvPr id="32" name="Text 28"/>
          <p:cNvSpPr/>
          <p:nvPr/>
        </p:nvSpPr>
        <p:spPr>
          <a:xfrm>
            <a:off x="8092694" y="5422519"/>
            <a:ext cx="1563624" cy="292608"/>
          </a:xfrm>
          <a:prstGeom prst="rect">
            <a:avLst/>
          </a:prstGeom>
          <a:noFill/>
        </p:spPr>
        <p:txBody>
          <a:bodyPr wrap="square" rtlCol="0" anchor="t"/>
          <a:lstStyle/>
          <a:p>
            <a:pPr marL="0" indent="0">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Herath H.M.A.R.B</a:t>
            </a:r>
            <a:endParaRPr lang="en-US" sz="1400" dirty="0"/>
          </a:p>
        </p:txBody>
      </p:sp>
      <p:sp>
        <p:nvSpPr>
          <p:cNvPr id="33" name="Text 29"/>
          <p:cNvSpPr/>
          <p:nvPr/>
        </p:nvSpPr>
        <p:spPr>
          <a:xfrm>
            <a:off x="8147050" y="5808345"/>
            <a:ext cx="1563370" cy="274320"/>
          </a:xfrm>
          <a:prstGeom prst="rect">
            <a:avLst/>
          </a:prstGeom>
          <a:noFill/>
        </p:spPr>
        <p:txBody>
          <a:bodyPr wrap="square" rtlCol="0" anchor="t"/>
          <a:lstStyle/>
          <a:p>
            <a:pPr marL="0" indent="0">
              <a:buNone/>
            </a:pPr>
            <a:r>
              <a:rPr lang="en-US" sz="850" dirty="0">
                <a:solidFill>
                  <a:srgbClr val="5FD8E8"/>
                </a:solidFill>
                <a:latin typeface="Arial" panose="020B0604020202020204" pitchFamily="34" charset="0"/>
                <a:ea typeface="Arial" panose="020B0604020202020204" pitchFamily="34" charset="-122"/>
                <a:cs typeface="Arial" panose="020B0604020202020204" pitchFamily="34" charset="-120"/>
              </a:rPr>
              <a:t>Notifications</a:t>
            </a:r>
            <a:endParaRPr lang="en-US" sz="850" dirty="0"/>
          </a:p>
        </p:txBody>
      </p:sp>
      <p:sp>
        <p:nvSpPr>
          <p:cNvPr id="34" name="Shape 30"/>
          <p:cNvSpPr/>
          <p:nvPr/>
        </p:nvSpPr>
        <p:spPr>
          <a:xfrm>
            <a:off x="9921240" y="5138928"/>
            <a:ext cx="1783080" cy="932688"/>
          </a:xfrm>
          <a:prstGeom prst="roundRect">
            <a:avLst>
              <a:gd name="adj" fmla="val 6863"/>
            </a:avLst>
          </a:prstGeom>
          <a:solidFill>
            <a:srgbClr val="0C1A26">
              <a:alpha val="92000"/>
            </a:srgbClr>
          </a:solidFill>
          <a:ln w="9525">
            <a:solidFill>
              <a:srgbClr val="1D3A4E"/>
            </a:solidFill>
            <a:prstDash val="solid"/>
          </a:ln>
        </p:spPr>
      </p:sp>
      <p:sp>
        <p:nvSpPr>
          <p:cNvPr id="35" name="Shape 31"/>
          <p:cNvSpPr/>
          <p:nvPr/>
        </p:nvSpPr>
        <p:spPr>
          <a:xfrm>
            <a:off x="10030968" y="5248656"/>
            <a:ext cx="146304" cy="146304"/>
          </a:xfrm>
          <a:prstGeom prst="ellipse">
            <a:avLst/>
          </a:prstGeom>
          <a:solidFill>
            <a:srgbClr val="2F6FED"/>
          </a:solidFill>
        </p:spPr>
      </p:sp>
      <p:sp>
        <p:nvSpPr>
          <p:cNvPr id="36" name="Text 32"/>
          <p:cNvSpPr/>
          <p:nvPr/>
        </p:nvSpPr>
        <p:spPr>
          <a:xfrm>
            <a:off x="10030968" y="5449824"/>
            <a:ext cx="1563624" cy="292608"/>
          </a:xfrm>
          <a:prstGeom prst="rect">
            <a:avLst/>
          </a:prstGeom>
          <a:noFill/>
        </p:spPr>
        <p:txBody>
          <a:bodyPr wrap="square" rtlCol="0" anchor="t"/>
          <a:lstStyle/>
          <a:p>
            <a:pPr marL="0" indent="0">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Liyanage D.D.S</a:t>
            </a:r>
            <a:endParaRPr lang="en-US" sz="1400" dirty="0"/>
          </a:p>
        </p:txBody>
      </p:sp>
      <p:sp>
        <p:nvSpPr>
          <p:cNvPr id="37" name="Text 33"/>
          <p:cNvSpPr/>
          <p:nvPr/>
        </p:nvSpPr>
        <p:spPr>
          <a:xfrm>
            <a:off x="10030968" y="5742432"/>
            <a:ext cx="1563624" cy="274320"/>
          </a:xfrm>
          <a:prstGeom prst="rect">
            <a:avLst/>
          </a:prstGeom>
          <a:noFill/>
        </p:spPr>
        <p:txBody>
          <a:bodyPr wrap="square" rtlCol="0" anchor="t"/>
          <a:lstStyle/>
          <a:p>
            <a:pPr marL="0" indent="0">
              <a:buNone/>
            </a:pPr>
            <a:r>
              <a:rPr lang="en-US" sz="850" dirty="0">
                <a:solidFill>
                  <a:srgbClr val="5FD8E8"/>
                </a:solidFill>
                <a:latin typeface="Arial" panose="020B0604020202020204" pitchFamily="34" charset="0"/>
                <a:ea typeface="Arial" panose="020B0604020202020204" pitchFamily="34" charset="-122"/>
                <a:cs typeface="Arial" panose="020B0604020202020204" pitchFamily="34" charset="-120"/>
              </a:rPr>
              <a:t>User </a:t>
            </a:r>
            <a:r>
              <a:rPr lang="en-US" sz="850" dirty="0">
                <a:solidFill>
                  <a:srgbClr val="5FD8E8"/>
                </a:solidFill>
                <a:latin typeface="Arial" panose="020B0604020202020204" pitchFamily="34" charset="0"/>
                <a:ea typeface="Arial" panose="020B0604020202020204" pitchFamily="34" charset="-122"/>
                <a:cs typeface="Arial" panose="020B0604020202020204" pitchFamily="34" charset="-120"/>
                <a:sym typeface="+mn-ea"/>
              </a:rPr>
              <a:t> Management</a:t>
            </a:r>
            <a:endParaRPr lang="en-US" sz="850" dirty="0"/>
          </a:p>
          <a:p>
            <a:pPr marL="0" indent="0">
              <a:buNone/>
            </a:pP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75285"/>
            <a:ext cx="5486400" cy="274320"/>
          </a:xfrm>
          <a:prstGeom prst="rect">
            <a:avLst/>
          </a:prstGeom>
          <a:noFill/>
        </p:spPr>
        <p:txBody>
          <a:bodyPr wrap="square" rtlCol="0" anchor="ctr"/>
          <a:lstStyle/>
          <a:p>
            <a:pPr marL="0" indent="0">
              <a:buNone/>
            </a:pPr>
            <a:r>
              <a:rPr lang="en-US" b="1" kern="0" spc="200" dirty="0">
                <a:solidFill>
                  <a:srgbClr val="2F6FED"/>
                </a:solidFill>
                <a:latin typeface="Arial" panose="020B0604020202020204" pitchFamily="34" charset="0"/>
                <a:ea typeface="Arial" panose="020B0604020202020204" pitchFamily="34" charset="-122"/>
                <a:cs typeface="Arial" panose="020B0604020202020204" pitchFamily="34" charset="-120"/>
              </a:rPr>
              <a:t>INTRODUCTION</a:t>
            </a:r>
            <a:endParaRPr lang="en-US" b="1" kern="0" spc="200" dirty="0">
              <a:solidFill>
                <a:srgbClr val="2F6FED"/>
              </a:solidFill>
              <a:latin typeface="Arial" panose="020B0604020202020204" pitchFamily="34" charset="0"/>
              <a:ea typeface="Arial" panose="020B0604020202020204" pitchFamily="34" charset="-122"/>
              <a:cs typeface="Arial" panose="020B0604020202020204" pitchFamily="34" charset="-120"/>
            </a:endParaRPr>
          </a:p>
        </p:txBody>
      </p:sp>
      <p:sp>
        <p:nvSpPr>
          <p:cNvPr id="3" name="Text 1"/>
          <p:cNvSpPr/>
          <p:nvPr/>
        </p:nvSpPr>
        <p:spPr>
          <a:xfrm>
            <a:off x="640080" y="685800"/>
            <a:ext cx="10515600" cy="640080"/>
          </a:xfrm>
          <a:prstGeom prst="rect">
            <a:avLst/>
          </a:prstGeom>
          <a:noFill/>
        </p:spPr>
        <p:txBody>
          <a:bodyPr wrap="square" rtlCol="0" anchor="ctr"/>
          <a:lstStyle/>
          <a:p>
            <a:pPr marL="0" indent="0">
              <a:buNone/>
            </a:pPr>
            <a:r>
              <a:rPr lang="en-US" sz="3000" b="1" dirty="0">
                <a:solidFill>
                  <a:srgbClr val="0B1F3A"/>
                </a:solidFill>
                <a:latin typeface="Arial" panose="020B0604020202020204" pitchFamily="34" charset="0"/>
                <a:ea typeface="Arial" panose="020B0604020202020204" pitchFamily="34" charset="-122"/>
                <a:cs typeface="Arial" panose="020B0604020202020204" pitchFamily="34" charset="-120"/>
              </a:rPr>
              <a:t>The Problem We're Solving</a:t>
            </a:r>
            <a:endParaRPr lang="en-US" sz="3000" dirty="0"/>
          </a:p>
        </p:txBody>
      </p:sp>
      <p:sp>
        <p:nvSpPr>
          <p:cNvPr id="4" name="Text 2"/>
          <p:cNvSpPr/>
          <p:nvPr/>
        </p:nvSpPr>
        <p:spPr>
          <a:xfrm>
            <a:off x="527685" y="1417320"/>
            <a:ext cx="10515600" cy="457200"/>
          </a:xfrm>
          <a:prstGeom prst="rect">
            <a:avLst/>
          </a:prstGeom>
          <a:noFill/>
        </p:spPr>
        <p:txBody>
          <a:bodyPr wrap="square" rtlCol="0" anchor="ctr"/>
          <a:lstStyle/>
          <a:p>
            <a:pPr marL="0" indent="0">
              <a:buNone/>
            </a:pPr>
            <a:r>
              <a:rPr lang="en-US" sz="2000" dirty="0">
                <a:solidFill>
                  <a:schemeClr val="tx1"/>
                </a:solidFill>
                <a:latin typeface="Arial" panose="020B0604020202020204" pitchFamily="34" charset="0"/>
                <a:ea typeface="Arial" panose="020B0604020202020204" pitchFamily="34" charset="-122"/>
                <a:cs typeface="Arial" panose="020B0604020202020204" pitchFamily="34" charset="-120"/>
              </a:rPr>
              <a:t>Vehicle service centers across Sri Lanka still rely on disconnected, manual processes that slow staff down and frustrate customers</a:t>
            </a:r>
            <a:r>
              <a:rPr lang="en-US" sz="1350" dirty="0">
                <a:solidFill>
                  <a:schemeClr val="tx1"/>
                </a:solidFill>
                <a:latin typeface="Arial" panose="020B0604020202020204" pitchFamily="34" charset="0"/>
                <a:ea typeface="Arial" panose="020B0604020202020204" pitchFamily="34" charset="-122"/>
                <a:cs typeface="Arial" panose="020B0604020202020204" pitchFamily="34" charset="-120"/>
              </a:rPr>
              <a:t>.</a:t>
            </a:r>
            <a:endParaRPr lang="en-US" sz="1350" dirty="0">
              <a:solidFill>
                <a:schemeClr val="tx1"/>
              </a:solidFill>
              <a:latin typeface="Arial" panose="020B0604020202020204" pitchFamily="34" charset="0"/>
              <a:ea typeface="Arial" panose="020B0604020202020204" pitchFamily="34" charset="-122"/>
              <a:cs typeface="Arial" panose="020B0604020202020204" pitchFamily="34" charset="-120"/>
            </a:endParaRPr>
          </a:p>
        </p:txBody>
      </p:sp>
      <p:sp>
        <p:nvSpPr>
          <p:cNvPr id="5" name="Shape 3"/>
          <p:cNvSpPr/>
          <p:nvPr/>
        </p:nvSpPr>
        <p:spPr>
          <a:xfrm>
            <a:off x="640080" y="2200275"/>
            <a:ext cx="5120640" cy="4309745"/>
          </a:xfrm>
          <a:prstGeom prst="roundRect">
            <a:avLst>
              <a:gd name="adj" fmla="val 1739"/>
            </a:avLst>
          </a:prstGeom>
          <a:solidFill>
            <a:srgbClr val="F2F4F7"/>
          </a:solidFill>
        </p:spPr>
      </p:sp>
      <p:sp>
        <p:nvSpPr>
          <p:cNvPr id="6" name="Text 4"/>
          <p:cNvSpPr/>
          <p:nvPr/>
        </p:nvSpPr>
        <p:spPr>
          <a:xfrm>
            <a:off x="914400" y="2232660"/>
            <a:ext cx="4572000" cy="274320"/>
          </a:xfrm>
          <a:prstGeom prst="rect">
            <a:avLst/>
          </a:prstGeom>
          <a:noFill/>
        </p:spPr>
        <p:txBody>
          <a:bodyPr wrap="square" rtlCol="0" anchor="ctr"/>
          <a:lstStyle/>
          <a:p>
            <a:pPr marL="0" indent="0">
              <a:buNone/>
            </a:pPr>
            <a:r>
              <a:rPr lang="en-US" sz="2000" b="1" kern="0" spc="150" dirty="0">
                <a:solidFill>
                  <a:srgbClr val="4A5563"/>
                </a:solidFill>
                <a:latin typeface="Arial" panose="020B0604020202020204" pitchFamily="34" charset="0"/>
                <a:ea typeface="Arial" panose="020B0604020202020204" pitchFamily="34" charset="-122"/>
                <a:cs typeface="Arial" panose="020B0604020202020204" pitchFamily="34" charset="-120"/>
              </a:rPr>
              <a:t>CURRENT PROCESS</a:t>
            </a:r>
            <a:endParaRPr lang="en-US" sz="2000" b="1" kern="0" spc="150" dirty="0">
              <a:solidFill>
                <a:srgbClr val="4A5563"/>
              </a:solidFill>
              <a:latin typeface="Arial" panose="020B0604020202020204" pitchFamily="34" charset="0"/>
              <a:ea typeface="Arial" panose="020B0604020202020204" pitchFamily="34" charset="-122"/>
              <a:cs typeface="Arial" panose="020B0604020202020204" pitchFamily="34" charset="-120"/>
            </a:endParaRPr>
          </a:p>
        </p:txBody>
      </p:sp>
      <p:sp>
        <p:nvSpPr>
          <p:cNvPr id="7" name="Shape 5"/>
          <p:cNvSpPr/>
          <p:nvPr/>
        </p:nvSpPr>
        <p:spPr>
          <a:xfrm>
            <a:off x="914400" y="2651760"/>
            <a:ext cx="384048" cy="384048"/>
          </a:xfrm>
          <a:prstGeom prst="ellipse">
            <a:avLst/>
          </a:prstGeom>
          <a:solidFill>
            <a:srgbClr val="FFFFFF"/>
          </a:solidFill>
        </p:spPr>
      </p:sp>
      <p:pic>
        <p:nvPicPr>
          <p:cNvPr id="8" name="Image 0" descr="icons/clipboardList_navy.png"/>
          <p:cNvPicPr>
            <a:picLocks noChangeAspect="1"/>
          </p:cNvPicPr>
          <p:nvPr/>
        </p:nvPicPr>
        <p:blipFill>
          <a:blip r:embed="rId1"/>
          <a:stretch>
            <a:fillRect/>
          </a:stretch>
        </p:blipFill>
        <p:spPr>
          <a:xfrm>
            <a:off x="1018093" y="2755453"/>
            <a:ext cx="176662" cy="176662"/>
          </a:xfrm>
          <a:prstGeom prst="rect">
            <a:avLst/>
          </a:prstGeom>
        </p:spPr>
      </p:pic>
      <p:sp>
        <p:nvSpPr>
          <p:cNvPr id="9" name="Text 6"/>
          <p:cNvSpPr/>
          <p:nvPr/>
        </p:nvSpPr>
        <p:spPr>
          <a:xfrm>
            <a:off x="1444752" y="2689352"/>
            <a:ext cx="4160520" cy="420624"/>
          </a:xfrm>
          <a:prstGeom prst="rect">
            <a:avLst/>
          </a:prstGeom>
          <a:noFill/>
        </p:spPr>
        <p:txBody>
          <a:bodyPr wrap="square" rtlCol="0" anchor="ctr"/>
          <a:lstStyle/>
          <a:p>
            <a:pPr marL="0" indent="0">
              <a:buNone/>
            </a:pPr>
            <a:r>
              <a:rPr lang="en-US" dirty="0">
                <a:solidFill>
                  <a:srgbClr val="0B1F3A"/>
                </a:solidFill>
                <a:latin typeface="Arial" panose="020B0604020202020204" pitchFamily="34" charset="0"/>
                <a:ea typeface="Arial" panose="020B0604020202020204" pitchFamily="34" charset="-122"/>
                <a:cs typeface="Arial" panose="020B0604020202020204" pitchFamily="34" charset="-120"/>
              </a:rPr>
              <a:t>Paper job cards for every service visit</a:t>
            </a:r>
            <a:endParaRPr lang="en-US" dirty="0"/>
          </a:p>
        </p:txBody>
      </p:sp>
      <p:sp>
        <p:nvSpPr>
          <p:cNvPr id="10" name="Shape 7"/>
          <p:cNvSpPr/>
          <p:nvPr/>
        </p:nvSpPr>
        <p:spPr>
          <a:xfrm>
            <a:off x="914400" y="3310128"/>
            <a:ext cx="384048" cy="384048"/>
          </a:xfrm>
          <a:prstGeom prst="ellipse">
            <a:avLst/>
          </a:prstGeom>
          <a:solidFill>
            <a:srgbClr val="FFFFFF"/>
          </a:solidFill>
        </p:spPr>
      </p:sp>
      <p:pic>
        <p:nvPicPr>
          <p:cNvPr id="11" name="Image 1" descr="icons/gasPump_navy.png"/>
          <p:cNvPicPr>
            <a:picLocks noChangeAspect="1"/>
          </p:cNvPicPr>
          <p:nvPr/>
        </p:nvPicPr>
        <p:blipFill>
          <a:blip r:embed="rId2"/>
          <a:stretch>
            <a:fillRect/>
          </a:stretch>
        </p:blipFill>
        <p:spPr>
          <a:xfrm>
            <a:off x="1018093" y="3413821"/>
            <a:ext cx="176662" cy="176662"/>
          </a:xfrm>
          <a:prstGeom prst="rect">
            <a:avLst/>
          </a:prstGeom>
        </p:spPr>
      </p:pic>
      <p:sp>
        <p:nvSpPr>
          <p:cNvPr id="12" name="Text 8"/>
          <p:cNvSpPr/>
          <p:nvPr/>
        </p:nvSpPr>
        <p:spPr>
          <a:xfrm>
            <a:off x="1444752" y="3291840"/>
            <a:ext cx="4160520" cy="420624"/>
          </a:xfrm>
          <a:prstGeom prst="rect">
            <a:avLst/>
          </a:prstGeom>
          <a:noFill/>
        </p:spPr>
        <p:txBody>
          <a:bodyPr wrap="square" rtlCol="0" anchor="ctr"/>
          <a:lstStyle/>
          <a:p>
            <a:pPr marL="0" indent="0">
              <a:buNone/>
            </a:pPr>
            <a:r>
              <a:rPr lang="en-US" dirty="0">
                <a:solidFill>
                  <a:srgbClr val="0B1F3A"/>
                </a:solidFill>
                <a:latin typeface="Arial" panose="020B0604020202020204" pitchFamily="34" charset="0"/>
                <a:ea typeface="Arial" panose="020B0604020202020204" pitchFamily="34" charset="-122"/>
                <a:cs typeface="Arial" panose="020B0604020202020204" pitchFamily="34" charset="-120"/>
              </a:rPr>
              <a:t>Handwritten fuel logbooks per station</a:t>
            </a:r>
            <a:endParaRPr lang="en-US" dirty="0">
              <a:solidFill>
                <a:srgbClr val="0B1F3A"/>
              </a:solidFill>
              <a:latin typeface="Arial" panose="020B0604020202020204" pitchFamily="34" charset="0"/>
              <a:ea typeface="Arial" panose="020B0604020202020204" pitchFamily="34" charset="-122"/>
              <a:cs typeface="Arial" panose="020B0604020202020204" pitchFamily="34" charset="-120"/>
            </a:endParaRPr>
          </a:p>
        </p:txBody>
      </p:sp>
      <p:sp>
        <p:nvSpPr>
          <p:cNvPr id="13" name="Shape 9"/>
          <p:cNvSpPr/>
          <p:nvPr/>
        </p:nvSpPr>
        <p:spPr>
          <a:xfrm>
            <a:off x="914400" y="3968496"/>
            <a:ext cx="384048" cy="384048"/>
          </a:xfrm>
          <a:prstGeom prst="ellipse">
            <a:avLst/>
          </a:prstGeom>
          <a:solidFill>
            <a:srgbClr val="FFFFFF"/>
          </a:solidFill>
        </p:spPr>
      </p:sp>
      <p:pic>
        <p:nvPicPr>
          <p:cNvPr id="14" name="Image 2" descr="icons/mobileAlt_navy.png"/>
          <p:cNvPicPr>
            <a:picLocks noChangeAspect="1"/>
          </p:cNvPicPr>
          <p:nvPr/>
        </p:nvPicPr>
        <p:blipFill>
          <a:blip r:embed="rId3"/>
          <a:stretch>
            <a:fillRect/>
          </a:stretch>
        </p:blipFill>
        <p:spPr>
          <a:xfrm>
            <a:off x="1018093" y="4072189"/>
            <a:ext cx="176662" cy="176662"/>
          </a:xfrm>
          <a:prstGeom prst="rect">
            <a:avLst/>
          </a:prstGeom>
        </p:spPr>
      </p:pic>
      <p:sp>
        <p:nvSpPr>
          <p:cNvPr id="15" name="Text 10"/>
          <p:cNvSpPr/>
          <p:nvPr/>
        </p:nvSpPr>
        <p:spPr>
          <a:xfrm>
            <a:off x="1444752" y="3950208"/>
            <a:ext cx="4160520" cy="420624"/>
          </a:xfrm>
          <a:prstGeom prst="rect">
            <a:avLst/>
          </a:prstGeom>
          <a:noFill/>
        </p:spPr>
        <p:txBody>
          <a:bodyPr wrap="square" rtlCol="0" anchor="ctr"/>
          <a:lstStyle/>
          <a:p>
            <a:pPr marL="0" indent="0">
              <a:buNone/>
            </a:pPr>
            <a:r>
              <a:rPr lang="en-US" dirty="0">
                <a:solidFill>
                  <a:srgbClr val="0B1F3A"/>
                </a:solidFill>
                <a:latin typeface="Arial" panose="020B0604020202020204" pitchFamily="34" charset="0"/>
                <a:ea typeface="Arial" panose="020B0604020202020204" pitchFamily="34" charset="-122"/>
                <a:cs typeface="Arial" panose="020B0604020202020204" pitchFamily="34" charset="-120"/>
              </a:rPr>
              <a:t>Bookings taken manually over the phone</a:t>
            </a:r>
            <a:endParaRPr lang="en-US" dirty="0"/>
          </a:p>
        </p:txBody>
      </p:sp>
      <p:sp>
        <p:nvSpPr>
          <p:cNvPr id="16" name="Shape 11"/>
          <p:cNvSpPr/>
          <p:nvPr/>
        </p:nvSpPr>
        <p:spPr>
          <a:xfrm>
            <a:off x="914400" y="4626864"/>
            <a:ext cx="384048" cy="384048"/>
          </a:xfrm>
          <a:prstGeom prst="ellipse">
            <a:avLst/>
          </a:prstGeom>
          <a:solidFill>
            <a:srgbClr val="FFFFFF"/>
          </a:solidFill>
        </p:spPr>
      </p:sp>
      <p:pic>
        <p:nvPicPr>
          <p:cNvPr id="17" name="Image 3" descr="icons/fileInvoiceDollar_navy.png"/>
          <p:cNvPicPr>
            <a:picLocks noChangeAspect="1"/>
          </p:cNvPicPr>
          <p:nvPr/>
        </p:nvPicPr>
        <p:blipFill>
          <a:blip r:embed="rId4"/>
          <a:stretch>
            <a:fillRect/>
          </a:stretch>
        </p:blipFill>
        <p:spPr>
          <a:xfrm>
            <a:off x="1018093" y="4730557"/>
            <a:ext cx="176662" cy="176662"/>
          </a:xfrm>
          <a:prstGeom prst="rect">
            <a:avLst/>
          </a:prstGeom>
        </p:spPr>
      </p:pic>
      <p:sp>
        <p:nvSpPr>
          <p:cNvPr id="18" name="Text 12"/>
          <p:cNvSpPr/>
          <p:nvPr/>
        </p:nvSpPr>
        <p:spPr>
          <a:xfrm>
            <a:off x="1444752" y="4608576"/>
            <a:ext cx="4160520" cy="420624"/>
          </a:xfrm>
          <a:prstGeom prst="rect">
            <a:avLst/>
          </a:prstGeom>
          <a:noFill/>
        </p:spPr>
        <p:txBody>
          <a:bodyPr wrap="square" rtlCol="0" anchor="ctr"/>
          <a:lstStyle/>
          <a:p>
            <a:pPr marL="0" indent="0">
              <a:buNone/>
            </a:pPr>
            <a:r>
              <a:rPr lang="en-US" dirty="0">
                <a:solidFill>
                  <a:srgbClr val="0B1F3A"/>
                </a:solidFill>
                <a:latin typeface="Arial" panose="020B0604020202020204" pitchFamily="34" charset="0"/>
                <a:ea typeface="Arial" panose="020B0604020202020204" pitchFamily="34" charset="-122"/>
                <a:cs typeface="Arial" panose="020B0604020202020204" pitchFamily="34" charset="-120"/>
              </a:rPr>
              <a:t>Separate, disconnected invoicing</a:t>
            </a:r>
            <a:endParaRPr lang="en-US" dirty="0"/>
          </a:p>
        </p:txBody>
      </p:sp>
      <p:sp>
        <p:nvSpPr>
          <p:cNvPr id="19" name="Shape 13"/>
          <p:cNvSpPr/>
          <p:nvPr/>
        </p:nvSpPr>
        <p:spPr>
          <a:xfrm>
            <a:off x="914400" y="5285232"/>
            <a:ext cx="384048" cy="384048"/>
          </a:xfrm>
          <a:prstGeom prst="ellipse">
            <a:avLst/>
          </a:prstGeom>
          <a:solidFill>
            <a:srgbClr val="FFFFFF"/>
          </a:solidFill>
        </p:spPr>
      </p:sp>
      <p:pic>
        <p:nvPicPr>
          <p:cNvPr id="20" name="Image 4" descr="icons/chartBar_navy.png"/>
          <p:cNvPicPr>
            <a:picLocks noChangeAspect="1"/>
          </p:cNvPicPr>
          <p:nvPr/>
        </p:nvPicPr>
        <p:blipFill>
          <a:blip r:embed="rId5"/>
          <a:stretch>
            <a:fillRect/>
          </a:stretch>
        </p:blipFill>
        <p:spPr>
          <a:xfrm>
            <a:off x="1018093" y="5388925"/>
            <a:ext cx="176662" cy="176662"/>
          </a:xfrm>
          <a:prstGeom prst="rect">
            <a:avLst/>
          </a:prstGeom>
        </p:spPr>
      </p:pic>
      <p:sp>
        <p:nvSpPr>
          <p:cNvPr id="21" name="Text 14"/>
          <p:cNvSpPr/>
          <p:nvPr/>
        </p:nvSpPr>
        <p:spPr>
          <a:xfrm>
            <a:off x="1444752" y="5266944"/>
            <a:ext cx="4160520" cy="420624"/>
          </a:xfrm>
          <a:prstGeom prst="rect">
            <a:avLst/>
          </a:prstGeom>
          <a:noFill/>
        </p:spPr>
        <p:txBody>
          <a:bodyPr wrap="square" rtlCol="0" anchor="ctr"/>
          <a:lstStyle/>
          <a:p>
            <a:pPr marL="0" indent="0">
              <a:buNone/>
            </a:pPr>
            <a:r>
              <a:rPr lang="en-US" dirty="0">
                <a:solidFill>
                  <a:srgbClr val="0B1F3A"/>
                </a:solidFill>
                <a:latin typeface="Arial" panose="020B0604020202020204" pitchFamily="34" charset="0"/>
                <a:ea typeface="Arial" panose="020B0604020202020204" pitchFamily="34" charset="-122"/>
                <a:cs typeface="Arial" panose="020B0604020202020204" pitchFamily="34" charset="-120"/>
              </a:rPr>
              <a:t>Spreadsheets and manual monthly reports</a:t>
            </a:r>
            <a:endParaRPr lang="en-US" dirty="0"/>
          </a:p>
        </p:txBody>
      </p:sp>
      <p:sp>
        <p:nvSpPr>
          <p:cNvPr id="22" name="Shape 15"/>
          <p:cNvSpPr/>
          <p:nvPr/>
        </p:nvSpPr>
        <p:spPr>
          <a:xfrm>
            <a:off x="5989320" y="2011680"/>
            <a:ext cx="5532120" cy="4476115"/>
          </a:xfrm>
          <a:prstGeom prst="roundRect">
            <a:avLst>
              <a:gd name="adj" fmla="val 1739"/>
            </a:avLst>
          </a:prstGeom>
          <a:solidFill>
            <a:srgbClr val="0B1F3A"/>
          </a:solidFill>
        </p:spPr>
      </p:sp>
      <p:sp>
        <p:nvSpPr>
          <p:cNvPr id="23" name="Text 16"/>
          <p:cNvSpPr/>
          <p:nvPr/>
        </p:nvSpPr>
        <p:spPr>
          <a:xfrm>
            <a:off x="6309360" y="2240280"/>
            <a:ext cx="4572000" cy="274320"/>
          </a:xfrm>
          <a:prstGeom prst="rect">
            <a:avLst/>
          </a:prstGeom>
          <a:noFill/>
        </p:spPr>
        <p:txBody>
          <a:bodyPr wrap="square" rtlCol="0" anchor="ctr"/>
          <a:lstStyle/>
          <a:p>
            <a:pPr marL="0" indent="0">
              <a:buNone/>
            </a:pPr>
            <a:r>
              <a:rPr lang="en-US" sz="2400" b="1" kern="0" spc="150" dirty="0">
                <a:solidFill>
                  <a:srgbClr val="2F6FED"/>
                </a:solidFill>
                <a:latin typeface="Arial" panose="020B0604020202020204" pitchFamily="34" charset="0"/>
                <a:ea typeface="Arial" panose="020B0604020202020204" pitchFamily="34" charset="-122"/>
                <a:cs typeface="Arial" panose="020B0604020202020204" pitchFamily="34" charset="-120"/>
              </a:rPr>
              <a:t>RESULTING ISSUES</a:t>
            </a:r>
            <a:endParaRPr lang="en-US" sz="2400" dirty="0"/>
          </a:p>
        </p:txBody>
      </p:sp>
      <p:sp>
        <p:nvSpPr>
          <p:cNvPr id="24" name="Shape 17"/>
          <p:cNvSpPr/>
          <p:nvPr/>
        </p:nvSpPr>
        <p:spPr>
          <a:xfrm>
            <a:off x="6309360" y="2724912"/>
            <a:ext cx="91440" cy="91440"/>
          </a:xfrm>
          <a:prstGeom prst="ellipse">
            <a:avLst/>
          </a:prstGeom>
          <a:solidFill>
            <a:srgbClr val="2F6FED"/>
          </a:solidFill>
        </p:spPr>
      </p:sp>
      <p:sp>
        <p:nvSpPr>
          <p:cNvPr id="25" name="Text 18"/>
          <p:cNvSpPr/>
          <p:nvPr/>
        </p:nvSpPr>
        <p:spPr>
          <a:xfrm>
            <a:off x="6537960" y="2596896"/>
            <a:ext cx="4846320" cy="457200"/>
          </a:xfrm>
          <a:prstGeom prst="rect">
            <a:avLst/>
          </a:prstGeom>
          <a:noFill/>
        </p:spPr>
        <p:txBody>
          <a:bodyPr wrap="square" rtlCol="0" anchor="ctr"/>
          <a:lstStyle/>
          <a:p>
            <a:pPr marL="0" indent="0">
              <a:buNone/>
            </a:pPr>
            <a:r>
              <a:rPr lang="en-US" dirty="0">
                <a:solidFill>
                  <a:srgbClr val="FFFFFF"/>
                </a:solidFill>
                <a:latin typeface="Arial" panose="020B0604020202020204" pitchFamily="34" charset="0"/>
                <a:ea typeface="Arial" panose="020B0604020202020204" pitchFamily="34" charset="-122"/>
                <a:cs typeface="Arial" panose="020B0604020202020204" pitchFamily="34" charset="-120"/>
              </a:rPr>
              <a:t>Duplicate data entry across teams</a:t>
            </a:r>
            <a:endParaRPr lang="en-US" dirty="0"/>
          </a:p>
        </p:txBody>
      </p:sp>
      <p:sp>
        <p:nvSpPr>
          <p:cNvPr id="26" name="Shape 19"/>
          <p:cNvSpPr/>
          <p:nvPr/>
        </p:nvSpPr>
        <p:spPr>
          <a:xfrm>
            <a:off x="6309360" y="3383280"/>
            <a:ext cx="91440" cy="91440"/>
          </a:xfrm>
          <a:prstGeom prst="ellipse">
            <a:avLst/>
          </a:prstGeom>
          <a:solidFill>
            <a:srgbClr val="2F6FED"/>
          </a:solidFill>
        </p:spPr>
      </p:sp>
      <p:sp>
        <p:nvSpPr>
          <p:cNvPr id="27" name="Text 20"/>
          <p:cNvSpPr/>
          <p:nvPr/>
        </p:nvSpPr>
        <p:spPr>
          <a:xfrm>
            <a:off x="6537960" y="3255899"/>
            <a:ext cx="4846320" cy="457200"/>
          </a:xfrm>
          <a:prstGeom prst="rect">
            <a:avLst/>
          </a:prstGeom>
          <a:noFill/>
        </p:spPr>
        <p:txBody>
          <a:bodyPr wrap="square" rtlCol="0" anchor="ctr"/>
          <a:lstStyle/>
          <a:p>
            <a:pPr marL="0" indent="0">
              <a:buNone/>
            </a:pPr>
            <a:r>
              <a:rPr lang="en-US" dirty="0">
                <a:solidFill>
                  <a:srgbClr val="FFFFFF"/>
                </a:solidFill>
                <a:latin typeface="Arial" panose="020B0604020202020204" pitchFamily="34" charset="0"/>
                <a:ea typeface="Arial" panose="020B0604020202020204" pitchFamily="34" charset="-122"/>
                <a:cs typeface="Arial" panose="020B0604020202020204" pitchFamily="34" charset="-120"/>
              </a:rPr>
              <a:t>Slow coordination between service stations</a:t>
            </a:r>
            <a:endParaRPr lang="en-US" sz="1250" dirty="0"/>
          </a:p>
        </p:txBody>
      </p:sp>
      <p:sp>
        <p:nvSpPr>
          <p:cNvPr id="28" name="Shape 21"/>
          <p:cNvSpPr/>
          <p:nvPr/>
        </p:nvSpPr>
        <p:spPr>
          <a:xfrm>
            <a:off x="6309360" y="4041648"/>
            <a:ext cx="91440" cy="91440"/>
          </a:xfrm>
          <a:prstGeom prst="ellipse">
            <a:avLst/>
          </a:prstGeom>
          <a:solidFill>
            <a:srgbClr val="2F6FED"/>
          </a:solidFill>
        </p:spPr>
      </p:sp>
      <p:sp>
        <p:nvSpPr>
          <p:cNvPr id="29" name="Text 22"/>
          <p:cNvSpPr/>
          <p:nvPr/>
        </p:nvSpPr>
        <p:spPr>
          <a:xfrm>
            <a:off x="6537960" y="3913632"/>
            <a:ext cx="4846320" cy="457200"/>
          </a:xfrm>
          <a:prstGeom prst="rect">
            <a:avLst/>
          </a:prstGeom>
          <a:noFill/>
        </p:spPr>
        <p:txBody>
          <a:bodyPr wrap="square" rtlCol="0" anchor="ctr"/>
          <a:lstStyle/>
          <a:p>
            <a:pPr marL="0" indent="0">
              <a:buNone/>
            </a:pPr>
            <a:r>
              <a:rPr lang="en-US" dirty="0">
                <a:solidFill>
                  <a:srgbClr val="FFFFFF"/>
                </a:solidFill>
                <a:latin typeface="Arial" panose="020B0604020202020204" pitchFamily="34" charset="0"/>
                <a:ea typeface="Arial" panose="020B0604020202020204" pitchFamily="34" charset="-122"/>
                <a:cs typeface="Arial" panose="020B0604020202020204" pitchFamily="34" charset="-120"/>
              </a:rPr>
              <a:t>Booking conflicts for bays and technicians</a:t>
            </a:r>
            <a:endParaRPr lang="en-US" dirty="0">
              <a:solidFill>
                <a:srgbClr val="FFFFFF"/>
              </a:solidFill>
              <a:latin typeface="Arial" panose="020B0604020202020204" pitchFamily="34" charset="0"/>
              <a:ea typeface="Arial" panose="020B0604020202020204" pitchFamily="34" charset="-122"/>
              <a:cs typeface="Arial" panose="020B0604020202020204" pitchFamily="34" charset="-120"/>
            </a:endParaRPr>
          </a:p>
        </p:txBody>
      </p:sp>
      <p:sp>
        <p:nvSpPr>
          <p:cNvPr id="30" name="Shape 23"/>
          <p:cNvSpPr/>
          <p:nvPr/>
        </p:nvSpPr>
        <p:spPr>
          <a:xfrm>
            <a:off x="6309360" y="4700016"/>
            <a:ext cx="91440" cy="91440"/>
          </a:xfrm>
          <a:prstGeom prst="ellipse">
            <a:avLst/>
          </a:prstGeom>
          <a:solidFill>
            <a:srgbClr val="2F6FED"/>
          </a:solidFill>
        </p:spPr>
      </p:sp>
      <p:sp>
        <p:nvSpPr>
          <p:cNvPr id="31" name="Text 24"/>
          <p:cNvSpPr/>
          <p:nvPr/>
        </p:nvSpPr>
        <p:spPr>
          <a:xfrm>
            <a:off x="6537960" y="4572000"/>
            <a:ext cx="4846320" cy="457200"/>
          </a:xfrm>
          <a:prstGeom prst="rect">
            <a:avLst/>
          </a:prstGeom>
          <a:noFill/>
        </p:spPr>
        <p:txBody>
          <a:bodyPr wrap="square" rtlCol="0" anchor="ctr"/>
          <a:lstStyle/>
          <a:p>
            <a:pPr marL="0" indent="0">
              <a:buNone/>
            </a:pPr>
            <a:r>
              <a:rPr lang="en-US" dirty="0">
                <a:solidFill>
                  <a:srgbClr val="FFFFFF"/>
                </a:solidFill>
                <a:latin typeface="Arial" panose="020B0604020202020204" pitchFamily="34" charset="0"/>
                <a:ea typeface="Arial" panose="020B0604020202020204" pitchFamily="34" charset="-122"/>
                <a:cs typeface="Arial" panose="020B0604020202020204" pitchFamily="34" charset="-120"/>
              </a:rPr>
              <a:t>Isolated, hard-to-audit fuel records</a:t>
            </a:r>
            <a:endParaRPr lang="en-US" dirty="0"/>
          </a:p>
        </p:txBody>
      </p:sp>
      <p:sp>
        <p:nvSpPr>
          <p:cNvPr id="32" name="Shape 25"/>
          <p:cNvSpPr/>
          <p:nvPr/>
        </p:nvSpPr>
        <p:spPr>
          <a:xfrm>
            <a:off x="6309360" y="5358384"/>
            <a:ext cx="91440" cy="91440"/>
          </a:xfrm>
          <a:prstGeom prst="ellipse">
            <a:avLst/>
          </a:prstGeom>
          <a:solidFill>
            <a:srgbClr val="2F6FED"/>
          </a:solidFill>
        </p:spPr>
      </p:sp>
      <p:sp>
        <p:nvSpPr>
          <p:cNvPr id="33" name="Text 26"/>
          <p:cNvSpPr/>
          <p:nvPr/>
        </p:nvSpPr>
        <p:spPr>
          <a:xfrm>
            <a:off x="6537960" y="5230368"/>
            <a:ext cx="4846320" cy="457200"/>
          </a:xfrm>
          <a:prstGeom prst="rect">
            <a:avLst/>
          </a:prstGeom>
          <a:noFill/>
        </p:spPr>
        <p:txBody>
          <a:bodyPr wrap="square" rtlCol="0" anchor="ctr"/>
          <a:lstStyle/>
          <a:p>
            <a:pPr marL="0" indent="0">
              <a:buNone/>
            </a:pPr>
            <a:r>
              <a:rPr lang="en-US" dirty="0">
                <a:solidFill>
                  <a:srgbClr val="FFFFFF"/>
                </a:solidFill>
                <a:latin typeface="Arial" panose="020B0604020202020204" pitchFamily="34" charset="0"/>
                <a:ea typeface="Arial" panose="020B0604020202020204" pitchFamily="34" charset="-122"/>
                <a:cs typeface="Arial" panose="020B0604020202020204" pitchFamily="34" charset="-120"/>
              </a:rPr>
              <a:t>Delayed updates and unreliable reporting</a:t>
            </a:r>
            <a:endParaRPr lang="en-US" dirty="0">
              <a:solidFill>
                <a:srgbClr val="FFFFFF"/>
              </a:solidFill>
              <a:latin typeface="Arial" panose="020B0604020202020204" pitchFamily="34" charset="0"/>
              <a:ea typeface="Arial" panose="020B0604020202020204" pitchFamily="34" charset="-122"/>
              <a:cs typeface="Arial" panose="020B0604020202020204" pitchFamily="34" charset="-120"/>
            </a:endParaRPr>
          </a:p>
        </p:txBody>
      </p:sp>
      <p:sp>
        <p:nvSpPr>
          <p:cNvPr id="34" name="Shape 27"/>
          <p:cNvSpPr/>
          <p:nvPr/>
        </p:nvSpPr>
        <p:spPr>
          <a:xfrm>
            <a:off x="640080" y="6355080"/>
            <a:ext cx="10881360" cy="0"/>
          </a:xfrm>
          <a:prstGeom prst="roundRect">
            <a:avLst/>
          </a:prstGeom>
          <a:noFill/>
        </p:spPr>
      </p:sp>
      <p:sp>
        <p:nvSpPr>
          <p:cNvPr id="35" name="Text 28"/>
          <p:cNvSpPr/>
          <p:nvPr/>
        </p:nvSpPr>
        <p:spPr>
          <a:xfrm>
            <a:off x="11503152" y="6400800"/>
            <a:ext cx="457200" cy="274320"/>
          </a:xfrm>
          <a:prstGeom prst="rect">
            <a:avLst/>
          </a:prstGeom>
          <a:noFill/>
        </p:spPr>
        <p:txBody>
          <a:bodyPr wrap="square" rtlCol="0" anchor="ctr"/>
          <a:lstStyle/>
          <a:p>
            <a:pPr marL="0" indent="0" algn="r">
              <a:buNone/>
            </a:pPr>
            <a:r>
              <a:rPr lang="en-US" sz="900" dirty="0">
                <a:solidFill>
                  <a:srgbClr val="6B7684"/>
                </a:solidFill>
                <a:latin typeface="Arial" panose="020B0604020202020204" pitchFamily="34" charset="0"/>
                <a:ea typeface="Arial" panose="020B0604020202020204" pitchFamily="34" charset="-122"/>
                <a:cs typeface="Arial" panose="020B0604020202020204"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0" cy="274320"/>
          </a:xfrm>
          <a:prstGeom prst="rect">
            <a:avLst/>
          </a:prstGeom>
          <a:noFill/>
        </p:spPr>
        <p:txBody>
          <a:bodyPr wrap="square" rtlCol="0" anchor="ctr"/>
          <a:lstStyle/>
          <a:p>
            <a:pPr marL="0" indent="0">
              <a:buNone/>
            </a:pPr>
            <a:r>
              <a:rPr lang="en-US" b="1" kern="0" spc="200" dirty="0">
                <a:solidFill>
                  <a:srgbClr val="2F6FED"/>
                </a:solidFill>
                <a:latin typeface="Arial" panose="020B0604020202020204" pitchFamily="34" charset="0"/>
                <a:ea typeface="Arial" panose="020B0604020202020204" pitchFamily="34" charset="-122"/>
                <a:cs typeface="Arial" panose="020B0604020202020204" pitchFamily="34" charset="-120"/>
              </a:rPr>
              <a:t>OBJECTIVES</a:t>
            </a:r>
            <a:endParaRPr lang="en-US" dirty="0"/>
          </a:p>
        </p:txBody>
      </p:sp>
      <p:sp>
        <p:nvSpPr>
          <p:cNvPr id="3" name="Text 1"/>
          <p:cNvSpPr/>
          <p:nvPr/>
        </p:nvSpPr>
        <p:spPr>
          <a:xfrm>
            <a:off x="640080" y="685800"/>
            <a:ext cx="10515600" cy="640080"/>
          </a:xfrm>
          <a:prstGeom prst="rect">
            <a:avLst/>
          </a:prstGeom>
          <a:noFill/>
        </p:spPr>
        <p:txBody>
          <a:bodyPr wrap="square" rtlCol="0" anchor="ctr"/>
          <a:lstStyle/>
          <a:p>
            <a:pPr marL="0" indent="0">
              <a:buNone/>
            </a:pPr>
            <a:r>
              <a:rPr lang="en-US" sz="3600" b="1" dirty="0">
                <a:solidFill>
                  <a:srgbClr val="0B1F3A"/>
                </a:solidFill>
                <a:latin typeface="Arial" panose="020B0604020202020204" pitchFamily="34" charset="0"/>
                <a:ea typeface="Arial" panose="020B0604020202020204" pitchFamily="34" charset="-122"/>
                <a:cs typeface="Arial" panose="020B0604020202020204" pitchFamily="34" charset="-120"/>
              </a:rPr>
              <a:t>Objectives &amp; Business Value</a:t>
            </a:r>
            <a:endParaRPr lang="en-US" sz="3600" dirty="0"/>
          </a:p>
        </p:txBody>
      </p:sp>
      <p:sp>
        <p:nvSpPr>
          <p:cNvPr id="4" name="Shape 2"/>
          <p:cNvSpPr/>
          <p:nvPr/>
        </p:nvSpPr>
        <p:spPr>
          <a:xfrm>
            <a:off x="640080" y="1600200"/>
            <a:ext cx="3364992" cy="2331720"/>
          </a:xfrm>
          <a:prstGeom prst="roundRect">
            <a:avLst>
              <a:gd name="adj" fmla="val 3137"/>
            </a:avLst>
          </a:prstGeom>
          <a:solidFill>
            <a:srgbClr val="F2F4F7"/>
          </a:solidFill>
          <a:ln w="12700">
            <a:solidFill>
              <a:srgbClr val="E7EBF0"/>
            </a:solidFill>
            <a:prstDash val="solid"/>
          </a:ln>
        </p:spPr>
      </p:sp>
      <p:sp>
        <p:nvSpPr>
          <p:cNvPr id="5" name="Shape 3"/>
          <p:cNvSpPr/>
          <p:nvPr/>
        </p:nvSpPr>
        <p:spPr>
          <a:xfrm>
            <a:off x="868680" y="1828800"/>
            <a:ext cx="502920" cy="502920"/>
          </a:xfrm>
          <a:prstGeom prst="ellipse">
            <a:avLst/>
          </a:prstGeom>
          <a:solidFill>
            <a:srgbClr val="2F6FED"/>
          </a:solidFill>
        </p:spPr>
      </p:sp>
      <p:pic>
        <p:nvPicPr>
          <p:cNvPr id="6" name="Image 0" descr="icons/network_white.png"/>
          <p:cNvPicPr>
            <a:picLocks noChangeAspect="1"/>
          </p:cNvPicPr>
          <p:nvPr/>
        </p:nvPicPr>
        <p:blipFill>
          <a:blip r:embed="rId1"/>
          <a:stretch>
            <a:fillRect/>
          </a:stretch>
        </p:blipFill>
        <p:spPr>
          <a:xfrm>
            <a:off x="1004468" y="1964588"/>
            <a:ext cx="231343" cy="231343"/>
          </a:xfrm>
          <a:prstGeom prst="rect">
            <a:avLst/>
          </a:prstGeom>
        </p:spPr>
      </p:pic>
      <p:sp>
        <p:nvSpPr>
          <p:cNvPr id="7" name="Text 4"/>
          <p:cNvSpPr/>
          <p:nvPr/>
        </p:nvSpPr>
        <p:spPr>
          <a:xfrm>
            <a:off x="868680" y="2383790"/>
            <a:ext cx="2907665" cy="450850"/>
          </a:xfrm>
          <a:prstGeom prst="rect">
            <a:avLst/>
          </a:prstGeom>
          <a:noFill/>
        </p:spPr>
        <p:txBody>
          <a:bodyPr wrap="square" rtlCol="0" anchor="ctr"/>
          <a:lstStyle/>
          <a:p>
            <a:pPr marL="0" indent="0">
              <a:buNone/>
            </a:pPr>
            <a:r>
              <a:rPr lang="en-US" sz="2400" b="1" dirty="0">
                <a:solidFill>
                  <a:srgbClr val="0B1F3A"/>
                </a:solidFill>
                <a:latin typeface="Arial" panose="020B0604020202020204" pitchFamily="34" charset="0"/>
                <a:ea typeface="Arial" panose="020B0604020202020204" pitchFamily="34" charset="-122"/>
                <a:cs typeface="Arial" panose="020B0604020202020204" pitchFamily="34" charset="-120"/>
              </a:rPr>
              <a:t>Connected Data</a:t>
            </a:r>
            <a:endParaRPr lang="en-US" sz="2400" dirty="0"/>
          </a:p>
        </p:txBody>
      </p:sp>
      <p:sp>
        <p:nvSpPr>
          <p:cNvPr id="8" name="Text 5"/>
          <p:cNvSpPr/>
          <p:nvPr/>
        </p:nvSpPr>
        <p:spPr>
          <a:xfrm>
            <a:off x="868680" y="2792095"/>
            <a:ext cx="2907665" cy="1002665"/>
          </a:xfrm>
          <a:prstGeom prst="rect">
            <a:avLst/>
          </a:prstGeom>
          <a:noFill/>
        </p:spPr>
        <p:txBody>
          <a:bodyPr wrap="square" rtlCol="0" anchor="t"/>
          <a:lstStyle/>
          <a:p>
            <a:pPr marL="0" indent="0">
              <a:lnSpc>
                <a:spcPct val="115000"/>
              </a:lnSpc>
              <a:buNone/>
            </a:pPr>
            <a:r>
              <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rPr>
              <a:t>Link vehicle, booking, fuel, payment, notification, and user information in one platform.</a:t>
            </a:r>
            <a:endParaRPr lang="en-US" sz="1600" dirty="0"/>
          </a:p>
        </p:txBody>
      </p:sp>
      <p:sp>
        <p:nvSpPr>
          <p:cNvPr id="9" name="Shape 6"/>
          <p:cNvSpPr/>
          <p:nvPr/>
        </p:nvSpPr>
        <p:spPr>
          <a:xfrm>
            <a:off x="4145788" y="1610995"/>
            <a:ext cx="3364992" cy="2331720"/>
          </a:xfrm>
          <a:prstGeom prst="roundRect">
            <a:avLst>
              <a:gd name="adj" fmla="val 3137"/>
            </a:avLst>
          </a:prstGeom>
          <a:solidFill>
            <a:srgbClr val="F2F4F7"/>
          </a:solidFill>
          <a:ln w="12700">
            <a:solidFill>
              <a:srgbClr val="E7EBF0"/>
            </a:solidFill>
            <a:prstDash val="solid"/>
          </a:ln>
        </p:spPr>
      </p:sp>
      <p:sp>
        <p:nvSpPr>
          <p:cNvPr id="10" name="Shape 7"/>
          <p:cNvSpPr/>
          <p:nvPr/>
        </p:nvSpPr>
        <p:spPr>
          <a:xfrm>
            <a:off x="4453255" y="1644015"/>
            <a:ext cx="502920" cy="564515"/>
          </a:xfrm>
          <a:prstGeom prst="ellipse">
            <a:avLst/>
          </a:prstGeom>
          <a:solidFill>
            <a:srgbClr val="2F6FED"/>
          </a:solidFill>
        </p:spPr>
      </p:sp>
      <p:pic>
        <p:nvPicPr>
          <p:cNvPr id="11" name="Image 1" descr="icons/headset_white.png"/>
          <p:cNvPicPr>
            <a:picLocks noChangeAspect="1"/>
          </p:cNvPicPr>
          <p:nvPr/>
        </p:nvPicPr>
        <p:blipFill>
          <a:blip r:embed="rId2"/>
          <a:stretch>
            <a:fillRect/>
          </a:stretch>
        </p:blipFill>
        <p:spPr>
          <a:xfrm>
            <a:off x="4588916" y="1882673"/>
            <a:ext cx="231343" cy="231343"/>
          </a:xfrm>
          <a:prstGeom prst="rect">
            <a:avLst/>
          </a:prstGeom>
        </p:spPr>
      </p:pic>
      <p:sp>
        <p:nvSpPr>
          <p:cNvPr id="12" name="Text 8"/>
          <p:cNvSpPr/>
          <p:nvPr/>
        </p:nvSpPr>
        <p:spPr>
          <a:xfrm>
            <a:off x="4453128" y="2468880"/>
            <a:ext cx="2907792" cy="365760"/>
          </a:xfrm>
          <a:prstGeom prst="rect">
            <a:avLst/>
          </a:prstGeom>
          <a:noFill/>
        </p:spPr>
        <p:txBody>
          <a:bodyPr wrap="square" rtlCol="0" anchor="ctr"/>
          <a:lstStyle/>
          <a:p>
            <a:pPr marL="0" indent="0">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Better Customer Service</a:t>
            </a:r>
            <a:endPar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endParaRPr>
          </a:p>
          <a:p>
            <a:pPr marL="0" indent="0">
              <a:buNone/>
            </a:pPr>
            <a:endParaRPr lang="en-US" sz="2000" dirty="0"/>
          </a:p>
        </p:txBody>
      </p:sp>
      <p:sp>
        <p:nvSpPr>
          <p:cNvPr id="13" name="Text 9"/>
          <p:cNvSpPr/>
          <p:nvPr/>
        </p:nvSpPr>
        <p:spPr>
          <a:xfrm>
            <a:off x="4453128" y="2834640"/>
            <a:ext cx="2907792" cy="960120"/>
          </a:xfrm>
          <a:prstGeom prst="rect">
            <a:avLst/>
          </a:prstGeom>
          <a:noFill/>
        </p:spPr>
        <p:txBody>
          <a:bodyPr wrap="square" rtlCol="0" anchor="t"/>
          <a:lstStyle/>
          <a:p>
            <a:pPr marL="0" indent="0">
              <a:lnSpc>
                <a:spcPct val="115000"/>
              </a:lnSpc>
              <a:buNone/>
            </a:pPr>
            <a:r>
              <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rPr>
              <a:t>Enable quick booking, verified payment, and digital invoices for every customer.</a:t>
            </a:r>
            <a:endPar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endParaRPr>
          </a:p>
        </p:txBody>
      </p:sp>
      <p:sp>
        <p:nvSpPr>
          <p:cNvPr id="14" name="Shape 10"/>
          <p:cNvSpPr/>
          <p:nvPr/>
        </p:nvSpPr>
        <p:spPr>
          <a:xfrm>
            <a:off x="7808976" y="1600200"/>
            <a:ext cx="3364992" cy="2331720"/>
          </a:xfrm>
          <a:prstGeom prst="roundRect">
            <a:avLst>
              <a:gd name="adj" fmla="val 3137"/>
            </a:avLst>
          </a:prstGeom>
          <a:solidFill>
            <a:srgbClr val="F2F4F7"/>
          </a:solidFill>
          <a:ln w="12700">
            <a:solidFill>
              <a:srgbClr val="E7EBF0"/>
            </a:solidFill>
            <a:prstDash val="solid"/>
          </a:ln>
        </p:spPr>
      </p:sp>
      <p:sp>
        <p:nvSpPr>
          <p:cNvPr id="15" name="Shape 11"/>
          <p:cNvSpPr/>
          <p:nvPr/>
        </p:nvSpPr>
        <p:spPr>
          <a:xfrm>
            <a:off x="8037576" y="1828800"/>
            <a:ext cx="502920" cy="502920"/>
          </a:xfrm>
          <a:prstGeom prst="ellipse">
            <a:avLst/>
          </a:prstGeom>
          <a:solidFill>
            <a:srgbClr val="2F6FED"/>
          </a:solidFill>
        </p:spPr>
      </p:sp>
      <p:pic>
        <p:nvPicPr>
          <p:cNvPr id="16" name="Image 2" descr="icons/shieldAlt_white.png"/>
          <p:cNvPicPr>
            <a:picLocks noChangeAspect="1"/>
          </p:cNvPicPr>
          <p:nvPr/>
        </p:nvPicPr>
        <p:blipFill>
          <a:blip r:embed="rId3"/>
          <a:stretch>
            <a:fillRect/>
          </a:stretch>
        </p:blipFill>
        <p:spPr>
          <a:xfrm>
            <a:off x="8173364" y="1964588"/>
            <a:ext cx="231343" cy="231343"/>
          </a:xfrm>
          <a:prstGeom prst="rect">
            <a:avLst/>
          </a:prstGeom>
        </p:spPr>
      </p:pic>
      <p:sp>
        <p:nvSpPr>
          <p:cNvPr id="17" name="Text 12"/>
          <p:cNvSpPr/>
          <p:nvPr/>
        </p:nvSpPr>
        <p:spPr>
          <a:xfrm>
            <a:off x="8037576" y="2468880"/>
            <a:ext cx="2907792" cy="365760"/>
          </a:xfrm>
          <a:prstGeom prst="rect">
            <a:avLst/>
          </a:prstGeom>
          <a:noFill/>
        </p:spPr>
        <p:txBody>
          <a:bodyPr wrap="square" rtlCol="0" anchor="ctr"/>
          <a:lstStyle/>
          <a:p>
            <a:pPr marL="0" indent="0">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Fewer Errors</a:t>
            </a:r>
            <a:endParaRPr lang="en-US" sz="2000" dirty="0"/>
          </a:p>
        </p:txBody>
      </p:sp>
      <p:sp>
        <p:nvSpPr>
          <p:cNvPr id="18" name="Text 13"/>
          <p:cNvSpPr/>
          <p:nvPr/>
        </p:nvSpPr>
        <p:spPr>
          <a:xfrm>
            <a:off x="8037576" y="2834640"/>
            <a:ext cx="2907792" cy="960120"/>
          </a:xfrm>
          <a:prstGeom prst="rect">
            <a:avLst/>
          </a:prstGeom>
          <a:noFill/>
        </p:spPr>
        <p:txBody>
          <a:bodyPr wrap="square" rtlCol="0" anchor="t"/>
          <a:lstStyle/>
          <a:p>
            <a:pPr marL="0" indent="0">
              <a:lnSpc>
                <a:spcPct val="115000"/>
              </a:lnSpc>
              <a:buNone/>
            </a:pPr>
            <a:r>
              <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rPr>
              <a:t>Reduce data-entry errors and eliminate booking conflicts across service centers.</a:t>
            </a:r>
            <a:endPar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endParaRPr>
          </a:p>
        </p:txBody>
      </p:sp>
      <p:sp>
        <p:nvSpPr>
          <p:cNvPr id="19" name="Shape 14"/>
          <p:cNvSpPr/>
          <p:nvPr/>
        </p:nvSpPr>
        <p:spPr>
          <a:xfrm>
            <a:off x="2432304" y="4151376"/>
            <a:ext cx="3364992" cy="2331720"/>
          </a:xfrm>
          <a:prstGeom prst="roundRect">
            <a:avLst>
              <a:gd name="adj" fmla="val 3137"/>
            </a:avLst>
          </a:prstGeom>
          <a:solidFill>
            <a:srgbClr val="F2F4F7"/>
          </a:solidFill>
          <a:ln w="12700">
            <a:solidFill>
              <a:srgbClr val="E7EBF0"/>
            </a:solidFill>
            <a:prstDash val="solid"/>
          </a:ln>
        </p:spPr>
      </p:sp>
      <p:sp>
        <p:nvSpPr>
          <p:cNvPr id="20" name="Shape 15"/>
          <p:cNvSpPr/>
          <p:nvPr/>
        </p:nvSpPr>
        <p:spPr>
          <a:xfrm>
            <a:off x="2660904" y="4379976"/>
            <a:ext cx="502920" cy="502920"/>
          </a:xfrm>
          <a:prstGeom prst="ellipse">
            <a:avLst/>
          </a:prstGeom>
          <a:solidFill>
            <a:srgbClr val="2F6FED"/>
          </a:solidFill>
        </p:spPr>
      </p:sp>
      <p:pic>
        <p:nvPicPr>
          <p:cNvPr id="21" name="Image 3" descr="icons/fileInvoiceDollar_white.png"/>
          <p:cNvPicPr>
            <a:picLocks noChangeAspect="1"/>
          </p:cNvPicPr>
          <p:nvPr/>
        </p:nvPicPr>
        <p:blipFill>
          <a:blip r:embed="rId4"/>
          <a:stretch>
            <a:fillRect/>
          </a:stretch>
        </p:blipFill>
        <p:spPr>
          <a:xfrm>
            <a:off x="2796692" y="4515764"/>
            <a:ext cx="231343" cy="231343"/>
          </a:xfrm>
          <a:prstGeom prst="rect">
            <a:avLst/>
          </a:prstGeom>
        </p:spPr>
      </p:pic>
      <p:sp>
        <p:nvSpPr>
          <p:cNvPr id="22" name="Text 16"/>
          <p:cNvSpPr/>
          <p:nvPr/>
        </p:nvSpPr>
        <p:spPr>
          <a:xfrm>
            <a:off x="2660904" y="5020056"/>
            <a:ext cx="2907792" cy="365760"/>
          </a:xfrm>
          <a:prstGeom prst="rect">
            <a:avLst/>
          </a:prstGeom>
          <a:noFill/>
        </p:spPr>
        <p:txBody>
          <a:bodyPr wrap="square" rtlCol="0" anchor="ctr"/>
          <a:lstStyle/>
          <a:p>
            <a:pPr marL="0" indent="0">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Financial Control</a:t>
            </a:r>
            <a:endParaRPr lang="en-US" sz="2000" dirty="0"/>
          </a:p>
        </p:txBody>
      </p:sp>
      <p:sp>
        <p:nvSpPr>
          <p:cNvPr id="23" name="Text 17"/>
          <p:cNvSpPr/>
          <p:nvPr/>
        </p:nvSpPr>
        <p:spPr>
          <a:xfrm>
            <a:off x="2660904" y="5385816"/>
            <a:ext cx="2907792" cy="960120"/>
          </a:xfrm>
          <a:prstGeom prst="rect">
            <a:avLst/>
          </a:prstGeom>
          <a:noFill/>
        </p:spPr>
        <p:txBody>
          <a:bodyPr wrap="square" rtlCol="0" anchor="t"/>
          <a:lstStyle/>
          <a:p>
            <a:pPr marL="0" indent="0">
              <a:lnSpc>
                <a:spcPct val="115000"/>
              </a:lnSpc>
              <a:buNone/>
            </a:pPr>
            <a:r>
              <a:rPr lang="en-US" dirty="0">
                <a:solidFill>
                  <a:srgbClr val="4A5563"/>
                </a:solidFill>
                <a:latin typeface="Arial" panose="020B0604020202020204" pitchFamily="34" charset="0"/>
                <a:ea typeface="Arial" panose="020B0604020202020204" pitchFamily="34" charset="-122"/>
                <a:cs typeface="Arial" panose="020B0604020202020204" pitchFamily="34" charset="-120"/>
              </a:rPr>
              <a:t>Strengthen refunds, audit records, and reporting for full financial visibility.</a:t>
            </a:r>
            <a:endParaRPr lang="en-US" dirty="0"/>
          </a:p>
        </p:txBody>
      </p:sp>
      <p:sp>
        <p:nvSpPr>
          <p:cNvPr id="24" name="Shape 18"/>
          <p:cNvSpPr/>
          <p:nvPr/>
        </p:nvSpPr>
        <p:spPr>
          <a:xfrm>
            <a:off x="6016752" y="4151376"/>
            <a:ext cx="3364992" cy="2331720"/>
          </a:xfrm>
          <a:prstGeom prst="roundRect">
            <a:avLst>
              <a:gd name="adj" fmla="val 3137"/>
            </a:avLst>
          </a:prstGeom>
          <a:solidFill>
            <a:srgbClr val="F2F4F7"/>
          </a:solidFill>
          <a:ln w="12700">
            <a:solidFill>
              <a:srgbClr val="E7EBF0"/>
            </a:solidFill>
            <a:prstDash val="solid"/>
          </a:ln>
        </p:spPr>
      </p:sp>
      <p:sp>
        <p:nvSpPr>
          <p:cNvPr id="25" name="Shape 19"/>
          <p:cNvSpPr/>
          <p:nvPr/>
        </p:nvSpPr>
        <p:spPr>
          <a:xfrm>
            <a:off x="6245352" y="4379976"/>
            <a:ext cx="502920" cy="502920"/>
          </a:xfrm>
          <a:prstGeom prst="ellipse">
            <a:avLst/>
          </a:prstGeom>
          <a:solidFill>
            <a:srgbClr val="2F6FED"/>
          </a:solidFill>
        </p:spPr>
      </p:sp>
      <p:pic>
        <p:nvPicPr>
          <p:cNvPr id="26" name="Image 4" descr="icons/chartBar_white.png"/>
          <p:cNvPicPr>
            <a:picLocks noChangeAspect="1"/>
          </p:cNvPicPr>
          <p:nvPr/>
        </p:nvPicPr>
        <p:blipFill>
          <a:blip r:embed="rId5"/>
          <a:stretch>
            <a:fillRect/>
          </a:stretch>
        </p:blipFill>
        <p:spPr>
          <a:xfrm>
            <a:off x="6381140" y="4515764"/>
            <a:ext cx="231343" cy="231343"/>
          </a:xfrm>
          <a:prstGeom prst="rect">
            <a:avLst/>
          </a:prstGeom>
        </p:spPr>
      </p:pic>
      <p:sp>
        <p:nvSpPr>
          <p:cNvPr id="27" name="Text 20"/>
          <p:cNvSpPr/>
          <p:nvPr/>
        </p:nvSpPr>
        <p:spPr>
          <a:xfrm>
            <a:off x="6245352" y="5020056"/>
            <a:ext cx="2907792" cy="365760"/>
          </a:xfrm>
          <a:prstGeom prst="rect">
            <a:avLst/>
          </a:prstGeom>
          <a:noFill/>
        </p:spPr>
        <p:txBody>
          <a:bodyPr wrap="square" rtlCol="0" anchor="ctr"/>
          <a:lstStyle/>
          <a:p>
            <a:pPr marL="0" indent="0">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Smarter Planning</a:t>
            </a:r>
            <a:endPar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endParaRPr>
          </a:p>
        </p:txBody>
      </p:sp>
      <p:sp>
        <p:nvSpPr>
          <p:cNvPr id="28" name="Text 21"/>
          <p:cNvSpPr/>
          <p:nvPr/>
        </p:nvSpPr>
        <p:spPr>
          <a:xfrm>
            <a:off x="6245352" y="5385816"/>
            <a:ext cx="2907792" cy="960120"/>
          </a:xfrm>
          <a:prstGeom prst="rect">
            <a:avLst/>
          </a:prstGeom>
          <a:noFill/>
        </p:spPr>
        <p:txBody>
          <a:bodyPr wrap="square" rtlCol="0" anchor="t"/>
          <a:lstStyle/>
          <a:p>
            <a:pPr marL="0" indent="0">
              <a:lnSpc>
                <a:spcPct val="115000"/>
              </a:lnSpc>
              <a:buNone/>
            </a:pPr>
            <a:r>
              <a:rPr lang="en-US" dirty="0">
                <a:solidFill>
                  <a:srgbClr val="4A5563"/>
                </a:solidFill>
                <a:latin typeface="Arial" panose="020B0604020202020204" pitchFamily="34" charset="0"/>
                <a:ea typeface="Arial" panose="020B0604020202020204" pitchFamily="34" charset="-122"/>
                <a:cs typeface="Arial" panose="020B0604020202020204" pitchFamily="34" charset="-120"/>
              </a:rPr>
              <a:t>Use demand, occupancy, and fuel-consumption data to plan resources better.</a:t>
            </a:r>
            <a:endParaRPr lang="en-US" dirty="0"/>
          </a:p>
        </p:txBody>
      </p:sp>
      <p:sp>
        <p:nvSpPr>
          <p:cNvPr id="29" name="Text 22"/>
          <p:cNvSpPr/>
          <p:nvPr/>
        </p:nvSpPr>
        <p:spPr>
          <a:xfrm>
            <a:off x="11503152" y="6400800"/>
            <a:ext cx="457200" cy="274320"/>
          </a:xfrm>
          <a:prstGeom prst="rect">
            <a:avLst/>
          </a:prstGeom>
          <a:noFill/>
        </p:spPr>
        <p:txBody>
          <a:bodyPr wrap="square" rtlCol="0" anchor="ctr"/>
          <a:lstStyle/>
          <a:p>
            <a:pPr marL="0" indent="0" algn="r">
              <a:buNone/>
            </a:pPr>
            <a:r>
              <a:rPr lang="en-US" sz="900" dirty="0">
                <a:solidFill>
                  <a:srgbClr val="6B7684"/>
                </a:solidFill>
                <a:latin typeface="Arial" panose="020B0604020202020204" pitchFamily="34" charset="0"/>
                <a:ea typeface="Arial" panose="020B0604020202020204" pitchFamily="34" charset="-122"/>
                <a:cs typeface="Arial" panose="020B0604020202020204"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0" cy="274320"/>
          </a:xfrm>
          <a:prstGeom prst="rect">
            <a:avLst/>
          </a:prstGeom>
          <a:noFill/>
        </p:spPr>
        <p:txBody>
          <a:bodyPr wrap="square" rtlCol="0" anchor="ctr"/>
          <a:lstStyle/>
          <a:p>
            <a:pPr marL="0" indent="0">
              <a:buNone/>
            </a:pPr>
            <a:r>
              <a:rPr lang="en-US" sz="1600" b="1" kern="0" spc="200" dirty="0">
                <a:solidFill>
                  <a:srgbClr val="2F6FED"/>
                </a:solidFill>
                <a:latin typeface="Arial" panose="020B0604020202020204" pitchFamily="34" charset="0"/>
                <a:ea typeface="Arial" panose="020B0604020202020204" pitchFamily="34" charset="-122"/>
                <a:cs typeface="Arial" panose="020B0604020202020204" pitchFamily="34" charset="-120"/>
              </a:rPr>
              <a:t>ARCHITECTURE</a:t>
            </a:r>
            <a:endParaRPr lang="en-US" sz="1600" dirty="0"/>
          </a:p>
        </p:txBody>
      </p:sp>
      <p:sp>
        <p:nvSpPr>
          <p:cNvPr id="3" name="Text 1"/>
          <p:cNvSpPr/>
          <p:nvPr/>
        </p:nvSpPr>
        <p:spPr>
          <a:xfrm>
            <a:off x="640080" y="685800"/>
            <a:ext cx="10515600" cy="640080"/>
          </a:xfrm>
          <a:prstGeom prst="rect">
            <a:avLst/>
          </a:prstGeom>
          <a:noFill/>
        </p:spPr>
        <p:txBody>
          <a:bodyPr wrap="square" rtlCol="0" anchor="ctr"/>
          <a:lstStyle/>
          <a:p>
            <a:pPr marL="0" indent="0">
              <a:buNone/>
            </a:pPr>
            <a:r>
              <a:rPr lang="en-US" sz="3600" b="1" dirty="0">
                <a:solidFill>
                  <a:srgbClr val="0B1F3A"/>
                </a:solidFill>
                <a:latin typeface="Arial" panose="020B0604020202020204" pitchFamily="34" charset="0"/>
                <a:ea typeface="Arial" panose="020B0604020202020204" pitchFamily="34" charset="-122"/>
                <a:cs typeface="Arial" panose="020B0604020202020204" pitchFamily="34" charset="-120"/>
              </a:rPr>
              <a:t>System Overview</a:t>
            </a:r>
            <a:endParaRPr lang="en-US" sz="3600" dirty="0"/>
          </a:p>
        </p:txBody>
      </p:sp>
      <p:sp>
        <p:nvSpPr>
          <p:cNvPr id="4" name="Shape 2"/>
          <p:cNvSpPr/>
          <p:nvPr/>
        </p:nvSpPr>
        <p:spPr>
          <a:xfrm>
            <a:off x="640080" y="1417320"/>
            <a:ext cx="1179830" cy="960120"/>
          </a:xfrm>
          <a:prstGeom prst="roundRect">
            <a:avLst>
              <a:gd name="adj" fmla="val 7059"/>
            </a:avLst>
          </a:prstGeom>
          <a:solidFill>
            <a:srgbClr val="F2F4F7"/>
          </a:solidFill>
        </p:spPr>
      </p:sp>
      <p:pic>
        <p:nvPicPr>
          <p:cNvPr id="5" name="Image 0" descr="icons/userCircle_navy.png"/>
          <p:cNvPicPr>
            <a:picLocks noChangeAspect="1"/>
          </p:cNvPicPr>
          <p:nvPr/>
        </p:nvPicPr>
        <p:blipFill>
          <a:blip r:embed="rId1"/>
          <a:stretch>
            <a:fillRect/>
          </a:stretch>
        </p:blipFill>
        <p:spPr>
          <a:xfrm>
            <a:off x="1110996" y="1508760"/>
            <a:ext cx="237744" cy="237744"/>
          </a:xfrm>
          <a:prstGeom prst="rect">
            <a:avLst/>
          </a:prstGeom>
        </p:spPr>
      </p:pic>
      <p:sp>
        <p:nvSpPr>
          <p:cNvPr id="6" name="Text 3"/>
          <p:cNvSpPr/>
          <p:nvPr/>
        </p:nvSpPr>
        <p:spPr>
          <a:xfrm>
            <a:off x="667385" y="1801495"/>
            <a:ext cx="1124585" cy="403225"/>
          </a:xfrm>
          <a:prstGeom prst="rect">
            <a:avLst/>
          </a:prstGeom>
          <a:noFill/>
        </p:spPr>
        <p:txBody>
          <a:bodyPr wrap="square" rtlCol="0" anchor="t"/>
          <a:lstStyle/>
          <a:p>
            <a:pPr marL="0" indent="0" algn="ctr">
              <a:buNone/>
            </a:pPr>
            <a:r>
              <a:rPr lang="en-US" sz="1400" dirty="0">
                <a:solidFill>
                  <a:srgbClr val="0B1F3A"/>
                </a:solidFill>
                <a:latin typeface="Arial" panose="020B0604020202020204" pitchFamily="34" charset="0"/>
                <a:ea typeface="Arial" panose="020B0604020202020204" pitchFamily="34" charset="-122"/>
                <a:cs typeface="Arial" panose="020B0604020202020204" pitchFamily="34" charset="-120"/>
              </a:rPr>
              <a:t>Public Visitor</a:t>
            </a:r>
            <a:endParaRPr lang="en-US" sz="1400" dirty="0"/>
          </a:p>
        </p:txBody>
      </p:sp>
      <p:sp>
        <p:nvSpPr>
          <p:cNvPr id="7" name="Shape 4"/>
          <p:cNvSpPr/>
          <p:nvPr/>
        </p:nvSpPr>
        <p:spPr>
          <a:xfrm>
            <a:off x="1911350" y="1417320"/>
            <a:ext cx="1179830" cy="960120"/>
          </a:xfrm>
          <a:prstGeom prst="roundRect">
            <a:avLst>
              <a:gd name="adj" fmla="val 7059"/>
            </a:avLst>
          </a:prstGeom>
          <a:solidFill>
            <a:srgbClr val="F2F4F7"/>
          </a:solidFill>
        </p:spPr>
      </p:sp>
      <p:pic>
        <p:nvPicPr>
          <p:cNvPr id="8" name="Image 1" descr="icons/userCircle_navy.png"/>
          <p:cNvPicPr>
            <a:picLocks noChangeAspect="1"/>
          </p:cNvPicPr>
          <p:nvPr/>
        </p:nvPicPr>
        <p:blipFill>
          <a:blip r:embed="rId1"/>
          <a:stretch>
            <a:fillRect/>
          </a:stretch>
        </p:blipFill>
        <p:spPr>
          <a:xfrm>
            <a:off x="2382012" y="1508760"/>
            <a:ext cx="237744" cy="237744"/>
          </a:xfrm>
          <a:prstGeom prst="rect">
            <a:avLst/>
          </a:prstGeom>
        </p:spPr>
      </p:pic>
      <p:sp>
        <p:nvSpPr>
          <p:cNvPr id="9" name="Text 5"/>
          <p:cNvSpPr/>
          <p:nvPr/>
        </p:nvSpPr>
        <p:spPr>
          <a:xfrm>
            <a:off x="1938528" y="1801368"/>
            <a:ext cx="1124712" cy="365760"/>
          </a:xfrm>
          <a:prstGeom prst="rect">
            <a:avLst/>
          </a:prstGeom>
          <a:noFill/>
        </p:spPr>
        <p:txBody>
          <a:bodyPr wrap="square" rtlCol="0" anchor="t"/>
          <a:lstStyle/>
          <a:p>
            <a:pPr marL="0" indent="0" algn="ctr">
              <a:buNone/>
            </a:pPr>
            <a:r>
              <a:rPr lang="en-US" sz="1400" dirty="0">
                <a:solidFill>
                  <a:srgbClr val="0B1F3A"/>
                </a:solidFill>
                <a:latin typeface="Arial" panose="020B0604020202020204" pitchFamily="34" charset="0"/>
                <a:ea typeface="Arial" panose="020B0604020202020204" pitchFamily="34" charset="-122"/>
                <a:cs typeface="Arial" panose="020B0604020202020204" pitchFamily="34" charset="-120"/>
              </a:rPr>
              <a:t>Guest Customer</a:t>
            </a:r>
            <a:endParaRPr lang="en-US" sz="1400" dirty="0"/>
          </a:p>
        </p:txBody>
      </p:sp>
      <p:sp>
        <p:nvSpPr>
          <p:cNvPr id="10" name="Shape 6"/>
          <p:cNvSpPr/>
          <p:nvPr/>
        </p:nvSpPr>
        <p:spPr>
          <a:xfrm>
            <a:off x="3181985" y="1417320"/>
            <a:ext cx="1179830" cy="930910"/>
          </a:xfrm>
          <a:prstGeom prst="roundRect">
            <a:avLst>
              <a:gd name="adj" fmla="val 7059"/>
            </a:avLst>
          </a:prstGeom>
          <a:solidFill>
            <a:srgbClr val="F2F4F7"/>
          </a:solidFill>
        </p:spPr>
      </p:sp>
      <p:pic>
        <p:nvPicPr>
          <p:cNvPr id="11" name="Image 2" descr="icons/userCircle_navy.png"/>
          <p:cNvPicPr>
            <a:picLocks noChangeAspect="1"/>
          </p:cNvPicPr>
          <p:nvPr/>
        </p:nvPicPr>
        <p:blipFill>
          <a:blip r:embed="rId1"/>
          <a:stretch>
            <a:fillRect/>
          </a:stretch>
        </p:blipFill>
        <p:spPr>
          <a:xfrm>
            <a:off x="3653028" y="1508760"/>
            <a:ext cx="237744" cy="237744"/>
          </a:xfrm>
          <a:prstGeom prst="rect">
            <a:avLst/>
          </a:prstGeom>
        </p:spPr>
      </p:pic>
      <p:sp>
        <p:nvSpPr>
          <p:cNvPr id="12" name="Text 7"/>
          <p:cNvSpPr/>
          <p:nvPr/>
        </p:nvSpPr>
        <p:spPr>
          <a:xfrm>
            <a:off x="3169285" y="1802130"/>
            <a:ext cx="1164590" cy="365125"/>
          </a:xfrm>
          <a:prstGeom prst="rect">
            <a:avLst/>
          </a:prstGeom>
          <a:noFill/>
        </p:spPr>
        <p:txBody>
          <a:bodyPr wrap="square" rtlCol="0" anchor="t"/>
          <a:lstStyle/>
          <a:p>
            <a:pPr marL="0" indent="0" algn="ctr">
              <a:buNone/>
            </a:pPr>
            <a:r>
              <a:rPr lang="en-US" sz="1400" dirty="0">
                <a:solidFill>
                  <a:srgbClr val="0B1F3A"/>
                </a:solidFill>
                <a:latin typeface="Arial" panose="020B0604020202020204" pitchFamily="34" charset="0"/>
                <a:ea typeface="Arial" panose="020B0604020202020204" pitchFamily="34" charset="-122"/>
                <a:cs typeface="Arial" panose="020B0604020202020204" pitchFamily="34" charset="-120"/>
              </a:rPr>
              <a:t>Registered Customer</a:t>
            </a:r>
            <a:endParaRPr lang="en-US" sz="1400" dirty="0">
              <a:solidFill>
                <a:srgbClr val="0B1F3A"/>
              </a:solidFill>
              <a:latin typeface="Arial" panose="020B0604020202020204" pitchFamily="34" charset="0"/>
              <a:ea typeface="Arial" panose="020B0604020202020204" pitchFamily="34" charset="-122"/>
              <a:cs typeface="Arial" panose="020B0604020202020204" pitchFamily="34" charset="-120"/>
            </a:endParaRPr>
          </a:p>
        </p:txBody>
      </p:sp>
      <p:sp>
        <p:nvSpPr>
          <p:cNvPr id="13" name="Shape 8"/>
          <p:cNvSpPr/>
          <p:nvPr/>
        </p:nvSpPr>
        <p:spPr>
          <a:xfrm>
            <a:off x="4453255" y="1417320"/>
            <a:ext cx="1179830" cy="960120"/>
          </a:xfrm>
          <a:prstGeom prst="roundRect">
            <a:avLst>
              <a:gd name="adj" fmla="val 7059"/>
            </a:avLst>
          </a:prstGeom>
          <a:solidFill>
            <a:srgbClr val="F2F4F7"/>
          </a:solidFill>
        </p:spPr>
      </p:sp>
      <p:pic>
        <p:nvPicPr>
          <p:cNvPr id="14" name="Image 3" descr="icons/headset_navy.png"/>
          <p:cNvPicPr>
            <a:picLocks noChangeAspect="1"/>
          </p:cNvPicPr>
          <p:nvPr/>
        </p:nvPicPr>
        <p:blipFill>
          <a:blip r:embed="rId2"/>
          <a:stretch>
            <a:fillRect/>
          </a:stretch>
        </p:blipFill>
        <p:spPr>
          <a:xfrm>
            <a:off x="4924044" y="1508760"/>
            <a:ext cx="237744" cy="237744"/>
          </a:xfrm>
          <a:prstGeom prst="rect">
            <a:avLst/>
          </a:prstGeom>
        </p:spPr>
      </p:pic>
      <p:sp>
        <p:nvSpPr>
          <p:cNvPr id="15" name="Text 9"/>
          <p:cNvSpPr/>
          <p:nvPr/>
        </p:nvSpPr>
        <p:spPr>
          <a:xfrm>
            <a:off x="4480560" y="1801495"/>
            <a:ext cx="1124585" cy="576580"/>
          </a:xfrm>
          <a:prstGeom prst="rect">
            <a:avLst/>
          </a:prstGeom>
          <a:noFill/>
        </p:spPr>
        <p:txBody>
          <a:bodyPr wrap="square" rtlCol="0" anchor="t"/>
          <a:lstStyle/>
          <a:p>
            <a:pPr marL="0" indent="0" algn="ctr">
              <a:buNone/>
            </a:pPr>
            <a:r>
              <a:rPr lang="en-US" sz="1600" dirty="0">
                <a:solidFill>
                  <a:srgbClr val="0B1F3A"/>
                </a:solidFill>
                <a:latin typeface="Arial" panose="020B0604020202020204" pitchFamily="34" charset="0"/>
                <a:ea typeface="Arial" panose="020B0604020202020204" pitchFamily="34" charset="-122"/>
                <a:cs typeface="Arial" panose="020B0604020202020204" pitchFamily="34" charset="-120"/>
              </a:rPr>
              <a:t>Customer Service</a:t>
            </a:r>
            <a:endParaRPr lang="en-US" sz="1600" dirty="0">
              <a:solidFill>
                <a:srgbClr val="0B1F3A"/>
              </a:solidFill>
              <a:latin typeface="Arial" panose="020B0604020202020204" pitchFamily="34" charset="0"/>
              <a:ea typeface="Arial" panose="020B0604020202020204" pitchFamily="34" charset="-122"/>
              <a:cs typeface="Arial" panose="020B0604020202020204" pitchFamily="34" charset="-120"/>
            </a:endParaRPr>
          </a:p>
        </p:txBody>
      </p:sp>
      <p:sp>
        <p:nvSpPr>
          <p:cNvPr id="16" name="Shape 10"/>
          <p:cNvSpPr/>
          <p:nvPr/>
        </p:nvSpPr>
        <p:spPr>
          <a:xfrm>
            <a:off x="5723890" y="1417320"/>
            <a:ext cx="1179830" cy="980440"/>
          </a:xfrm>
          <a:prstGeom prst="roundRect">
            <a:avLst>
              <a:gd name="adj" fmla="val 7059"/>
            </a:avLst>
          </a:prstGeom>
          <a:solidFill>
            <a:srgbClr val="F2F4F7"/>
          </a:solidFill>
        </p:spPr>
      </p:sp>
      <p:pic>
        <p:nvPicPr>
          <p:cNvPr id="17" name="Image 4" descr="icons/calendarCheck_navy.png"/>
          <p:cNvPicPr>
            <a:picLocks noChangeAspect="1"/>
          </p:cNvPicPr>
          <p:nvPr/>
        </p:nvPicPr>
        <p:blipFill>
          <a:blip r:embed="rId3"/>
          <a:stretch>
            <a:fillRect/>
          </a:stretch>
        </p:blipFill>
        <p:spPr>
          <a:xfrm>
            <a:off x="6195060" y="1508760"/>
            <a:ext cx="237744" cy="237744"/>
          </a:xfrm>
          <a:prstGeom prst="rect">
            <a:avLst/>
          </a:prstGeom>
        </p:spPr>
      </p:pic>
      <p:sp>
        <p:nvSpPr>
          <p:cNvPr id="18" name="Text 11"/>
          <p:cNvSpPr/>
          <p:nvPr/>
        </p:nvSpPr>
        <p:spPr>
          <a:xfrm>
            <a:off x="5751830" y="1801495"/>
            <a:ext cx="1124585" cy="571500"/>
          </a:xfrm>
          <a:prstGeom prst="rect">
            <a:avLst/>
          </a:prstGeom>
          <a:noFill/>
        </p:spPr>
        <p:txBody>
          <a:bodyPr wrap="square" rtlCol="0" anchor="t"/>
          <a:lstStyle/>
          <a:p>
            <a:pPr marL="0" indent="0" algn="ctr">
              <a:buNone/>
            </a:pPr>
            <a:r>
              <a:rPr lang="en-US" sz="1400" dirty="0">
                <a:solidFill>
                  <a:srgbClr val="0B1F3A"/>
                </a:solidFill>
                <a:latin typeface="Arial" panose="020B0604020202020204" pitchFamily="34" charset="0"/>
                <a:ea typeface="Arial" panose="020B0604020202020204" pitchFamily="34" charset="-122"/>
                <a:cs typeface="Arial" panose="020B0604020202020204" pitchFamily="34" charset="-120"/>
              </a:rPr>
              <a:t>Scheduling Officer</a:t>
            </a:r>
            <a:endParaRPr lang="en-US" sz="1400" dirty="0"/>
          </a:p>
        </p:txBody>
      </p:sp>
      <p:sp>
        <p:nvSpPr>
          <p:cNvPr id="19" name="Shape 12"/>
          <p:cNvSpPr/>
          <p:nvPr/>
        </p:nvSpPr>
        <p:spPr>
          <a:xfrm>
            <a:off x="6995160" y="1417320"/>
            <a:ext cx="1179830" cy="956310"/>
          </a:xfrm>
          <a:prstGeom prst="roundRect">
            <a:avLst>
              <a:gd name="adj" fmla="val 7059"/>
            </a:avLst>
          </a:prstGeom>
          <a:solidFill>
            <a:srgbClr val="F2F4F7"/>
          </a:solidFill>
        </p:spPr>
      </p:sp>
      <p:pic>
        <p:nvPicPr>
          <p:cNvPr id="20" name="Image 5" descr="icons/fileInvoiceDollar_navy.png"/>
          <p:cNvPicPr>
            <a:picLocks noChangeAspect="1"/>
          </p:cNvPicPr>
          <p:nvPr/>
        </p:nvPicPr>
        <p:blipFill>
          <a:blip r:embed="rId4"/>
          <a:stretch>
            <a:fillRect/>
          </a:stretch>
        </p:blipFill>
        <p:spPr>
          <a:xfrm>
            <a:off x="7466076" y="1508760"/>
            <a:ext cx="237744" cy="237744"/>
          </a:xfrm>
          <a:prstGeom prst="rect">
            <a:avLst/>
          </a:prstGeom>
        </p:spPr>
      </p:pic>
      <p:sp>
        <p:nvSpPr>
          <p:cNvPr id="21" name="Text 13"/>
          <p:cNvSpPr/>
          <p:nvPr/>
        </p:nvSpPr>
        <p:spPr>
          <a:xfrm>
            <a:off x="7022592" y="1801368"/>
            <a:ext cx="1124712" cy="365760"/>
          </a:xfrm>
          <a:prstGeom prst="rect">
            <a:avLst/>
          </a:prstGeom>
          <a:noFill/>
        </p:spPr>
        <p:txBody>
          <a:bodyPr wrap="square" rtlCol="0" anchor="t"/>
          <a:lstStyle/>
          <a:p>
            <a:pPr marL="0" indent="0" algn="ctr">
              <a:buNone/>
            </a:pPr>
            <a:r>
              <a:rPr lang="en-US" sz="1600" dirty="0">
                <a:solidFill>
                  <a:srgbClr val="0B1F3A"/>
                </a:solidFill>
                <a:latin typeface="Arial" panose="020B0604020202020204" pitchFamily="34" charset="0"/>
                <a:ea typeface="Arial" panose="020B0604020202020204" pitchFamily="34" charset="-122"/>
                <a:cs typeface="Arial" panose="020B0604020202020204" pitchFamily="34" charset="-120"/>
              </a:rPr>
              <a:t>Finance Officer</a:t>
            </a:r>
            <a:endParaRPr lang="en-US" sz="1600" dirty="0"/>
          </a:p>
        </p:txBody>
      </p:sp>
      <p:sp>
        <p:nvSpPr>
          <p:cNvPr id="22" name="Shape 14"/>
          <p:cNvSpPr/>
          <p:nvPr/>
        </p:nvSpPr>
        <p:spPr>
          <a:xfrm>
            <a:off x="8266430" y="1417320"/>
            <a:ext cx="1179830" cy="955040"/>
          </a:xfrm>
          <a:prstGeom prst="roundRect">
            <a:avLst>
              <a:gd name="adj" fmla="val 7059"/>
            </a:avLst>
          </a:prstGeom>
          <a:solidFill>
            <a:srgbClr val="F2F4F7"/>
          </a:solidFill>
        </p:spPr>
      </p:sp>
      <p:pic>
        <p:nvPicPr>
          <p:cNvPr id="23" name="Image 6" descr="icons/gasPump_navy.png"/>
          <p:cNvPicPr>
            <a:picLocks noChangeAspect="1"/>
          </p:cNvPicPr>
          <p:nvPr/>
        </p:nvPicPr>
        <p:blipFill>
          <a:blip r:embed="rId5"/>
          <a:stretch>
            <a:fillRect/>
          </a:stretch>
        </p:blipFill>
        <p:spPr>
          <a:xfrm>
            <a:off x="8737092" y="1508760"/>
            <a:ext cx="237744" cy="237744"/>
          </a:xfrm>
          <a:prstGeom prst="rect">
            <a:avLst/>
          </a:prstGeom>
        </p:spPr>
      </p:pic>
      <p:sp>
        <p:nvSpPr>
          <p:cNvPr id="24" name="Text 15"/>
          <p:cNvSpPr/>
          <p:nvPr/>
        </p:nvSpPr>
        <p:spPr>
          <a:xfrm>
            <a:off x="8293735" y="1801495"/>
            <a:ext cx="1124585" cy="571500"/>
          </a:xfrm>
          <a:prstGeom prst="rect">
            <a:avLst/>
          </a:prstGeom>
          <a:noFill/>
        </p:spPr>
        <p:txBody>
          <a:bodyPr wrap="square" rtlCol="0" anchor="t"/>
          <a:lstStyle/>
          <a:p>
            <a:pPr marL="0" indent="0" algn="ctr">
              <a:buNone/>
            </a:pPr>
            <a:r>
              <a:rPr lang="en-US" sz="1200" dirty="0">
                <a:solidFill>
                  <a:srgbClr val="0B1F3A"/>
                </a:solidFill>
                <a:latin typeface="Arial" panose="020B0604020202020204" pitchFamily="34" charset="0"/>
                <a:ea typeface="Arial" panose="020B0604020202020204" pitchFamily="34" charset="-122"/>
                <a:cs typeface="Arial" panose="020B0604020202020204" pitchFamily="34" charset="-120"/>
              </a:rPr>
              <a:t>Fuel Station Management</a:t>
            </a:r>
            <a:endParaRPr lang="en-US" sz="1200" dirty="0">
              <a:solidFill>
                <a:srgbClr val="0B1F3A"/>
              </a:solidFill>
              <a:latin typeface="Arial" panose="020B0604020202020204" pitchFamily="34" charset="0"/>
              <a:ea typeface="Arial" panose="020B0604020202020204" pitchFamily="34" charset="-122"/>
              <a:cs typeface="Arial" panose="020B0604020202020204" pitchFamily="34" charset="-120"/>
            </a:endParaRPr>
          </a:p>
        </p:txBody>
      </p:sp>
      <p:sp>
        <p:nvSpPr>
          <p:cNvPr id="25" name="Shape 16"/>
          <p:cNvSpPr/>
          <p:nvPr/>
        </p:nvSpPr>
        <p:spPr>
          <a:xfrm>
            <a:off x="9537065" y="1417320"/>
            <a:ext cx="1179830" cy="930910"/>
          </a:xfrm>
          <a:prstGeom prst="roundRect">
            <a:avLst>
              <a:gd name="adj" fmla="val 7059"/>
            </a:avLst>
          </a:prstGeom>
          <a:solidFill>
            <a:srgbClr val="F2F4F7"/>
          </a:solidFill>
        </p:spPr>
      </p:sp>
      <p:pic>
        <p:nvPicPr>
          <p:cNvPr id="26" name="Image 7" descr="icons/cog_navy.png"/>
          <p:cNvPicPr>
            <a:picLocks noChangeAspect="1"/>
          </p:cNvPicPr>
          <p:nvPr/>
        </p:nvPicPr>
        <p:blipFill>
          <a:blip r:embed="rId6"/>
          <a:stretch>
            <a:fillRect/>
          </a:stretch>
        </p:blipFill>
        <p:spPr>
          <a:xfrm>
            <a:off x="10008108" y="1508760"/>
            <a:ext cx="237744" cy="237744"/>
          </a:xfrm>
          <a:prstGeom prst="rect">
            <a:avLst/>
          </a:prstGeom>
        </p:spPr>
      </p:pic>
      <p:sp>
        <p:nvSpPr>
          <p:cNvPr id="27" name="Text 17"/>
          <p:cNvSpPr/>
          <p:nvPr/>
        </p:nvSpPr>
        <p:spPr>
          <a:xfrm>
            <a:off x="9564624" y="1801368"/>
            <a:ext cx="1124712" cy="365760"/>
          </a:xfrm>
          <a:prstGeom prst="rect">
            <a:avLst/>
          </a:prstGeom>
          <a:noFill/>
        </p:spPr>
        <p:txBody>
          <a:bodyPr wrap="square" rtlCol="0" anchor="t"/>
          <a:lstStyle/>
          <a:p>
            <a:pPr marL="0" indent="0" algn="ctr">
              <a:buNone/>
            </a:pPr>
            <a:r>
              <a:rPr lang="en-US" sz="1200" dirty="0">
                <a:solidFill>
                  <a:srgbClr val="0B1F3A"/>
                </a:solidFill>
                <a:latin typeface="Arial" panose="020B0604020202020204" pitchFamily="34" charset="0"/>
                <a:ea typeface="Arial" panose="020B0604020202020204" pitchFamily="34" charset="-122"/>
                <a:cs typeface="Arial" panose="020B0604020202020204" pitchFamily="34" charset="-120"/>
              </a:rPr>
              <a:t>Operations Management</a:t>
            </a:r>
            <a:endParaRPr lang="en-US" sz="1200" dirty="0"/>
          </a:p>
        </p:txBody>
      </p:sp>
      <p:sp>
        <p:nvSpPr>
          <p:cNvPr id="28" name="Shape 18"/>
          <p:cNvSpPr/>
          <p:nvPr/>
        </p:nvSpPr>
        <p:spPr>
          <a:xfrm>
            <a:off x="10808335" y="1417320"/>
            <a:ext cx="1179830" cy="956310"/>
          </a:xfrm>
          <a:prstGeom prst="roundRect">
            <a:avLst>
              <a:gd name="adj" fmla="val 7059"/>
            </a:avLst>
          </a:prstGeom>
          <a:solidFill>
            <a:srgbClr val="F2F4F7"/>
          </a:solidFill>
        </p:spPr>
      </p:sp>
      <p:pic>
        <p:nvPicPr>
          <p:cNvPr id="29" name="Image 8" descr="icons/userShield_navy.png"/>
          <p:cNvPicPr>
            <a:picLocks noChangeAspect="1"/>
          </p:cNvPicPr>
          <p:nvPr/>
        </p:nvPicPr>
        <p:blipFill>
          <a:blip r:embed="rId7"/>
          <a:stretch>
            <a:fillRect/>
          </a:stretch>
        </p:blipFill>
        <p:spPr>
          <a:xfrm>
            <a:off x="11279124" y="1508760"/>
            <a:ext cx="237744" cy="237744"/>
          </a:xfrm>
          <a:prstGeom prst="rect">
            <a:avLst/>
          </a:prstGeom>
        </p:spPr>
      </p:pic>
      <p:sp>
        <p:nvSpPr>
          <p:cNvPr id="30" name="Text 19"/>
          <p:cNvSpPr/>
          <p:nvPr/>
        </p:nvSpPr>
        <p:spPr>
          <a:xfrm>
            <a:off x="10835640" y="1801495"/>
            <a:ext cx="1124585" cy="545465"/>
          </a:xfrm>
          <a:prstGeom prst="rect">
            <a:avLst/>
          </a:prstGeom>
          <a:noFill/>
        </p:spPr>
        <p:txBody>
          <a:bodyPr wrap="square" rtlCol="0" anchor="t"/>
          <a:lstStyle/>
          <a:p>
            <a:pPr marL="0" indent="0" algn="ctr">
              <a:buNone/>
            </a:pPr>
            <a:r>
              <a:rPr lang="en-US" sz="1200" dirty="0">
                <a:solidFill>
                  <a:srgbClr val="0B1F3A"/>
                </a:solidFill>
                <a:latin typeface="Arial" panose="020B0604020202020204" pitchFamily="34" charset="0"/>
                <a:ea typeface="Arial" panose="020B0604020202020204" pitchFamily="34" charset="-122"/>
                <a:cs typeface="Arial" panose="020B0604020202020204" pitchFamily="34" charset="-120"/>
              </a:rPr>
              <a:t>Administrator</a:t>
            </a:r>
            <a:endParaRPr lang="en-US" sz="1200" dirty="0"/>
          </a:p>
        </p:txBody>
      </p:sp>
      <p:sp>
        <p:nvSpPr>
          <p:cNvPr id="31" name="Shape 20"/>
          <p:cNvSpPr/>
          <p:nvPr/>
        </p:nvSpPr>
        <p:spPr>
          <a:xfrm>
            <a:off x="822960" y="2395728"/>
            <a:ext cx="10561320" cy="0"/>
          </a:xfrm>
          <a:prstGeom prst="line">
            <a:avLst/>
          </a:prstGeom>
          <a:noFill/>
          <a:ln w="19050">
            <a:solidFill>
              <a:srgbClr val="E7EBF0"/>
            </a:solidFill>
            <a:prstDash val="solid"/>
          </a:ln>
        </p:spPr>
      </p:sp>
      <p:sp>
        <p:nvSpPr>
          <p:cNvPr id="32" name="Shape 21"/>
          <p:cNvSpPr/>
          <p:nvPr/>
        </p:nvSpPr>
        <p:spPr>
          <a:xfrm>
            <a:off x="640080" y="2651760"/>
            <a:ext cx="10908792" cy="457200"/>
          </a:xfrm>
          <a:prstGeom prst="roundRect">
            <a:avLst>
              <a:gd name="adj" fmla="val 12000"/>
            </a:avLst>
          </a:prstGeom>
          <a:solidFill>
            <a:srgbClr val="0B1F3A"/>
          </a:solidFill>
        </p:spPr>
      </p:sp>
      <p:sp>
        <p:nvSpPr>
          <p:cNvPr id="33" name="Text 22"/>
          <p:cNvSpPr/>
          <p:nvPr/>
        </p:nvSpPr>
        <p:spPr>
          <a:xfrm>
            <a:off x="640080" y="2651760"/>
            <a:ext cx="10908792" cy="457200"/>
          </a:xfrm>
          <a:prstGeom prst="rect">
            <a:avLst/>
          </a:prstGeom>
          <a:noFill/>
        </p:spPr>
        <p:txBody>
          <a:bodyPr wrap="square" rtlCol="0" anchor="ctr"/>
          <a:lstStyle/>
          <a:p>
            <a:pPr marL="0" indent="0" algn="ctr">
              <a:buNone/>
            </a:pPr>
            <a:r>
              <a:rPr lang="en-US" sz="2400" b="1" kern="0" spc="150" dirty="0">
                <a:solidFill>
                  <a:srgbClr val="FFFFFF"/>
                </a:solidFill>
                <a:latin typeface="Arial" panose="020B0604020202020204" pitchFamily="34" charset="0"/>
                <a:ea typeface="Arial" panose="020B0604020202020204" pitchFamily="34" charset="-122"/>
                <a:cs typeface="Arial" panose="020B0604020202020204" pitchFamily="34" charset="-120"/>
              </a:rPr>
              <a:t>AUTOFLOW SRI LANKA — WEB PLATFORM</a:t>
            </a:r>
            <a:endParaRPr lang="en-US" sz="2400" dirty="0"/>
          </a:p>
        </p:txBody>
      </p:sp>
      <p:sp>
        <p:nvSpPr>
          <p:cNvPr id="34" name="Shape 23"/>
          <p:cNvSpPr/>
          <p:nvPr/>
        </p:nvSpPr>
        <p:spPr>
          <a:xfrm>
            <a:off x="640080" y="3383280"/>
            <a:ext cx="1710055" cy="1400810"/>
          </a:xfrm>
          <a:prstGeom prst="roundRect">
            <a:avLst>
              <a:gd name="adj" fmla="val 5926"/>
            </a:avLst>
          </a:prstGeom>
          <a:solidFill>
            <a:srgbClr val="EAF1FE"/>
          </a:solidFill>
          <a:ln w="12700">
            <a:solidFill>
              <a:srgbClr val="DCE7FC"/>
            </a:solidFill>
            <a:prstDash val="solid"/>
          </a:ln>
        </p:spPr>
      </p:sp>
      <p:pic>
        <p:nvPicPr>
          <p:cNvPr id="35" name="Image 9" descr="icons/car_luminex.png"/>
          <p:cNvPicPr>
            <a:picLocks noChangeAspect="1"/>
          </p:cNvPicPr>
          <p:nvPr/>
        </p:nvPicPr>
        <p:blipFill>
          <a:blip r:embed="rId8"/>
          <a:stretch>
            <a:fillRect/>
          </a:stretch>
        </p:blipFill>
        <p:spPr>
          <a:xfrm>
            <a:off x="1339596" y="3502152"/>
            <a:ext cx="310896" cy="310896"/>
          </a:xfrm>
          <a:prstGeom prst="rect">
            <a:avLst/>
          </a:prstGeom>
        </p:spPr>
      </p:pic>
      <p:sp>
        <p:nvSpPr>
          <p:cNvPr id="36" name="Text 24"/>
          <p:cNvSpPr/>
          <p:nvPr/>
        </p:nvSpPr>
        <p:spPr>
          <a:xfrm>
            <a:off x="685800" y="3867912"/>
            <a:ext cx="1618488" cy="457200"/>
          </a:xfrm>
          <a:prstGeom prst="rect">
            <a:avLst/>
          </a:prstGeom>
          <a:noFill/>
        </p:spPr>
        <p:txBody>
          <a:bodyPr wrap="square" rtlCol="0" anchor="t"/>
          <a:lstStyle/>
          <a:p>
            <a:pPr marL="0" indent="0" algn="ctr">
              <a:buNone/>
            </a:pPr>
            <a:r>
              <a:rPr lang="en-US" b="1" dirty="0">
                <a:solidFill>
                  <a:srgbClr val="0B1F3A"/>
                </a:solidFill>
                <a:latin typeface="Arial" panose="020B0604020202020204" pitchFamily="34" charset="0"/>
                <a:ea typeface="Arial" panose="020B0604020202020204" pitchFamily="34" charset="-122"/>
                <a:cs typeface="Arial" panose="020B0604020202020204" pitchFamily="34" charset="-120"/>
              </a:rPr>
              <a:t>Vehicle</a:t>
            </a:r>
            <a:endParaRPr lang="en-US" dirty="0"/>
          </a:p>
          <a:p>
            <a:pPr marL="0" indent="0" algn="ctr">
              <a:buNone/>
            </a:pPr>
            <a:r>
              <a:rPr lang="en-US" b="1" dirty="0">
                <a:solidFill>
                  <a:srgbClr val="0B1F3A"/>
                </a:solidFill>
                <a:latin typeface="Arial" panose="020B0604020202020204" pitchFamily="34" charset="0"/>
                <a:ea typeface="Arial" panose="020B0604020202020204" pitchFamily="34" charset="-122"/>
                <a:cs typeface="Arial" panose="020B0604020202020204" pitchFamily="34" charset="-120"/>
              </a:rPr>
              <a:t>Management</a:t>
            </a:r>
            <a:endParaRPr lang="en-US" dirty="0"/>
          </a:p>
        </p:txBody>
      </p:sp>
      <p:sp>
        <p:nvSpPr>
          <p:cNvPr id="37" name="Text 25"/>
          <p:cNvSpPr/>
          <p:nvPr/>
        </p:nvSpPr>
        <p:spPr>
          <a:xfrm>
            <a:off x="685800" y="4522470"/>
            <a:ext cx="1618615" cy="343535"/>
          </a:xfrm>
          <a:prstGeom prst="rect">
            <a:avLst/>
          </a:prstGeom>
          <a:noFill/>
        </p:spPr>
        <p:txBody>
          <a:bodyPr wrap="square" rtlCol="0" anchor="ctr"/>
          <a:lstStyle/>
          <a:p>
            <a:pPr marL="0" indent="0" algn="ctr">
              <a:buNone/>
            </a:pPr>
            <a:r>
              <a:rPr lang="en-US" sz="1400" b="1" dirty="0">
                <a:solidFill>
                  <a:srgbClr val="2F6FED"/>
                </a:solidFill>
                <a:latin typeface="Arial" panose="020B0604020202020204" pitchFamily="34" charset="0"/>
                <a:ea typeface="Arial" panose="020B0604020202020204" pitchFamily="34" charset="-122"/>
                <a:cs typeface="Arial" panose="020B0604020202020204" pitchFamily="34" charset="-120"/>
              </a:rPr>
              <a:t>Manathunge A.I</a:t>
            </a:r>
            <a:endParaRPr lang="en-US" sz="760" dirty="0"/>
          </a:p>
        </p:txBody>
      </p:sp>
      <p:sp>
        <p:nvSpPr>
          <p:cNvPr id="38" name="Shape 26"/>
          <p:cNvSpPr/>
          <p:nvPr/>
        </p:nvSpPr>
        <p:spPr>
          <a:xfrm>
            <a:off x="2482850" y="3383280"/>
            <a:ext cx="1710055" cy="1419225"/>
          </a:xfrm>
          <a:prstGeom prst="roundRect">
            <a:avLst>
              <a:gd name="adj" fmla="val 5926"/>
            </a:avLst>
          </a:prstGeom>
          <a:solidFill>
            <a:srgbClr val="EAF1FE"/>
          </a:solidFill>
          <a:ln w="12700">
            <a:solidFill>
              <a:srgbClr val="DCE7FC"/>
            </a:solidFill>
            <a:prstDash val="solid"/>
          </a:ln>
        </p:spPr>
      </p:sp>
      <p:pic>
        <p:nvPicPr>
          <p:cNvPr id="39" name="Image 10" descr="icons/calendarCheck_luminex.png"/>
          <p:cNvPicPr>
            <a:picLocks noChangeAspect="1"/>
          </p:cNvPicPr>
          <p:nvPr/>
        </p:nvPicPr>
        <p:blipFill>
          <a:blip r:embed="rId9"/>
          <a:stretch>
            <a:fillRect/>
          </a:stretch>
        </p:blipFill>
        <p:spPr>
          <a:xfrm>
            <a:off x="3182112" y="3502152"/>
            <a:ext cx="310896" cy="310896"/>
          </a:xfrm>
          <a:prstGeom prst="rect">
            <a:avLst/>
          </a:prstGeom>
        </p:spPr>
      </p:pic>
      <p:sp>
        <p:nvSpPr>
          <p:cNvPr id="40" name="Text 27"/>
          <p:cNvSpPr/>
          <p:nvPr/>
        </p:nvSpPr>
        <p:spPr>
          <a:xfrm>
            <a:off x="2528316" y="3867912"/>
            <a:ext cx="1618488" cy="457200"/>
          </a:xfrm>
          <a:prstGeom prst="rect">
            <a:avLst/>
          </a:prstGeom>
          <a:noFill/>
        </p:spPr>
        <p:txBody>
          <a:bodyPr wrap="square" rtlCol="0" anchor="t"/>
          <a:lstStyle/>
          <a:p>
            <a:pPr marL="0" indent="0" algn="ctr">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Service</a:t>
            </a:r>
            <a:endParaRPr lang="en-US" sz="2000" dirty="0"/>
          </a:p>
          <a:p>
            <a:pPr marL="0" indent="0" algn="ctr">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Booking</a:t>
            </a:r>
            <a:endParaRPr lang="en-US" sz="2000" dirty="0"/>
          </a:p>
        </p:txBody>
      </p:sp>
      <p:sp>
        <p:nvSpPr>
          <p:cNvPr id="41" name="Text 28"/>
          <p:cNvSpPr/>
          <p:nvPr/>
        </p:nvSpPr>
        <p:spPr>
          <a:xfrm>
            <a:off x="2528570" y="4521835"/>
            <a:ext cx="1618615" cy="344805"/>
          </a:xfrm>
          <a:prstGeom prst="rect">
            <a:avLst/>
          </a:prstGeom>
          <a:noFill/>
        </p:spPr>
        <p:txBody>
          <a:bodyPr wrap="square" rtlCol="0" anchor="ctr"/>
          <a:lstStyle/>
          <a:p>
            <a:pPr marL="0" indent="0" algn="ctr">
              <a:buNone/>
            </a:pPr>
            <a:r>
              <a:rPr lang="en-US" sz="1400" b="1" dirty="0">
                <a:solidFill>
                  <a:srgbClr val="2F6FED"/>
                </a:solidFill>
                <a:latin typeface="Arial" panose="020B0604020202020204" pitchFamily="34" charset="0"/>
                <a:ea typeface="Arial" panose="020B0604020202020204" pitchFamily="34" charset="-122"/>
                <a:cs typeface="Arial" panose="020B0604020202020204" pitchFamily="34" charset="-120"/>
              </a:rPr>
              <a:t>Ahamed M.N.A</a:t>
            </a:r>
            <a:endParaRPr lang="en-US" sz="1400" dirty="0"/>
          </a:p>
        </p:txBody>
      </p:sp>
      <p:sp>
        <p:nvSpPr>
          <p:cNvPr id="42" name="Shape 29"/>
          <p:cNvSpPr/>
          <p:nvPr/>
        </p:nvSpPr>
        <p:spPr>
          <a:xfrm>
            <a:off x="4324985" y="3383280"/>
            <a:ext cx="1710055" cy="1419225"/>
          </a:xfrm>
          <a:prstGeom prst="roundRect">
            <a:avLst>
              <a:gd name="adj" fmla="val 5926"/>
            </a:avLst>
          </a:prstGeom>
          <a:solidFill>
            <a:srgbClr val="EAF1FE"/>
          </a:solidFill>
          <a:ln w="12700">
            <a:solidFill>
              <a:srgbClr val="DCE7FC"/>
            </a:solidFill>
            <a:prstDash val="solid"/>
          </a:ln>
        </p:spPr>
      </p:sp>
      <p:pic>
        <p:nvPicPr>
          <p:cNvPr id="43" name="Image 11" descr="icons/gasPump_luminex.png"/>
          <p:cNvPicPr>
            <a:picLocks noChangeAspect="1"/>
          </p:cNvPicPr>
          <p:nvPr/>
        </p:nvPicPr>
        <p:blipFill>
          <a:blip r:embed="rId10"/>
          <a:stretch>
            <a:fillRect/>
          </a:stretch>
        </p:blipFill>
        <p:spPr>
          <a:xfrm>
            <a:off x="5024628" y="3502152"/>
            <a:ext cx="310896" cy="310896"/>
          </a:xfrm>
          <a:prstGeom prst="rect">
            <a:avLst/>
          </a:prstGeom>
        </p:spPr>
      </p:pic>
      <p:sp>
        <p:nvSpPr>
          <p:cNvPr id="44" name="Text 30"/>
          <p:cNvSpPr/>
          <p:nvPr/>
        </p:nvSpPr>
        <p:spPr>
          <a:xfrm>
            <a:off x="4370832" y="3867912"/>
            <a:ext cx="1618488" cy="457200"/>
          </a:xfrm>
          <a:prstGeom prst="rect">
            <a:avLst/>
          </a:prstGeom>
          <a:noFill/>
        </p:spPr>
        <p:txBody>
          <a:bodyPr wrap="square" rtlCol="0" anchor="t"/>
          <a:lstStyle/>
          <a:p>
            <a:pPr marL="0" indent="0" algn="ctr">
              <a:buNone/>
            </a:pPr>
            <a:r>
              <a:rPr lang="en-US" b="1" dirty="0">
                <a:solidFill>
                  <a:srgbClr val="0B1F3A"/>
                </a:solidFill>
                <a:latin typeface="Arial" panose="020B0604020202020204" pitchFamily="34" charset="0"/>
                <a:ea typeface="Arial" panose="020B0604020202020204" pitchFamily="34" charset="-122"/>
                <a:cs typeface="Arial" panose="020B0604020202020204" pitchFamily="34" charset="-120"/>
              </a:rPr>
              <a:t>Fuel</a:t>
            </a:r>
            <a:endParaRPr lang="en-US" dirty="0"/>
          </a:p>
          <a:p>
            <a:pPr marL="0" indent="0" algn="ctr">
              <a:buNone/>
            </a:pPr>
            <a:r>
              <a:rPr lang="en-US" b="1" dirty="0">
                <a:solidFill>
                  <a:srgbClr val="0B1F3A"/>
                </a:solidFill>
                <a:latin typeface="Arial" panose="020B0604020202020204" pitchFamily="34" charset="0"/>
                <a:ea typeface="Arial" panose="020B0604020202020204" pitchFamily="34" charset="-122"/>
                <a:cs typeface="Arial" panose="020B0604020202020204" pitchFamily="34" charset="-120"/>
              </a:rPr>
              <a:t>Management</a:t>
            </a:r>
            <a:endParaRPr lang="en-US" dirty="0"/>
          </a:p>
        </p:txBody>
      </p:sp>
      <p:sp>
        <p:nvSpPr>
          <p:cNvPr id="45" name="Text 31"/>
          <p:cNvSpPr/>
          <p:nvPr/>
        </p:nvSpPr>
        <p:spPr>
          <a:xfrm>
            <a:off x="4370705" y="4537710"/>
            <a:ext cx="1618615" cy="292100"/>
          </a:xfrm>
          <a:prstGeom prst="rect">
            <a:avLst/>
          </a:prstGeom>
          <a:noFill/>
        </p:spPr>
        <p:txBody>
          <a:bodyPr wrap="square" rtlCol="0" anchor="ctr"/>
          <a:lstStyle/>
          <a:p>
            <a:pPr marL="0" indent="0" algn="ctr">
              <a:buNone/>
            </a:pPr>
            <a:r>
              <a:rPr lang="en-US" sz="1400" b="1" dirty="0">
                <a:solidFill>
                  <a:srgbClr val="2F6FED"/>
                </a:solidFill>
                <a:latin typeface="Arial" panose="020B0604020202020204" pitchFamily="34" charset="0"/>
                <a:ea typeface="Arial" panose="020B0604020202020204" pitchFamily="34" charset="-122"/>
                <a:cs typeface="Arial" panose="020B0604020202020204" pitchFamily="34" charset="-120"/>
              </a:rPr>
              <a:t>Sarma S.S.L</a:t>
            </a:r>
            <a:endParaRPr lang="en-US" sz="1400" b="1" dirty="0">
              <a:solidFill>
                <a:srgbClr val="2F6FED"/>
              </a:solidFill>
              <a:latin typeface="Arial" panose="020B0604020202020204" pitchFamily="34" charset="0"/>
              <a:ea typeface="Arial" panose="020B0604020202020204" pitchFamily="34" charset="-122"/>
              <a:cs typeface="Arial" panose="020B0604020202020204" pitchFamily="34" charset="-120"/>
            </a:endParaRPr>
          </a:p>
        </p:txBody>
      </p:sp>
      <p:sp>
        <p:nvSpPr>
          <p:cNvPr id="46" name="Shape 32"/>
          <p:cNvSpPr/>
          <p:nvPr/>
        </p:nvSpPr>
        <p:spPr>
          <a:xfrm>
            <a:off x="6167755" y="3383280"/>
            <a:ext cx="1710055" cy="1419225"/>
          </a:xfrm>
          <a:prstGeom prst="roundRect">
            <a:avLst>
              <a:gd name="adj" fmla="val 5926"/>
            </a:avLst>
          </a:prstGeom>
          <a:solidFill>
            <a:srgbClr val="EAF1FE"/>
          </a:solidFill>
          <a:ln w="12700">
            <a:solidFill>
              <a:srgbClr val="DCE7FC"/>
            </a:solidFill>
            <a:prstDash val="solid"/>
          </a:ln>
        </p:spPr>
      </p:sp>
      <p:pic>
        <p:nvPicPr>
          <p:cNvPr id="47" name="Image 12" descr="icons/creditCard_luminex.png"/>
          <p:cNvPicPr>
            <a:picLocks noChangeAspect="1"/>
          </p:cNvPicPr>
          <p:nvPr/>
        </p:nvPicPr>
        <p:blipFill>
          <a:blip r:embed="rId11"/>
          <a:stretch>
            <a:fillRect/>
          </a:stretch>
        </p:blipFill>
        <p:spPr>
          <a:xfrm>
            <a:off x="6867144" y="3502152"/>
            <a:ext cx="310896" cy="310896"/>
          </a:xfrm>
          <a:prstGeom prst="rect">
            <a:avLst/>
          </a:prstGeom>
        </p:spPr>
      </p:pic>
      <p:sp>
        <p:nvSpPr>
          <p:cNvPr id="48" name="Text 33"/>
          <p:cNvSpPr/>
          <p:nvPr/>
        </p:nvSpPr>
        <p:spPr>
          <a:xfrm>
            <a:off x="6213348" y="3867912"/>
            <a:ext cx="1618488" cy="457200"/>
          </a:xfrm>
          <a:prstGeom prst="rect">
            <a:avLst/>
          </a:prstGeom>
          <a:noFill/>
        </p:spPr>
        <p:txBody>
          <a:bodyPr wrap="square" rtlCol="0" anchor="t"/>
          <a:lstStyle/>
          <a:p>
            <a:pPr marL="0" indent="0" algn="ctr">
              <a:buNone/>
            </a:pPr>
            <a:r>
              <a:rPr lang="en-US" b="1" dirty="0">
                <a:solidFill>
                  <a:srgbClr val="0B1F3A"/>
                </a:solidFill>
                <a:latin typeface="Arial" panose="020B0604020202020204" pitchFamily="34" charset="0"/>
                <a:ea typeface="Arial" panose="020B0604020202020204" pitchFamily="34" charset="-122"/>
                <a:cs typeface="Arial" panose="020B0604020202020204" pitchFamily="34" charset="-120"/>
              </a:rPr>
              <a:t>Payment</a:t>
            </a:r>
            <a:endParaRPr lang="en-US" dirty="0"/>
          </a:p>
          <a:p>
            <a:pPr marL="0" indent="0" algn="ctr">
              <a:buNone/>
            </a:pPr>
            <a:r>
              <a:rPr lang="en-US" b="1" dirty="0">
                <a:solidFill>
                  <a:srgbClr val="0B1F3A"/>
                </a:solidFill>
                <a:latin typeface="Arial" panose="020B0604020202020204" pitchFamily="34" charset="0"/>
                <a:ea typeface="Arial" panose="020B0604020202020204" pitchFamily="34" charset="-122"/>
                <a:cs typeface="Arial" panose="020B0604020202020204" pitchFamily="34" charset="-120"/>
              </a:rPr>
              <a:t>Management</a:t>
            </a:r>
            <a:endParaRPr lang="en-US" dirty="0"/>
          </a:p>
        </p:txBody>
      </p:sp>
      <p:sp>
        <p:nvSpPr>
          <p:cNvPr id="49" name="Text 34"/>
          <p:cNvSpPr/>
          <p:nvPr/>
        </p:nvSpPr>
        <p:spPr>
          <a:xfrm>
            <a:off x="6213475" y="4542155"/>
            <a:ext cx="1618615" cy="320675"/>
          </a:xfrm>
          <a:prstGeom prst="rect">
            <a:avLst/>
          </a:prstGeom>
          <a:noFill/>
        </p:spPr>
        <p:txBody>
          <a:bodyPr wrap="square" rtlCol="0" anchor="ctr"/>
          <a:lstStyle/>
          <a:p>
            <a:pPr marL="0" indent="0" algn="ctr">
              <a:buNone/>
            </a:pPr>
            <a:r>
              <a:rPr lang="en-US" sz="1400" b="1" dirty="0">
                <a:solidFill>
                  <a:srgbClr val="2F6FED"/>
                </a:solidFill>
                <a:latin typeface="Arial" panose="020B0604020202020204" pitchFamily="34" charset="0"/>
                <a:ea typeface="Arial" panose="020B0604020202020204" pitchFamily="34" charset="-122"/>
                <a:cs typeface="Arial" panose="020B0604020202020204" pitchFamily="34" charset="-120"/>
              </a:rPr>
              <a:t>Nayanajith K.A.T</a:t>
            </a:r>
            <a:endParaRPr lang="en-US" sz="1400" b="1" dirty="0">
              <a:solidFill>
                <a:srgbClr val="2F6FED"/>
              </a:solidFill>
              <a:latin typeface="Arial" panose="020B0604020202020204" pitchFamily="34" charset="0"/>
              <a:ea typeface="Arial" panose="020B0604020202020204" pitchFamily="34" charset="-122"/>
              <a:cs typeface="Arial" panose="020B0604020202020204" pitchFamily="34" charset="-120"/>
            </a:endParaRPr>
          </a:p>
        </p:txBody>
      </p:sp>
      <p:sp>
        <p:nvSpPr>
          <p:cNvPr id="50" name="Shape 35"/>
          <p:cNvSpPr/>
          <p:nvPr/>
        </p:nvSpPr>
        <p:spPr>
          <a:xfrm>
            <a:off x="8009890" y="3383280"/>
            <a:ext cx="1710055" cy="1419225"/>
          </a:xfrm>
          <a:prstGeom prst="roundRect">
            <a:avLst>
              <a:gd name="adj" fmla="val 5926"/>
            </a:avLst>
          </a:prstGeom>
          <a:solidFill>
            <a:srgbClr val="EAF1FE"/>
          </a:solidFill>
          <a:ln w="12700">
            <a:solidFill>
              <a:srgbClr val="DCE7FC"/>
            </a:solidFill>
            <a:prstDash val="solid"/>
          </a:ln>
        </p:spPr>
      </p:sp>
      <p:pic>
        <p:nvPicPr>
          <p:cNvPr id="51" name="Image 13" descr="icons/bell_luminex.png"/>
          <p:cNvPicPr>
            <a:picLocks noChangeAspect="1"/>
          </p:cNvPicPr>
          <p:nvPr/>
        </p:nvPicPr>
        <p:blipFill>
          <a:blip r:embed="rId12"/>
          <a:stretch>
            <a:fillRect/>
          </a:stretch>
        </p:blipFill>
        <p:spPr>
          <a:xfrm>
            <a:off x="8709660" y="3502152"/>
            <a:ext cx="310896" cy="310896"/>
          </a:xfrm>
          <a:prstGeom prst="rect">
            <a:avLst/>
          </a:prstGeom>
        </p:spPr>
      </p:pic>
      <p:sp>
        <p:nvSpPr>
          <p:cNvPr id="52" name="Text 36"/>
          <p:cNvSpPr/>
          <p:nvPr/>
        </p:nvSpPr>
        <p:spPr>
          <a:xfrm>
            <a:off x="8055864" y="3867912"/>
            <a:ext cx="1618488" cy="457200"/>
          </a:xfrm>
          <a:prstGeom prst="rect">
            <a:avLst/>
          </a:prstGeom>
          <a:noFill/>
        </p:spPr>
        <p:txBody>
          <a:bodyPr wrap="square" rtlCol="0" anchor="t"/>
          <a:lstStyle/>
          <a:p>
            <a:pPr marL="0" indent="0" algn="ctr">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Notification</a:t>
            </a:r>
            <a:endParaRPr lang="en-US" sz="1600" dirty="0"/>
          </a:p>
          <a:p>
            <a:pPr marL="0" indent="0" algn="ctr">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Management</a:t>
            </a:r>
            <a:endParaRPr lang="en-US" sz="1600" dirty="0"/>
          </a:p>
        </p:txBody>
      </p:sp>
      <p:sp>
        <p:nvSpPr>
          <p:cNvPr id="53" name="Text 37"/>
          <p:cNvSpPr/>
          <p:nvPr/>
        </p:nvSpPr>
        <p:spPr>
          <a:xfrm>
            <a:off x="8055610" y="4325620"/>
            <a:ext cx="1618615" cy="527050"/>
          </a:xfrm>
          <a:prstGeom prst="rect">
            <a:avLst/>
          </a:prstGeom>
          <a:noFill/>
        </p:spPr>
        <p:txBody>
          <a:bodyPr wrap="square" rtlCol="0" anchor="ctr"/>
          <a:lstStyle/>
          <a:p>
            <a:pPr marL="0" indent="0" algn="ctr">
              <a:buNone/>
            </a:pPr>
            <a:r>
              <a:rPr lang="en-US" sz="1400" b="1" dirty="0">
                <a:solidFill>
                  <a:srgbClr val="2F6FED"/>
                </a:solidFill>
                <a:latin typeface="Arial" panose="020B0604020202020204" pitchFamily="34" charset="0"/>
                <a:ea typeface="Arial" panose="020B0604020202020204" pitchFamily="34" charset="-122"/>
                <a:cs typeface="Arial" panose="020B0604020202020204" pitchFamily="34" charset="-120"/>
              </a:rPr>
              <a:t>Herath H.M.A.R.B</a:t>
            </a:r>
            <a:endParaRPr lang="en-US" sz="1400" dirty="0"/>
          </a:p>
        </p:txBody>
      </p:sp>
      <p:sp>
        <p:nvSpPr>
          <p:cNvPr id="54" name="Shape 38"/>
          <p:cNvSpPr/>
          <p:nvPr/>
        </p:nvSpPr>
        <p:spPr>
          <a:xfrm>
            <a:off x="10008235" y="3335655"/>
            <a:ext cx="1710055" cy="1419225"/>
          </a:xfrm>
          <a:prstGeom prst="roundRect">
            <a:avLst>
              <a:gd name="adj" fmla="val 5926"/>
            </a:avLst>
          </a:prstGeom>
          <a:solidFill>
            <a:srgbClr val="EAF1FE"/>
          </a:solidFill>
          <a:ln w="12700">
            <a:solidFill>
              <a:srgbClr val="DCE7FC"/>
            </a:solidFill>
            <a:prstDash val="solid"/>
          </a:ln>
        </p:spPr>
        <p:txBody>
          <a:bodyPr/>
          <a:p>
            <a:endParaRPr lang="en-US"/>
          </a:p>
        </p:txBody>
      </p:sp>
      <p:pic>
        <p:nvPicPr>
          <p:cNvPr id="55" name="Image 14" descr="icons/users_luminex.png"/>
          <p:cNvPicPr>
            <a:picLocks noChangeAspect="1"/>
          </p:cNvPicPr>
          <p:nvPr/>
        </p:nvPicPr>
        <p:blipFill>
          <a:blip r:embed="rId13"/>
          <a:stretch>
            <a:fillRect/>
          </a:stretch>
        </p:blipFill>
        <p:spPr>
          <a:xfrm>
            <a:off x="10552176" y="3502152"/>
            <a:ext cx="310896" cy="310896"/>
          </a:xfrm>
          <a:prstGeom prst="rect">
            <a:avLst/>
          </a:prstGeom>
        </p:spPr>
      </p:pic>
      <p:sp>
        <p:nvSpPr>
          <p:cNvPr id="56" name="Text 39"/>
          <p:cNvSpPr/>
          <p:nvPr/>
        </p:nvSpPr>
        <p:spPr>
          <a:xfrm>
            <a:off x="9898380" y="3867912"/>
            <a:ext cx="1618488" cy="457200"/>
          </a:xfrm>
          <a:prstGeom prst="rect">
            <a:avLst/>
          </a:prstGeom>
          <a:noFill/>
        </p:spPr>
        <p:txBody>
          <a:bodyPr wrap="square" rtlCol="0" anchor="t"/>
          <a:lstStyle/>
          <a:p>
            <a:pPr marL="0" indent="0" algn="ctr">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User</a:t>
            </a:r>
            <a:endParaRPr lang="en-US" sz="1600" dirty="0"/>
          </a:p>
          <a:p>
            <a:pPr marL="0" indent="0" algn="ctr">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Management</a:t>
            </a:r>
            <a:endParaRPr lang="en-US" sz="1600" dirty="0"/>
          </a:p>
        </p:txBody>
      </p:sp>
      <p:sp>
        <p:nvSpPr>
          <p:cNvPr id="57" name="Text 40"/>
          <p:cNvSpPr/>
          <p:nvPr/>
        </p:nvSpPr>
        <p:spPr>
          <a:xfrm>
            <a:off x="9898380" y="4324985"/>
            <a:ext cx="1618615" cy="541655"/>
          </a:xfrm>
          <a:prstGeom prst="rect">
            <a:avLst/>
          </a:prstGeom>
          <a:noFill/>
        </p:spPr>
        <p:txBody>
          <a:bodyPr wrap="square" rtlCol="0" anchor="ctr"/>
          <a:lstStyle/>
          <a:p>
            <a:pPr marL="0" indent="0" algn="ctr">
              <a:buNone/>
            </a:pPr>
            <a:r>
              <a:rPr lang="en-US" sz="1400" b="1" dirty="0">
                <a:solidFill>
                  <a:srgbClr val="2F6FED"/>
                </a:solidFill>
                <a:latin typeface="Arial" panose="020B0604020202020204" pitchFamily="34" charset="0"/>
                <a:ea typeface="Arial" panose="020B0604020202020204" pitchFamily="34" charset="-122"/>
                <a:cs typeface="Arial" panose="020B0604020202020204" pitchFamily="34" charset="-120"/>
              </a:rPr>
              <a:t>Liyanage D.D.S</a:t>
            </a:r>
            <a:endParaRPr lang="en-US" sz="1400" dirty="0"/>
          </a:p>
        </p:txBody>
      </p:sp>
      <p:sp>
        <p:nvSpPr>
          <p:cNvPr id="58" name="Shape 41"/>
          <p:cNvSpPr/>
          <p:nvPr/>
        </p:nvSpPr>
        <p:spPr>
          <a:xfrm>
            <a:off x="6094476" y="4754880"/>
            <a:ext cx="0" cy="201168"/>
          </a:xfrm>
          <a:prstGeom prst="line">
            <a:avLst/>
          </a:prstGeom>
          <a:noFill/>
          <a:ln w="19050">
            <a:solidFill>
              <a:srgbClr val="E7EBF0"/>
            </a:solidFill>
            <a:prstDash val="solid"/>
          </a:ln>
        </p:spPr>
      </p:sp>
      <p:sp>
        <p:nvSpPr>
          <p:cNvPr id="59" name="Text 42"/>
          <p:cNvSpPr/>
          <p:nvPr/>
        </p:nvSpPr>
        <p:spPr>
          <a:xfrm>
            <a:off x="640080" y="5074920"/>
            <a:ext cx="3657600" cy="274320"/>
          </a:xfrm>
          <a:prstGeom prst="rect">
            <a:avLst/>
          </a:prstGeom>
          <a:noFill/>
        </p:spPr>
        <p:txBody>
          <a:bodyPr wrap="square" rtlCol="0" anchor="ctr"/>
          <a:lstStyle/>
          <a:p>
            <a:pPr marL="0" indent="0">
              <a:buNone/>
            </a:pPr>
            <a:r>
              <a:rPr lang="en-US" b="1" kern="0" spc="150" dirty="0">
                <a:solidFill>
                  <a:srgbClr val="6B7684"/>
                </a:solidFill>
                <a:latin typeface="Arial" panose="020B0604020202020204" pitchFamily="34" charset="0"/>
                <a:ea typeface="Arial" panose="020B0604020202020204" pitchFamily="34" charset="-122"/>
                <a:cs typeface="Arial" panose="020B0604020202020204" pitchFamily="34" charset="-120"/>
              </a:rPr>
              <a:t>EXTERNAL INTEGRATIONS</a:t>
            </a:r>
            <a:endParaRPr lang="en-US" dirty="0"/>
          </a:p>
        </p:txBody>
      </p:sp>
      <p:sp>
        <p:nvSpPr>
          <p:cNvPr id="60" name="Shape 43"/>
          <p:cNvSpPr/>
          <p:nvPr/>
        </p:nvSpPr>
        <p:spPr>
          <a:xfrm>
            <a:off x="640080" y="5376545"/>
            <a:ext cx="2606040" cy="1040765"/>
          </a:xfrm>
          <a:prstGeom prst="roundRect">
            <a:avLst>
              <a:gd name="adj" fmla="val 11111"/>
            </a:avLst>
          </a:prstGeom>
          <a:solidFill>
            <a:srgbClr val="FFFFFF"/>
          </a:solidFill>
          <a:ln w="15875">
            <a:solidFill>
              <a:srgbClr val="E7EBF0"/>
            </a:solidFill>
            <a:prstDash val="solid"/>
          </a:ln>
        </p:spPr>
      </p:sp>
      <p:pic>
        <p:nvPicPr>
          <p:cNvPr id="61" name="Image 15" descr="icons/university_navy.png"/>
          <p:cNvPicPr>
            <a:picLocks noChangeAspect="1"/>
          </p:cNvPicPr>
          <p:nvPr/>
        </p:nvPicPr>
        <p:blipFill>
          <a:blip r:embed="rId14"/>
          <a:stretch>
            <a:fillRect/>
          </a:stretch>
        </p:blipFill>
        <p:spPr>
          <a:xfrm>
            <a:off x="804672" y="5559552"/>
            <a:ext cx="292608" cy="292608"/>
          </a:xfrm>
          <a:prstGeom prst="rect">
            <a:avLst/>
          </a:prstGeom>
        </p:spPr>
      </p:pic>
      <p:sp>
        <p:nvSpPr>
          <p:cNvPr id="62" name="Text 44"/>
          <p:cNvSpPr/>
          <p:nvPr/>
        </p:nvSpPr>
        <p:spPr>
          <a:xfrm>
            <a:off x="1188720" y="5376545"/>
            <a:ext cx="1965960" cy="980440"/>
          </a:xfrm>
          <a:prstGeom prst="rect">
            <a:avLst/>
          </a:prstGeom>
          <a:noFill/>
        </p:spPr>
        <p:txBody>
          <a:bodyPr wrap="square" rtlCol="0" anchor="ctr"/>
          <a:lstStyle/>
          <a:p>
            <a:pPr marL="0" indent="0">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Payment Gateway / Bank</a:t>
            </a:r>
            <a:endParaRPr lang="en-US" sz="1600" dirty="0"/>
          </a:p>
        </p:txBody>
      </p:sp>
      <p:sp>
        <p:nvSpPr>
          <p:cNvPr id="63" name="Shape 45"/>
          <p:cNvSpPr/>
          <p:nvPr/>
        </p:nvSpPr>
        <p:spPr>
          <a:xfrm>
            <a:off x="3420110" y="5376545"/>
            <a:ext cx="2606040" cy="1029335"/>
          </a:xfrm>
          <a:prstGeom prst="roundRect">
            <a:avLst>
              <a:gd name="adj" fmla="val 11111"/>
            </a:avLst>
          </a:prstGeom>
          <a:solidFill>
            <a:srgbClr val="FFFFFF"/>
          </a:solidFill>
          <a:ln w="15875">
            <a:solidFill>
              <a:srgbClr val="E7EBF0"/>
            </a:solidFill>
            <a:prstDash val="solid"/>
          </a:ln>
        </p:spPr>
      </p:sp>
      <p:pic>
        <p:nvPicPr>
          <p:cNvPr id="64" name="Image 16" descr="icons/sms_navy.png"/>
          <p:cNvPicPr>
            <a:picLocks noChangeAspect="1"/>
          </p:cNvPicPr>
          <p:nvPr/>
        </p:nvPicPr>
        <p:blipFill>
          <a:blip r:embed="rId15"/>
          <a:stretch>
            <a:fillRect/>
          </a:stretch>
        </p:blipFill>
        <p:spPr>
          <a:xfrm>
            <a:off x="3584448" y="5559552"/>
            <a:ext cx="292608" cy="292608"/>
          </a:xfrm>
          <a:prstGeom prst="rect">
            <a:avLst/>
          </a:prstGeom>
        </p:spPr>
      </p:pic>
      <p:sp>
        <p:nvSpPr>
          <p:cNvPr id="65" name="Text 46"/>
          <p:cNvSpPr/>
          <p:nvPr/>
        </p:nvSpPr>
        <p:spPr>
          <a:xfrm>
            <a:off x="3968750" y="5376545"/>
            <a:ext cx="1965960" cy="962660"/>
          </a:xfrm>
          <a:prstGeom prst="rect">
            <a:avLst/>
          </a:prstGeom>
          <a:noFill/>
        </p:spPr>
        <p:txBody>
          <a:bodyPr wrap="square" rtlCol="0" anchor="ctr"/>
          <a:lstStyle/>
          <a:p>
            <a:pPr marL="0" indent="0">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SMS / Email Service</a:t>
            </a:r>
            <a:endPar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endParaRPr>
          </a:p>
        </p:txBody>
      </p:sp>
      <p:sp>
        <p:nvSpPr>
          <p:cNvPr id="66" name="Shape 47"/>
          <p:cNvSpPr/>
          <p:nvPr/>
        </p:nvSpPr>
        <p:spPr>
          <a:xfrm>
            <a:off x="6167755" y="5338445"/>
            <a:ext cx="2606040" cy="1018540"/>
          </a:xfrm>
          <a:prstGeom prst="roundRect">
            <a:avLst>
              <a:gd name="adj" fmla="val 11111"/>
            </a:avLst>
          </a:prstGeom>
          <a:solidFill>
            <a:srgbClr val="FFFFFF"/>
          </a:solidFill>
          <a:ln w="15875">
            <a:solidFill>
              <a:srgbClr val="E7EBF0"/>
            </a:solidFill>
            <a:prstDash val="solid"/>
          </a:ln>
        </p:spPr>
      </p:sp>
      <p:pic>
        <p:nvPicPr>
          <p:cNvPr id="67" name="Image 17" descr="icons/wrench_navy.png"/>
          <p:cNvPicPr>
            <a:picLocks noChangeAspect="1"/>
          </p:cNvPicPr>
          <p:nvPr/>
        </p:nvPicPr>
        <p:blipFill>
          <a:blip r:embed="rId16"/>
          <a:stretch>
            <a:fillRect/>
          </a:stretch>
        </p:blipFill>
        <p:spPr>
          <a:xfrm>
            <a:off x="6364224" y="5559552"/>
            <a:ext cx="292608" cy="292608"/>
          </a:xfrm>
          <a:prstGeom prst="rect">
            <a:avLst/>
          </a:prstGeom>
        </p:spPr>
      </p:pic>
      <p:sp>
        <p:nvSpPr>
          <p:cNvPr id="68" name="Text 48"/>
          <p:cNvSpPr/>
          <p:nvPr/>
        </p:nvSpPr>
        <p:spPr>
          <a:xfrm>
            <a:off x="6748145" y="5376545"/>
            <a:ext cx="1965960" cy="962660"/>
          </a:xfrm>
          <a:prstGeom prst="rect">
            <a:avLst/>
          </a:prstGeom>
          <a:noFill/>
        </p:spPr>
        <p:txBody>
          <a:bodyPr wrap="square" rtlCol="0" anchor="ctr"/>
          <a:lstStyle/>
          <a:p>
            <a:pPr marL="0" indent="0">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Workshop Systems</a:t>
            </a:r>
            <a:endParaRPr lang="en-US" sz="1600" dirty="0"/>
          </a:p>
        </p:txBody>
      </p:sp>
      <p:sp>
        <p:nvSpPr>
          <p:cNvPr id="69" name="Shape 49"/>
          <p:cNvSpPr/>
          <p:nvPr/>
        </p:nvSpPr>
        <p:spPr>
          <a:xfrm>
            <a:off x="8979535" y="5376545"/>
            <a:ext cx="2606040" cy="1013460"/>
          </a:xfrm>
          <a:prstGeom prst="roundRect">
            <a:avLst>
              <a:gd name="adj" fmla="val 11111"/>
            </a:avLst>
          </a:prstGeom>
          <a:solidFill>
            <a:srgbClr val="FFFFFF"/>
          </a:solidFill>
          <a:ln w="15875">
            <a:solidFill>
              <a:srgbClr val="E7EBF0"/>
            </a:solidFill>
            <a:prstDash val="solid"/>
          </a:ln>
        </p:spPr>
      </p:sp>
      <p:pic>
        <p:nvPicPr>
          <p:cNvPr id="70" name="Image 18" descr="icons/gasPump_navy.png"/>
          <p:cNvPicPr>
            <a:picLocks noChangeAspect="1"/>
          </p:cNvPicPr>
          <p:nvPr/>
        </p:nvPicPr>
        <p:blipFill>
          <a:blip r:embed="rId5"/>
          <a:stretch>
            <a:fillRect/>
          </a:stretch>
        </p:blipFill>
        <p:spPr>
          <a:xfrm>
            <a:off x="9144000" y="5559552"/>
            <a:ext cx="292608" cy="292608"/>
          </a:xfrm>
          <a:prstGeom prst="rect">
            <a:avLst/>
          </a:prstGeom>
        </p:spPr>
      </p:pic>
      <p:sp>
        <p:nvSpPr>
          <p:cNvPr id="71" name="Text 50"/>
          <p:cNvSpPr/>
          <p:nvPr/>
        </p:nvSpPr>
        <p:spPr>
          <a:xfrm>
            <a:off x="9528175" y="5376545"/>
            <a:ext cx="1965960" cy="1013460"/>
          </a:xfrm>
          <a:prstGeom prst="rect">
            <a:avLst/>
          </a:prstGeom>
          <a:noFill/>
        </p:spPr>
        <p:txBody>
          <a:bodyPr wrap="square" rtlCol="0" anchor="ctr"/>
          <a:lstStyle/>
          <a:p>
            <a:pPr marL="0" indent="0">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Fuel-Station Systems</a:t>
            </a:r>
            <a:endParaRPr lang="en-US" sz="1600" dirty="0"/>
          </a:p>
        </p:txBody>
      </p:sp>
      <p:sp>
        <p:nvSpPr>
          <p:cNvPr id="72" name="Text 51"/>
          <p:cNvSpPr/>
          <p:nvPr/>
        </p:nvSpPr>
        <p:spPr>
          <a:xfrm>
            <a:off x="11503152" y="6400800"/>
            <a:ext cx="457200" cy="274320"/>
          </a:xfrm>
          <a:prstGeom prst="rect">
            <a:avLst/>
          </a:prstGeom>
          <a:noFill/>
        </p:spPr>
        <p:txBody>
          <a:bodyPr wrap="square" rtlCol="0" anchor="ctr"/>
          <a:lstStyle/>
          <a:p>
            <a:pPr marL="0" indent="0" algn="r">
              <a:buNone/>
            </a:pPr>
            <a:r>
              <a:rPr lang="en-US" sz="900" dirty="0">
                <a:solidFill>
                  <a:srgbClr val="6B7684"/>
                </a:solidFill>
                <a:latin typeface="Arial" panose="020B0604020202020204" pitchFamily="34" charset="0"/>
                <a:ea typeface="Arial" panose="020B0604020202020204" pitchFamily="34" charset="-122"/>
                <a:cs typeface="Arial" panose="020B0604020202020204"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0" cy="274320"/>
          </a:xfrm>
          <a:prstGeom prst="rect">
            <a:avLst/>
          </a:prstGeom>
          <a:noFill/>
        </p:spPr>
        <p:txBody>
          <a:bodyPr wrap="square" rtlCol="0" anchor="ctr"/>
          <a:lstStyle/>
          <a:p>
            <a:pPr marL="0" indent="0">
              <a:buNone/>
            </a:pPr>
            <a:r>
              <a:rPr lang="en-US" sz="1200" b="1" kern="0" spc="200" dirty="0">
                <a:solidFill>
                  <a:srgbClr val="2F6FED"/>
                </a:solidFill>
                <a:latin typeface="Arial" panose="020B0604020202020204" pitchFamily="34" charset="0"/>
                <a:ea typeface="Arial" panose="020B0604020202020204" pitchFamily="34" charset="-122"/>
                <a:cs typeface="Arial" panose="020B0604020202020204" pitchFamily="34" charset="-120"/>
              </a:rPr>
              <a:t>REQUIREMENTS</a:t>
            </a:r>
            <a:endParaRPr lang="en-US" sz="1200" dirty="0"/>
          </a:p>
        </p:txBody>
      </p:sp>
      <p:sp>
        <p:nvSpPr>
          <p:cNvPr id="3" name="Text 1"/>
          <p:cNvSpPr/>
          <p:nvPr/>
        </p:nvSpPr>
        <p:spPr>
          <a:xfrm>
            <a:off x="640080" y="685800"/>
            <a:ext cx="10515600" cy="640080"/>
          </a:xfrm>
          <a:prstGeom prst="rect">
            <a:avLst/>
          </a:prstGeom>
          <a:noFill/>
        </p:spPr>
        <p:txBody>
          <a:bodyPr wrap="square" rtlCol="0" anchor="ctr"/>
          <a:lstStyle/>
          <a:p>
            <a:pPr marL="0" indent="0">
              <a:buNone/>
            </a:pPr>
            <a:r>
              <a:rPr lang="en-US" sz="3600" b="1" dirty="0">
                <a:solidFill>
                  <a:srgbClr val="0B1F3A"/>
                </a:solidFill>
                <a:latin typeface="Arial" panose="020B0604020202020204" pitchFamily="34" charset="0"/>
                <a:ea typeface="Arial" panose="020B0604020202020204" pitchFamily="34" charset="-122"/>
                <a:cs typeface="Arial" panose="020B0604020202020204" pitchFamily="34" charset="-120"/>
              </a:rPr>
              <a:t>Key Functional Requirements</a:t>
            </a:r>
            <a:endParaRPr lang="en-US" sz="3600" dirty="0"/>
          </a:p>
        </p:txBody>
      </p:sp>
      <p:sp>
        <p:nvSpPr>
          <p:cNvPr id="4" name="Shape 2"/>
          <p:cNvSpPr/>
          <p:nvPr/>
        </p:nvSpPr>
        <p:spPr>
          <a:xfrm>
            <a:off x="640080" y="1417320"/>
            <a:ext cx="3502152" cy="1207008"/>
          </a:xfrm>
          <a:prstGeom prst="roundRect">
            <a:avLst>
              <a:gd name="adj" fmla="val 5303"/>
            </a:avLst>
          </a:prstGeom>
          <a:solidFill>
            <a:srgbClr val="F2F4F7"/>
          </a:solidFill>
        </p:spPr>
      </p:sp>
      <p:sp>
        <p:nvSpPr>
          <p:cNvPr id="5" name="Shape 3"/>
          <p:cNvSpPr/>
          <p:nvPr/>
        </p:nvSpPr>
        <p:spPr>
          <a:xfrm>
            <a:off x="804672" y="1581912"/>
            <a:ext cx="457200" cy="457200"/>
          </a:xfrm>
          <a:prstGeom prst="ellipse">
            <a:avLst/>
          </a:prstGeom>
          <a:solidFill>
            <a:srgbClr val="0B1F3A"/>
          </a:solidFill>
        </p:spPr>
      </p:sp>
      <p:pic>
        <p:nvPicPr>
          <p:cNvPr id="6" name="Image 0" descr="icons/car_white.png"/>
          <p:cNvPicPr>
            <a:picLocks noChangeAspect="1"/>
          </p:cNvPicPr>
          <p:nvPr/>
        </p:nvPicPr>
        <p:blipFill>
          <a:blip r:embed="rId1"/>
          <a:stretch>
            <a:fillRect/>
          </a:stretch>
        </p:blipFill>
        <p:spPr>
          <a:xfrm>
            <a:off x="928116" y="1705356"/>
            <a:ext cx="210312" cy="210312"/>
          </a:xfrm>
          <a:prstGeom prst="rect">
            <a:avLst/>
          </a:prstGeom>
        </p:spPr>
      </p:pic>
      <p:sp>
        <p:nvSpPr>
          <p:cNvPr id="7" name="Text 4"/>
          <p:cNvSpPr/>
          <p:nvPr/>
        </p:nvSpPr>
        <p:spPr>
          <a:xfrm>
            <a:off x="1417320" y="1508760"/>
            <a:ext cx="2587752" cy="256032"/>
          </a:xfrm>
          <a:prstGeom prst="rect">
            <a:avLst/>
          </a:prstGeom>
          <a:noFill/>
        </p:spPr>
        <p:txBody>
          <a:bodyPr wrap="square" rtlCol="0" anchor="ctr"/>
          <a:lstStyle/>
          <a:p>
            <a:pPr marL="0" indent="0">
              <a:buNone/>
            </a:pPr>
            <a:r>
              <a:rPr lang="en-US" b="1" dirty="0">
                <a:solidFill>
                  <a:srgbClr val="0B1F3A"/>
                </a:solidFill>
                <a:latin typeface="Arial" panose="020B0604020202020204" pitchFamily="34" charset="0"/>
                <a:ea typeface="Arial" panose="020B0604020202020204" pitchFamily="34" charset="-122"/>
                <a:cs typeface="Arial" panose="020B0604020202020204" pitchFamily="34" charset="-120"/>
              </a:rPr>
              <a:t>Vehicle Management</a:t>
            </a:r>
            <a:endParaRPr lang="en-US" b="1" dirty="0">
              <a:solidFill>
                <a:srgbClr val="0B1F3A"/>
              </a:solidFill>
              <a:latin typeface="Arial" panose="020B0604020202020204" pitchFamily="34" charset="0"/>
              <a:ea typeface="Arial" panose="020B0604020202020204" pitchFamily="34" charset="-122"/>
              <a:cs typeface="Arial" panose="020B0604020202020204" pitchFamily="34" charset="-120"/>
            </a:endParaRPr>
          </a:p>
        </p:txBody>
      </p:sp>
      <p:sp>
        <p:nvSpPr>
          <p:cNvPr id="8" name="Text 5"/>
          <p:cNvSpPr/>
          <p:nvPr/>
        </p:nvSpPr>
        <p:spPr>
          <a:xfrm>
            <a:off x="1417320" y="1783080"/>
            <a:ext cx="2587752" cy="182880"/>
          </a:xfrm>
          <a:prstGeom prst="rect">
            <a:avLst/>
          </a:prstGeom>
          <a:noFill/>
        </p:spPr>
        <p:txBody>
          <a:bodyPr wrap="square" rtlCol="0" anchor="ctr"/>
          <a:lstStyle/>
          <a:p>
            <a:pPr marL="0" indent="0">
              <a:buNone/>
            </a:pPr>
            <a:r>
              <a:rPr lang="en-US" sz="800" b="1" dirty="0">
                <a:solidFill>
                  <a:srgbClr val="2F6FED"/>
                </a:solidFill>
                <a:latin typeface="Arial" panose="020B0604020202020204" pitchFamily="34" charset="0"/>
                <a:ea typeface="Arial" panose="020B0604020202020204" pitchFamily="34" charset="-122"/>
                <a:cs typeface="Arial" panose="020B0604020202020204" pitchFamily="34" charset="-120"/>
              </a:rPr>
              <a:t>Manathunge A.I</a:t>
            </a:r>
            <a:endParaRPr lang="en-US" sz="800" dirty="0"/>
          </a:p>
        </p:txBody>
      </p:sp>
      <p:sp>
        <p:nvSpPr>
          <p:cNvPr id="9" name="Text 6"/>
          <p:cNvSpPr/>
          <p:nvPr/>
        </p:nvSpPr>
        <p:spPr>
          <a:xfrm>
            <a:off x="804672" y="2039112"/>
            <a:ext cx="3172968" cy="512064"/>
          </a:xfrm>
          <a:prstGeom prst="rect">
            <a:avLst/>
          </a:prstGeom>
          <a:noFill/>
        </p:spPr>
        <p:txBody>
          <a:bodyPr wrap="square" rtlCol="0" anchor="t"/>
          <a:lstStyle/>
          <a:p>
            <a:pPr marL="0" indent="0">
              <a:lnSpc>
                <a:spcPct val="110000"/>
              </a:lnSpc>
              <a:buNone/>
            </a:pPr>
            <a:r>
              <a:rPr lang="en-US" sz="1200" dirty="0">
                <a:solidFill>
                  <a:srgbClr val="4A5563"/>
                </a:solidFill>
                <a:latin typeface="Arial" panose="020B0604020202020204" pitchFamily="34" charset="0"/>
                <a:ea typeface="Arial" panose="020B0604020202020204" pitchFamily="34" charset="-122"/>
                <a:cs typeface="Arial" panose="020B0604020202020204" pitchFamily="34" charset="-120"/>
              </a:rPr>
              <a:t>Registration, ownership, insurance/service status, mileage, and full vehicle history.</a:t>
            </a:r>
            <a:endParaRPr lang="en-US" sz="1200" dirty="0"/>
          </a:p>
        </p:txBody>
      </p:sp>
      <p:sp>
        <p:nvSpPr>
          <p:cNvPr id="10" name="Shape 7"/>
          <p:cNvSpPr/>
          <p:nvPr/>
        </p:nvSpPr>
        <p:spPr>
          <a:xfrm>
            <a:off x="4315968" y="1417320"/>
            <a:ext cx="3502152" cy="1207008"/>
          </a:xfrm>
          <a:prstGeom prst="roundRect">
            <a:avLst>
              <a:gd name="adj" fmla="val 5303"/>
            </a:avLst>
          </a:prstGeom>
          <a:solidFill>
            <a:srgbClr val="F2F4F7"/>
          </a:solidFill>
        </p:spPr>
      </p:sp>
      <p:sp>
        <p:nvSpPr>
          <p:cNvPr id="11" name="Shape 8"/>
          <p:cNvSpPr/>
          <p:nvPr/>
        </p:nvSpPr>
        <p:spPr>
          <a:xfrm>
            <a:off x="4480560" y="1581912"/>
            <a:ext cx="457200" cy="457200"/>
          </a:xfrm>
          <a:prstGeom prst="ellipse">
            <a:avLst/>
          </a:prstGeom>
          <a:solidFill>
            <a:srgbClr val="0B1F3A"/>
          </a:solidFill>
        </p:spPr>
      </p:sp>
      <p:pic>
        <p:nvPicPr>
          <p:cNvPr id="12" name="Image 1" descr="icons/calendarCheck_white.png"/>
          <p:cNvPicPr>
            <a:picLocks noChangeAspect="1"/>
          </p:cNvPicPr>
          <p:nvPr/>
        </p:nvPicPr>
        <p:blipFill>
          <a:blip r:embed="rId2"/>
          <a:stretch>
            <a:fillRect/>
          </a:stretch>
        </p:blipFill>
        <p:spPr>
          <a:xfrm>
            <a:off x="4604004" y="1705356"/>
            <a:ext cx="210312" cy="210312"/>
          </a:xfrm>
          <a:prstGeom prst="rect">
            <a:avLst/>
          </a:prstGeom>
        </p:spPr>
      </p:pic>
      <p:sp>
        <p:nvSpPr>
          <p:cNvPr id="13" name="Text 9"/>
          <p:cNvSpPr/>
          <p:nvPr/>
        </p:nvSpPr>
        <p:spPr>
          <a:xfrm>
            <a:off x="5093208" y="1508760"/>
            <a:ext cx="2587752" cy="256032"/>
          </a:xfrm>
          <a:prstGeom prst="rect">
            <a:avLst/>
          </a:prstGeom>
          <a:noFill/>
        </p:spPr>
        <p:txBody>
          <a:bodyPr wrap="square" rtlCol="0" anchor="ctr"/>
          <a:lstStyle/>
          <a:p>
            <a:pPr marL="0" indent="0">
              <a:buNone/>
            </a:pPr>
            <a:r>
              <a:rPr lang="en-US" b="1" dirty="0">
                <a:solidFill>
                  <a:srgbClr val="0B1F3A"/>
                </a:solidFill>
                <a:latin typeface="Arial" panose="020B0604020202020204" pitchFamily="34" charset="0"/>
                <a:ea typeface="Arial" panose="020B0604020202020204" pitchFamily="34" charset="-122"/>
                <a:cs typeface="Arial" panose="020B0604020202020204" pitchFamily="34" charset="-120"/>
              </a:rPr>
              <a:t>Service Booking</a:t>
            </a:r>
            <a:endParaRPr lang="en-US" dirty="0"/>
          </a:p>
        </p:txBody>
      </p:sp>
      <p:sp>
        <p:nvSpPr>
          <p:cNvPr id="14" name="Text 10"/>
          <p:cNvSpPr/>
          <p:nvPr/>
        </p:nvSpPr>
        <p:spPr>
          <a:xfrm>
            <a:off x="5093208" y="1783080"/>
            <a:ext cx="2587752" cy="182880"/>
          </a:xfrm>
          <a:prstGeom prst="rect">
            <a:avLst/>
          </a:prstGeom>
          <a:noFill/>
        </p:spPr>
        <p:txBody>
          <a:bodyPr wrap="square" rtlCol="0" anchor="ctr"/>
          <a:lstStyle/>
          <a:p>
            <a:pPr marL="0" indent="0">
              <a:buNone/>
            </a:pPr>
            <a:r>
              <a:rPr lang="en-US" sz="800" b="1" dirty="0">
                <a:solidFill>
                  <a:srgbClr val="2F6FED"/>
                </a:solidFill>
                <a:latin typeface="Arial" panose="020B0604020202020204" pitchFamily="34" charset="0"/>
                <a:ea typeface="Arial" panose="020B0604020202020204" pitchFamily="34" charset="-122"/>
                <a:cs typeface="Arial" panose="020B0604020202020204" pitchFamily="34" charset="-120"/>
              </a:rPr>
              <a:t>Ahamed M.N.A</a:t>
            </a:r>
            <a:endParaRPr lang="en-US" sz="800" dirty="0"/>
          </a:p>
        </p:txBody>
      </p:sp>
      <p:sp>
        <p:nvSpPr>
          <p:cNvPr id="15" name="Text 11"/>
          <p:cNvSpPr/>
          <p:nvPr/>
        </p:nvSpPr>
        <p:spPr>
          <a:xfrm>
            <a:off x="4480560" y="2039112"/>
            <a:ext cx="3172968" cy="512064"/>
          </a:xfrm>
          <a:prstGeom prst="rect">
            <a:avLst/>
          </a:prstGeom>
          <a:noFill/>
        </p:spPr>
        <p:txBody>
          <a:bodyPr wrap="square" rtlCol="0" anchor="t"/>
          <a:lstStyle/>
          <a:p>
            <a:pPr marL="0" indent="0">
              <a:lnSpc>
                <a:spcPct val="110000"/>
              </a:lnSpc>
              <a:buNone/>
            </a:pPr>
            <a:r>
              <a:rPr lang="en-US" sz="1200" dirty="0">
                <a:solidFill>
                  <a:srgbClr val="4A5563"/>
                </a:solidFill>
                <a:latin typeface="Arial" panose="020B0604020202020204" pitchFamily="34" charset="0"/>
                <a:ea typeface="Arial" panose="020B0604020202020204" pitchFamily="34" charset="-122"/>
                <a:cs typeface="Arial" panose="020B0604020202020204" pitchFamily="34" charset="-120"/>
              </a:rPr>
              <a:t>Center, time slot, and bay/technician preference, with queue, cancellation, and rescheduling.</a:t>
            </a:r>
            <a:endParaRPr lang="en-US" sz="1200" dirty="0"/>
          </a:p>
        </p:txBody>
      </p:sp>
      <p:sp>
        <p:nvSpPr>
          <p:cNvPr id="16" name="Shape 12"/>
          <p:cNvSpPr/>
          <p:nvPr/>
        </p:nvSpPr>
        <p:spPr>
          <a:xfrm>
            <a:off x="7991856" y="1417320"/>
            <a:ext cx="3502152" cy="1207008"/>
          </a:xfrm>
          <a:prstGeom prst="roundRect">
            <a:avLst>
              <a:gd name="adj" fmla="val 5303"/>
            </a:avLst>
          </a:prstGeom>
          <a:solidFill>
            <a:srgbClr val="F2F4F7"/>
          </a:solidFill>
        </p:spPr>
      </p:sp>
      <p:sp>
        <p:nvSpPr>
          <p:cNvPr id="17" name="Shape 13"/>
          <p:cNvSpPr/>
          <p:nvPr/>
        </p:nvSpPr>
        <p:spPr>
          <a:xfrm>
            <a:off x="8156448" y="1581912"/>
            <a:ext cx="457200" cy="457200"/>
          </a:xfrm>
          <a:prstGeom prst="ellipse">
            <a:avLst/>
          </a:prstGeom>
          <a:solidFill>
            <a:srgbClr val="0B1F3A"/>
          </a:solidFill>
        </p:spPr>
      </p:sp>
      <p:pic>
        <p:nvPicPr>
          <p:cNvPr id="18" name="Image 2" descr="icons/gasPump_white.png"/>
          <p:cNvPicPr>
            <a:picLocks noChangeAspect="1"/>
          </p:cNvPicPr>
          <p:nvPr/>
        </p:nvPicPr>
        <p:blipFill>
          <a:blip r:embed="rId3"/>
          <a:stretch>
            <a:fillRect/>
          </a:stretch>
        </p:blipFill>
        <p:spPr>
          <a:xfrm>
            <a:off x="8279892" y="1705356"/>
            <a:ext cx="210312" cy="210312"/>
          </a:xfrm>
          <a:prstGeom prst="rect">
            <a:avLst/>
          </a:prstGeom>
        </p:spPr>
      </p:pic>
      <p:sp>
        <p:nvSpPr>
          <p:cNvPr id="19" name="Text 14"/>
          <p:cNvSpPr/>
          <p:nvPr/>
        </p:nvSpPr>
        <p:spPr>
          <a:xfrm>
            <a:off x="8769096" y="1508760"/>
            <a:ext cx="2587752" cy="256032"/>
          </a:xfrm>
          <a:prstGeom prst="rect">
            <a:avLst/>
          </a:prstGeom>
          <a:noFill/>
        </p:spPr>
        <p:txBody>
          <a:bodyPr wrap="square" rtlCol="0" anchor="ctr"/>
          <a:lstStyle/>
          <a:p>
            <a:pPr marL="0" indent="0">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Fuel Logging</a:t>
            </a:r>
            <a:endParaRPr lang="en-US" sz="2000" dirty="0"/>
          </a:p>
        </p:txBody>
      </p:sp>
      <p:sp>
        <p:nvSpPr>
          <p:cNvPr id="20" name="Text 15"/>
          <p:cNvSpPr/>
          <p:nvPr/>
        </p:nvSpPr>
        <p:spPr>
          <a:xfrm>
            <a:off x="8769096" y="1783080"/>
            <a:ext cx="2587752" cy="182880"/>
          </a:xfrm>
          <a:prstGeom prst="rect">
            <a:avLst/>
          </a:prstGeom>
          <a:noFill/>
        </p:spPr>
        <p:txBody>
          <a:bodyPr wrap="square" rtlCol="0" anchor="ctr"/>
          <a:lstStyle/>
          <a:p>
            <a:pPr marL="0" indent="0">
              <a:buNone/>
            </a:pPr>
            <a:r>
              <a:rPr lang="en-US" sz="800" b="1" dirty="0">
                <a:solidFill>
                  <a:srgbClr val="2F6FED"/>
                </a:solidFill>
                <a:latin typeface="Arial" panose="020B0604020202020204" pitchFamily="34" charset="0"/>
                <a:ea typeface="Arial" panose="020B0604020202020204" pitchFamily="34" charset="-122"/>
                <a:cs typeface="Arial" panose="020B0604020202020204" pitchFamily="34" charset="-120"/>
              </a:rPr>
              <a:t>Sarma S.S.L</a:t>
            </a:r>
            <a:endParaRPr lang="en-US" sz="800" dirty="0"/>
          </a:p>
        </p:txBody>
      </p:sp>
      <p:sp>
        <p:nvSpPr>
          <p:cNvPr id="21" name="Text 16"/>
          <p:cNvSpPr/>
          <p:nvPr/>
        </p:nvSpPr>
        <p:spPr>
          <a:xfrm>
            <a:off x="8156448" y="2039112"/>
            <a:ext cx="3172968" cy="512064"/>
          </a:xfrm>
          <a:prstGeom prst="rect">
            <a:avLst/>
          </a:prstGeom>
          <a:noFill/>
        </p:spPr>
        <p:txBody>
          <a:bodyPr wrap="square" rtlCol="0" anchor="t"/>
          <a:lstStyle/>
          <a:p>
            <a:pPr marL="0" indent="0">
              <a:lnSpc>
                <a:spcPct val="110000"/>
              </a:lnSpc>
              <a:buNone/>
            </a:pPr>
            <a:r>
              <a:rPr lang="en-US" sz="1200" dirty="0">
                <a:solidFill>
                  <a:srgbClr val="4A5563"/>
                </a:solidFill>
                <a:latin typeface="Arial" panose="020B0604020202020204" pitchFamily="34" charset="0"/>
                <a:ea typeface="Arial" panose="020B0604020202020204" pitchFamily="34" charset="-122"/>
                <a:cs typeface="Arial" panose="020B0604020202020204" pitchFamily="34" charset="-120"/>
              </a:rPr>
              <a:t>Quantity, cost, and odometer capture, consumption history, and discrepancy detection.</a:t>
            </a:r>
            <a:endParaRPr lang="en-US" sz="1200" dirty="0"/>
          </a:p>
        </p:txBody>
      </p:sp>
      <p:sp>
        <p:nvSpPr>
          <p:cNvPr id="22" name="Shape 17"/>
          <p:cNvSpPr/>
          <p:nvPr/>
        </p:nvSpPr>
        <p:spPr>
          <a:xfrm>
            <a:off x="640080" y="2788920"/>
            <a:ext cx="3502152" cy="1207008"/>
          </a:xfrm>
          <a:prstGeom prst="roundRect">
            <a:avLst>
              <a:gd name="adj" fmla="val 5303"/>
            </a:avLst>
          </a:prstGeom>
          <a:solidFill>
            <a:srgbClr val="F2F4F7"/>
          </a:solidFill>
        </p:spPr>
      </p:sp>
      <p:sp>
        <p:nvSpPr>
          <p:cNvPr id="23" name="Shape 18"/>
          <p:cNvSpPr/>
          <p:nvPr/>
        </p:nvSpPr>
        <p:spPr>
          <a:xfrm>
            <a:off x="804672" y="2953512"/>
            <a:ext cx="457200" cy="457200"/>
          </a:xfrm>
          <a:prstGeom prst="ellipse">
            <a:avLst/>
          </a:prstGeom>
          <a:solidFill>
            <a:srgbClr val="0B1F3A"/>
          </a:solidFill>
        </p:spPr>
      </p:sp>
      <p:pic>
        <p:nvPicPr>
          <p:cNvPr id="24" name="Image 3" descr="icons/creditCard_white.png"/>
          <p:cNvPicPr>
            <a:picLocks noChangeAspect="1"/>
          </p:cNvPicPr>
          <p:nvPr/>
        </p:nvPicPr>
        <p:blipFill>
          <a:blip r:embed="rId4"/>
          <a:stretch>
            <a:fillRect/>
          </a:stretch>
        </p:blipFill>
        <p:spPr>
          <a:xfrm>
            <a:off x="928116" y="3076956"/>
            <a:ext cx="210312" cy="210312"/>
          </a:xfrm>
          <a:prstGeom prst="rect">
            <a:avLst/>
          </a:prstGeom>
        </p:spPr>
      </p:pic>
      <p:sp>
        <p:nvSpPr>
          <p:cNvPr id="25" name="Text 19"/>
          <p:cNvSpPr/>
          <p:nvPr/>
        </p:nvSpPr>
        <p:spPr>
          <a:xfrm>
            <a:off x="1417320" y="2880360"/>
            <a:ext cx="2587752" cy="256032"/>
          </a:xfrm>
          <a:prstGeom prst="rect">
            <a:avLst/>
          </a:prstGeom>
          <a:noFill/>
        </p:spPr>
        <p:txBody>
          <a:bodyPr wrap="square" rtlCol="0" anchor="ctr"/>
          <a:lstStyle/>
          <a:p>
            <a:pPr marL="0" indent="0">
              <a:buNone/>
            </a:pPr>
            <a:r>
              <a:rPr lang="en-US" b="1" dirty="0">
                <a:solidFill>
                  <a:srgbClr val="0B1F3A"/>
                </a:solidFill>
                <a:latin typeface="Arial" panose="020B0604020202020204" pitchFamily="34" charset="0"/>
                <a:ea typeface="Arial" panose="020B0604020202020204" pitchFamily="34" charset="-122"/>
                <a:cs typeface="Arial" panose="020B0604020202020204" pitchFamily="34" charset="-120"/>
              </a:rPr>
              <a:t>Payment Processing</a:t>
            </a:r>
            <a:endParaRPr lang="en-US" dirty="0"/>
          </a:p>
        </p:txBody>
      </p:sp>
      <p:sp>
        <p:nvSpPr>
          <p:cNvPr id="26" name="Text 20"/>
          <p:cNvSpPr/>
          <p:nvPr/>
        </p:nvSpPr>
        <p:spPr>
          <a:xfrm>
            <a:off x="1417320" y="3154680"/>
            <a:ext cx="2587752" cy="182880"/>
          </a:xfrm>
          <a:prstGeom prst="rect">
            <a:avLst/>
          </a:prstGeom>
          <a:noFill/>
        </p:spPr>
        <p:txBody>
          <a:bodyPr wrap="square" rtlCol="0" anchor="ctr"/>
          <a:lstStyle/>
          <a:p>
            <a:pPr marL="0" indent="0">
              <a:buNone/>
            </a:pPr>
            <a:r>
              <a:rPr lang="en-US" sz="800" b="1" dirty="0">
                <a:solidFill>
                  <a:srgbClr val="2F6FED"/>
                </a:solidFill>
                <a:latin typeface="Arial" panose="020B0604020202020204" pitchFamily="34" charset="0"/>
                <a:ea typeface="Arial" panose="020B0604020202020204" pitchFamily="34" charset="-122"/>
                <a:cs typeface="Arial" panose="020B0604020202020204" pitchFamily="34" charset="-120"/>
              </a:rPr>
              <a:t>Nayanajith K.A.T</a:t>
            </a:r>
            <a:endParaRPr lang="en-US" sz="800" dirty="0"/>
          </a:p>
        </p:txBody>
      </p:sp>
      <p:sp>
        <p:nvSpPr>
          <p:cNvPr id="27" name="Text 21"/>
          <p:cNvSpPr/>
          <p:nvPr/>
        </p:nvSpPr>
        <p:spPr>
          <a:xfrm>
            <a:off x="804672" y="3410712"/>
            <a:ext cx="3172968" cy="512064"/>
          </a:xfrm>
          <a:prstGeom prst="rect">
            <a:avLst/>
          </a:prstGeom>
          <a:noFill/>
        </p:spPr>
        <p:txBody>
          <a:bodyPr wrap="square" rtlCol="0" anchor="t"/>
          <a:lstStyle/>
          <a:p>
            <a:pPr marL="0" indent="0">
              <a:lnSpc>
                <a:spcPct val="110000"/>
              </a:lnSpc>
              <a:buNone/>
            </a:pPr>
            <a:r>
              <a:rPr lang="en-US" sz="1400" dirty="0">
                <a:solidFill>
                  <a:srgbClr val="4A5563"/>
                </a:solidFill>
                <a:latin typeface="Arial" panose="020B0604020202020204" pitchFamily="34" charset="0"/>
                <a:ea typeface="Arial" panose="020B0604020202020204" pitchFamily="34" charset="-122"/>
                <a:cs typeface="Arial" panose="020B0604020202020204" pitchFamily="34" charset="-120"/>
              </a:rPr>
              <a:t>Verification, receipts, invoices, retries, reconciliation, and refunds.</a:t>
            </a:r>
            <a:endParaRPr lang="en-US" sz="1400" dirty="0"/>
          </a:p>
        </p:txBody>
      </p:sp>
      <p:sp>
        <p:nvSpPr>
          <p:cNvPr id="28" name="Shape 22"/>
          <p:cNvSpPr/>
          <p:nvPr/>
        </p:nvSpPr>
        <p:spPr>
          <a:xfrm>
            <a:off x="4315968" y="2788920"/>
            <a:ext cx="3502152" cy="1207008"/>
          </a:xfrm>
          <a:prstGeom prst="roundRect">
            <a:avLst>
              <a:gd name="adj" fmla="val 5303"/>
            </a:avLst>
          </a:prstGeom>
          <a:solidFill>
            <a:srgbClr val="F2F4F7"/>
          </a:solidFill>
        </p:spPr>
      </p:sp>
      <p:sp>
        <p:nvSpPr>
          <p:cNvPr id="29" name="Shape 23"/>
          <p:cNvSpPr/>
          <p:nvPr/>
        </p:nvSpPr>
        <p:spPr>
          <a:xfrm>
            <a:off x="4480560" y="2953512"/>
            <a:ext cx="457200" cy="457200"/>
          </a:xfrm>
          <a:prstGeom prst="ellipse">
            <a:avLst/>
          </a:prstGeom>
          <a:solidFill>
            <a:srgbClr val="0B1F3A"/>
          </a:solidFill>
        </p:spPr>
      </p:sp>
      <p:pic>
        <p:nvPicPr>
          <p:cNvPr id="30" name="Image 4" descr="icons/bell_white.png"/>
          <p:cNvPicPr>
            <a:picLocks noChangeAspect="1"/>
          </p:cNvPicPr>
          <p:nvPr/>
        </p:nvPicPr>
        <p:blipFill>
          <a:blip r:embed="rId5"/>
          <a:stretch>
            <a:fillRect/>
          </a:stretch>
        </p:blipFill>
        <p:spPr>
          <a:xfrm>
            <a:off x="4604004" y="3076956"/>
            <a:ext cx="210312" cy="210312"/>
          </a:xfrm>
          <a:prstGeom prst="rect">
            <a:avLst/>
          </a:prstGeom>
        </p:spPr>
      </p:pic>
      <p:sp>
        <p:nvSpPr>
          <p:cNvPr id="31" name="Text 24"/>
          <p:cNvSpPr/>
          <p:nvPr/>
        </p:nvSpPr>
        <p:spPr>
          <a:xfrm>
            <a:off x="5093208" y="2880360"/>
            <a:ext cx="2587752" cy="256032"/>
          </a:xfrm>
          <a:prstGeom prst="rect">
            <a:avLst/>
          </a:prstGeom>
          <a:noFill/>
        </p:spPr>
        <p:txBody>
          <a:bodyPr wrap="square" rtlCol="0" anchor="ctr"/>
          <a:lstStyle/>
          <a:p>
            <a:pPr marL="0" indent="0">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Notifications</a:t>
            </a:r>
            <a:endParaRPr lang="en-US" sz="2000" dirty="0"/>
          </a:p>
        </p:txBody>
      </p:sp>
      <p:sp>
        <p:nvSpPr>
          <p:cNvPr id="32" name="Text 25"/>
          <p:cNvSpPr/>
          <p:nvPr/>
        </p:nvSpPr>
        <p:spPr>
          <a:xfrm>
            <a:off x="5093208" y="3154680"/>
            <a:ext cx="2587752" cy="182880"/>
          </a:xfrm>
          <a:prstGeom prst="rect">
            <a:avLst/>
          </a:prstGeom>
          <a:noFill/>
        </p:spPr>
        <p:txBody>
          <a:bodyPr wrap="square" rtlCol="0" anchor="ctr"/>
          <a:lstStyle/>
          <a:p>
            <a:pPr marL="0" indent="0">
              <a:buNone/>
            </a:pPr>
            <a:r>
              <a:rPr lang="en-US" sz="800" b="1" dirty="0">
                <a:solidFill>
                  <a:srgbClr val="2F6FED"/>
                </a:solidFill>
                <a:latin typeface="Arial" panose="020B0604020202020204" pitchFamily="34" charset="0"/>
                <a:ea typeface="Arial" panose="020B0604020202020204" pitchFamily="34" charset="-122"/>
                <a:cs typeface="Arial" panose="020B0604020202020204" pitchFamily="34" charset="-120"/>
              </a:rPr>
              <a:t>Herath H.M.A.R.B</a:t>
            </a:r>
            <a:endParaRPr lang="en-US" sz="800" dirty="0"/>
          </a:p>
        </p:txBody>
      </p:sp>
      <p:sp>
        <p:nvSpPr>
          <p:cNvPr id="33" name="Text 26"/>
          <p:cNvSpPr/>
          <p:nvPr/>
        </p:nvSpPr>
        <p:spPr>
          <a:xfrm>
            <a:off x="4480560" y="3410712"/>
            <a:ext cx="3172968" cy="512064"/>
          </a:xfrm>
          <a:prstGeom prst="rect">
            <a:avLst/>
          </a:prstGeom>
          <a:noFill/>
        </p:spPr>
        <p:txBody>
          <a:bodyPr wrap="square" rtlCol="0" anchor="t"/>
          <a:lstStyle/>
          <a:p>
            <a:pPr marL="0" indent="0">
              <a:lnSpc>
                <a:spcPct val="110000"/>
              </a:lnSpc>
              <a:buNone/>
            </a:pPr>
            <a:r>
              <a:rPr lang="en-US" sz="1400" dirty="0">
                <a:solidFill>
                  <a:srgbClr val="4A5563"/>
                </a:solidFill>
                <a:latin typeface="Arial" panose="020B0604020202020204" pitchFamily="34" charset="0"/>
                <a:ea typeface="Arial" panose="020B0604020202020204" pitchFamily="34" charset="-122"/>
                <a:cs typeface="Arial" panose="020B0604020202020204" pitchFamily="34" charset="-120"/>
              </a:rPr>
              <a:t>Automated alerts delivered by SMS, email, and in-system messages.</a:t>
            </a:r>
            <a:endParaRPr lang="en-US" sz="1400" dirty="0"/>
          </a:p>
        </p:txBody>
      </p:sp>
      <p:sp>
        <p:nvSpPr>
          <p:cNvPr id="34" name="Shape 27"/>
          <p:cNvSpPr/>
          <p:nvPr/>
        </p:nvSpPr>
        <p:spPr>
          <a:xfrm>
            <a:off x="7991856" y="2788920"/>
            <a:ext cx="3502152" cy="1207008"/>
          </a:xfrm>
          <a:prstGeom prst="roundRect">
            <a:avLst>
              <a:gd name="adj" fmla="val 5303"/>
            </a:avLst>
          </a:prstGeom>
          <a:solidFill>
            <a:srgbClr val="F2F4F7"/>
          </a:solidFill>
        </p:spPr>
      </p:sp>
      <p:sp>
        <p:nvSpPr>
          <p:cNvPr id="35" name="Shape 28"/>
          <p:cNvSpPr/>
          <p:nvPr/>
        </p:nvSpPr>
        <p:spPr>
          <a:xfrm>
            <a:off x="8156448" y="2953512"/>
            <a:ext cx="457200" cy="457200"/>
          </a:xfrm>
          <a:prstGeom prst="ellipse">
            <a:avLst/>
          </a:prstGeom>
          <a:solidFill>
            <a:srgbClr val="0B1F3A"/>
          </a:solidFill>
        </p:spPr>
      </p:sp>
      <p:pic>
        <p:nvPicPr>
          <p:cNvPr id="36" name="Image 5" descr="icons/users_white.png"/>
          <p:cNvPicPr>
            <a:picLocks noChangeAspect="1"/>
          </p:cNvPicPr>
          <p:nvPr/>
        </p:nvPicPr>
        <p:blipFill>
          <a:blip r:embed="rId6"/>
          <a:stretch>
            <a:fillRect/>
          </a:stretch>
        </p:blipFill>
        <p:spPr>
          <a:xfrm>
            <a:off x="8279892" y="3076956"/>
            <a:ext cx="210312" cy="210312"/>
          </a:xfrm>
          <a:prstGeom prst="rect">
            <a:avLst/>
          </a:prstGeom>
        </p:spPr>
      </p:pic>
      <p:sp>
        <p:nvSpPr>
          <p:cNvPr id="37" name="Text 29"/>
          <p:cNvSpPr/>
          <p:nvPr/>
        </p:nvSpPr>
        <p:spPr>
          <a:xfrm>
            <a:off x="8769096" y="2880360"/>
            <a:ext cx="2587752" cy="256032"/>
          </a:xfrm>
          <a:prstGeom prst="rect">
            <a:avLst/>
          </a:prstGeom>
          <a:noFill/>
        </p:spPr>
        <p:txBody>
          <a:bodyPr wrap="square" rtlCol="0" anchor="ctr"/>
          <a:lstStyle/>
          <a:p>
            <a:pPr marL="0" indent="0">
              <a:buNone/>
            </a:pPr>
            <a:r>
              <a:rPr lang="en-US" sz="1250" b="1" dirty="0">
                <a:solidFill>
                  <a:srgbClr val="0B1F3A"/>
                </a:solidFill>
                <a:latin typeface="Arial" panose="020B0604020202020204" pitchFamily="34" charset="0"/>
                <a:ea typeface="Arial" panose="020B0604020202020204" pitchFamily="34" charset="-122"/>
                <a:cs typeface="Arial" panose="020B0604020202020204" pitchFamily="34" charset="-120"/>
              </a:rPr>
              <a:t>User Management</a:t>
            </a:r>
            <a:endParaRPr lang="en-US" sz="1250" dirty="0"/>
          </a:p>
        </p:txBody>
      </p:sp>
      <p:sp>
        <p:nvSpPr>
          <p:cNvPr id="38" name="Text 30"/>
          <p:cNvSpPr/>
          <p:nvPr/>
        </p:nvSpPr>
        <p:spPr>
          <a:xfrm>
            <a:off x="8769096" y="3154680"/>
            <a:ext cx="2587752" cy="182880"/>
          </a:xfrm>
          <a:prstGeom prst="rect">
            <a:avLst/>
          </a:prstGeom>
          <a:noFill/>
        </p:spPr>
        <p:txBody>
          <a:bodyPr wrap="square" rtlCol="0" anchor="ctr"/>
          <a:lstStyle/>
          <a:p>
            <a:pPr marL="0" indent="0">
              <a:buNone/>
            </a:pPr>
            <a:r>
              <a:rPr lang="en-US" sz="800" b="1" dirty="0">
                <a:solidFill>
                  <a:srgbClr val="2F6FED"/>
                </a:solidFill>
                <a:latin typeface="Arial" panose="020B0604020202020204" pitchFamily="34" charset="0"/>
                <a:ea typeface="Arial" panose="020B0604020202020204" pitchFamily="34" charset="-122"/>
                <a:cs typeface="Arial" panose="020B0604020202020204" pitchFamily="34" charset="-120"/>
              </a:rPr>
              <a:t>Liyanage D.D.S</a:t>
            </a:r>
            <a:endParaRPr lang="en-US" sz="800" dirty="0"/>
          </a:p>
        </p:txBody>
      </p:sp>
      <p:sp>
        <p:nvSpPr>
          <p:cNvPr id="39" name="Text 31"/>
          <p:cNvSpPr/>
          <p:nvPr/>
        </p:nvSpPr>
        <p:spPr>
          <a:xfrm>
            <a:off x="8156448" y="3410712"/>
            <a:ext cx="3172968" cy="512064"/>
          </a:xfrm>
          <a:prstGeom prst="rect">
            <a:avLst/>
          </a:prstGeom>
          <a:noFill/>
        </p:spPr>
        <p:txBody>
          <a:bodyPr wrap="square" rtlCol="0" anchor="t"/>
          <a:lstStyle/>
          <a:p>
            <a:pPr marL="0" indent="0">
              <a:lnSpc>
                <a:spcPct val="110000"/>
              </a:lnSpc>
              <a:buNone/>
            </a:pPr>
            <a:r>
              <a:rPr lang="en-US" sz="1400" dirty="0">
                <a:solidFill>
                  <a:srgbClr val="4A5563"/>
                </a:solidFill>
                <a:latin typeface="Arial" panose="020B0604020202020204" pitchFamily="34" charset="0"/>
                <a:ea typeface="Arial" panose="020B0604020202020204" pitchFamily="34" charset="-122"/>
                <a:cs typeface="Arial" panose="020B0604020202020204" pitchFamily="34" charset="-120"/>
              </a:rPr>
              <a:t>Registration, login, OTP/password recovery, profiles, roles, and access control.</a:t>
            </a:r>
            <a:endParaRPr lang="en-US" sz="1400" dirty="0"/>
          </a:p>
        </p:txBody>
      </p:sp>
      <p:sp>
        <p:nvSpPr>
          <p:cNvPr id="40" name="Text 32"/>
          <p:cNvSpPr/>
          <p:nvPr/>
        </p:nvSpPr>
        <p:spPr>
          <a:xfrm>
            <a:off x="640080" y="4288536"/>
            <a:ext cx="5486400" cy="256032"/>
          </a:xfrm>
          <a:prstGeom prst="rect">
            <a:avLst/>
          </a:prstGeom>
          <a:noFill/>
        </p:spPr>
        <p:txBody>
          <a:bodyPr wrap="square" rtlCol="0" anchor="ctr"/>
          <a:lstStyle/>
          <a:p>
            <a:pPr marL="0" indent="0">
              <a:buNone/>
            </a:pPr>
            <a:r>
              <a:rPr lang="en-US" b="1" kern="0" spc="150" dirty="0">
                <a:solidFill>
                  <a:srgbClr val="6B7684"/>
                </a:solidFill>
                <a:latin typeface="Arial" panose="020B0604020202020204" pitchFamily="34" charset="0"/>
                <a:ea typeface="Arial" panose="020B0604020202020204" pitchFamily="34" charset="-122"/>
                <a:cs typeface="Arial" panose="020B0604020202020204" pitchFamily="34" charset="-120"/>
              </a:rPr>
              <a:t>CUSTOMER BOOKING WORKFLOW</a:t>
            </a:r>
            <a:endParaRPr lang="en-US" dirty="0"/>
          </a:p>
        </p:txBody>
      </p:sp>
      <p:sp>
        <p:nvSpPr>
          <p:cNvPr id="41" name="Shape 33"/>
          <p:cNvSpPr/>
          <p:nvPr/>
        </p:nvSpPr>
        <p:spPr>
          <a:xfrm>
            <a:off x="640080" y="4581144"/>
            <a:ext cx="1444752" cy="566928"/>
          </a:xfrm>
          <a:prstGeom prst="roundRect">
            <a:avLst>
              <a:gd name="adj" fmla="val 45161"/>
            </a:avLst>
          </a:prstGeom>
          <a:solidFill>
            <a:srgbClr val="0B1F3A"/>
          </a:solidFill>
        </p:spPr>
      </p:sp>
      <p:sp>
        <p:nvSpPr>
          <p:cNvPr id="42" name="Text 34"/>
          <p:cNvSpPr/>
          <p:nvPr/>
        </p:nvSpPr>
        <p:spPr>
          <a:xfrm>
            <a:off x="676656" y="4581144"/>
            <a:ext cx="1371600" cy="566928"/>
          </a:xfrm>
          <a:prstGeom prst="rect">
            <a:avLst/>
          </a:prstGeom>
          <a:noFill/>
        </p:spPr>
        <p:txBody>
          <a:bodyPr wrap="square" rtlCol="0" anchor="ctr"/>
          <a:lstStyle/>
          <a:p>
            <a:pPr marL="0" indent="0" algn="ctr">
              <a:lnSpc>
                <a:spcPct val="100000"/>
              </a:lnSpc>
              <a:buNone/>
            </a:pPr>
            <a:r>
              <a:rPr lang="en-US" sz="830" b="1" dirty="0">
                <a:solidFill>
                  <a:srgbClr val="FFFFFF"/>
                </a:solidFill>
                <a:latin typeface="Arial" panose="020B0604020202020204" pitchFamily="34" charset="0"/>
                <a:ea typeface="Arial" panose="020B0604020202020204" pitchFamily="34" charset="-122"/>
                <a:cs typeface="Arial" panose="020B0604020202020204" pitchFamily="34" charset="-120"/>
              </a:rPr>
              <a:t>Search</a:t>
            </a:r>
            <a:endParaRPr lang="en-US" sz="830" dirty="0"/>
          </a:p>
        </p:txBody>
      </p:sp>
      <p:pic>
        <p:nvPicPr>
          <p:cNvPr id="43" name="Image 6" descr="icons/arrowRight_grey.png"/>
          <p:cNvPicPr>
            <a:picLocks noChangeAspect="1"/>
          </p:cNvPicPr>
          <p:nvPr/>
        </p:nvPicPr>
        <p:blipFill>
          <a:blip r:embed="rId7"/>
          <a:stretch>
            <a:fillRect/>
          </a:stretch>
        </p:blipFill>
        <p:spPr>
          <a:xfrm>
            <a:off x="2098548" y="4782312"/>
            <a:ext cx="164592" cy="164592"/>
          </a:xfrm>
          <a:prstGeom prst="rect">
            <a:avLst/>
          </a:prstGeom>
        </p:spPr>
      </p:pic>
      <p:sp>
        <p:nvSpPr>
          <p:cNvPr id="44" name="Shape 35"/>
          <p:cNvSpPr/>
          <p:nvPr/>
        </p:nvSpPr>
        <p:spPr>
          <a:xfrm>
            <a:off x="2176272" y="4581144"/>
            <a:ext cx="1444752" cy="566928"/>
          </a:xfrm>
          <a:prstGeom prst="roundRect">
            <a:avLst>
              <a:gd name="adj" fmla="val 45161"/>
            </a:avLst>
          </a:prstGeom>
          <a:solidFill>
            <a:srgbClr val="0B1F3A"/>
          </a:solidFill>
        </p:spPr>
      </p:sp>
      <p:sp>
        <p:nvSpPr>
          <p:cNvPr id="45" name="Text 36"/>
          <p:cNvSpPr/>
          <p:nvPr/>
        </p:nvSpPr>
        <p:spPr>
          <a:xfrm>
            <a:off x="2212848" y="4581144"/>
            <a:ext cx="1371600" cy="566928"/>
          </a:xfrm>
          <a:prstGeom prst="rect">
            <a:avLst/>
          </a:prstGeom>
          <a:noFill/>
        </p:spPr>
        <p:txBody>
          <a:bodyPr wrap="square" rtlCol="0" anchor="ctr"/>
          <a:lstStyle/>
          <a:p>
            <a:pPr marL="0" indent="0" algn="ctr">
              <a:lnSpc>
                <a:spcPct val="100000"/>
              </a:lnSpc>
              <a:buNone/>
            </a:pPr>
            <a:r>
              <a:rPr lang="en-US" sz="830" b="1" dirty="0">
                <a:solidFill>
                  <a:srgbClr val="FFFFFF"/>
                </a:solidFill>
                <a:latin typeface="Arial" panose="020B0604020202020204" pitchFamily="34" charset="0"/>
                <a:ea typeface="Arial" panose="020B0604020202020204" pitchFamily="34" charset="-122"/>
                <a:cs typeface="Arial" panose="020B0604020202020204" pitchFamily="34" charset="-120"/>
              </a:rPr>
              <a:t>Select Vehicle</a:t>
            </a:r>
            <a:endParaRPr lang="en-US" sz="830" dirty="0"/>
          </a:p>
          <a:p>
            <a:pPr marL="0" indent="0" algn="ctr">
              <a:lnSpc>
                <a:spcPct val="100000"/>
              </a:lnSpc>
              <a:buNone/>
            </a:pPr>
            <a:r>
              <a:rPr lang="en-US" sz="830" b="1" dirty="0">
                <a:solidFill>
                  <a:srgbClr val="FFFFFF"/>
                </a:solidFill>
                <a:latin typeface="Arial" panose="020B0604020202020204" pitchFamily="34" charset="0"/>
                <a:ea typeface="Arial" panose="020B0604020202020204" pitchFamily="34" charset="-122"/>
                <a:cs typeface="Arial" panose="020B0604020202020204" pitchFamily="34" charset="-120"/>
              </a:rPr>
              <a:t>&amp; Service</a:t>
            </a:r>
            <a:endParaRPr lang="en-US" sz="830" dirty="0"/>
          </a:p>
        </p:txBody>
      </p:sp>
      <p:pic>
        <p:nvPicPr>
          <p:cNvPr id="46" name="Image 7" descr="icons/arrowRight_grey.png"/>
          <p:cNvPicPr>
            <a:picLocks noChangeAspect="1"/>
          </p:cNvPicPr>
          <p:nvPr/>
        </p:nvPicPr>
        <p:blipFill>
          <a:blip r:embed="rId7"/>
          <a:stretch>
            <a:fillRect/>
          </a:stretch>
        </p:blipFill>
        <p:spPr>
          <a:xfrm>
            <a:off x="3634740" y="4782312"/>
            <a:ext cx="164592" cy="164592"/>
          </a:xfrm>
          <a:prstGeom prst="rect">
            <a:avLst/>
          </a:prstGeom>
        </p:spPr>
      </p:pic>
      <p:sp>
        <p:nvSpPr>
          <p:cNvPr id="47" name="Shape 37"/>
          <p:cNvSpPr/>
          <p:nvPr/>
        </p:nvSpPr>
        <p:spPr>
          <a:xfrm>
            <a:off x="3712464" y="4581144"/>
            <a:ext cx="1444752" cy="566928"/>
          </a:xfrm>
          <a:prstGeom prst="roundRect">
            <a:avLst>
              <a:gd name="adj" fmla="val 45161"/>
            </a:avLst>
          </a:prstGeom>
          <a:solidFill>
            <a:srgbClr val="0B1F3A"/>
          </a:solidFill>
        </p:spPr>
      </p:sp>
      <p:sp>
        <p:nvSpPr>
          <p:cNvPr id="48" name="Text 38"/>
          <p:cNvSpPr/>
          <p:nvPr/>
        </p:nvSpPr>
        <p:spPr>
          <a:xfrm>
            <a:off x="3749040" y="4581144"/>
            <a:ext cx="1371600" cy="566928"/>
          </a:xfrm>
          <a:prstGeom prst="rect">
            <a:avLst/>
          </a:prstGeom>
          <a:noFill/>
        </p:spPr>
        <p:txBody>
          <a:bodyPr wrap="square" rtlCol="0" anchor="ctr"/>
          <a:lstStyle/>
          <a:p>
            <a:pPr marL="0" indent="0" algn="ctr">
              <a:lnSpc>
                <a:spcPct val="100000"/>
              </a:lnSpc>
              <a:buNone/>
            </a:pPr>
            <a:r>
              <a:rPr lang="en-US" sz="830" b="1" dirty="0">
                <a:solidFill>
                  <a:srgbClr val="FFFFFF"/>
                </a:solidFill>
                <a:latin typeface="Arial" panose="020B0604020202020204" pitchFamily="34" charset="0"/>
                <a:ea typeface="Arial" panose="020B0604020202020204" pitchFamily="34" charset="-122"/>
                <a:cs typeface="Arial" panose="020B0604020202020204" pitchFamily="34" charset="-120"/>
              </a:rPr>
              <a:t>Choose Center</a:t>
            </a:r>
            <a:endParaRPr lang="en-US" sz="830" dirty="0"/>
          </a:p>
          <a:p>
            <a:pPr marL="0" indent="0" algn="ctr">
              <a:lnSpc>
                <a:spcPct val="100000"/>
              </a:lnSpc>
              <a:buNone/>
            </a:pPr>
            <a:r>
              <a:rPr lang="en-US" sz="830" b="1" dirty="0">
                <a:solidFill>
                  <a:srgbClr val="FFFFFF"/>
                </a:solidFill>
                <a:latin typeface="Arial" panose="020B0604020202020204" pitchFamily="34" charset="0"/>
                <a:ea typeface="Arial" panose="020B0604020202020204" pitchFamily="34" charset="-122"/>
                <a:cs typeface="Arial" panose="020B0604020202020204" pitchFamily="34" charset="-120"/>
              </a:rPr>
              <a:t>&amp; Slot</a:t>
            </a:r>
            <a:endParaRPr lang="en-US" sz="830" dirty="0"/>
          </a:p>
        </p:txBody>
      </p:sp>
      <p:pic>
        <p:nvPicPr>
          <p:cNvPr id="49" name="Image 8" descr="icons/arrowRight_grey.png"/>
          <p:cNvPicPr>
            <a:picLocks noChangeAspect="1"/>
          </p:cNvPicPr>
          <p:nvPr/>
        </p:nvPicPr>
        <p:blipFill>
          <a:blip r:embed="rId7"/>
          <a:stretch>
            <a:fillRect/>
          </a:stretch>
        </p:blipFill>
        <p:spPr>
          <a:xfrm>
            <a:off x="5170932" y="4782312"/>
            <a:ext cx="164592" cy="164592"/>
          </a:xfrm>
          <a:prstGeom prst="rect">
            <a:avLst/>
          </a:prstGeom>
        </p:spPr>
      </p:pic>
      <p:sp>
        <p:nvSpPr>
          <p:cNvPr id="50" name="Shape 39"/>
          <p:cNvSpPr/>
          <p:nvPr/>
        </p:nvSpPr>
        <p:spPr>
          <a:xfrm>
            <a:off x="5248656" y="4581144"/>
            <a:ext cx="1444752" cy="566928"/>
          </a:xfrm>
          <a:prstGeom prst="roundRect">
            <a:avLst>
              <a:gd name="adj" fmla="val 45161"/>
            </a:avLst>
          </a:prstGeom>
          <a:solidFill>
            <a:srgbClr val="0B1F3A"/>
          </a:solidFill>
        </p:spPr>
      </p:sp>
      <p:sp>
        <p:nvSpPr>
          <p:cNvPr id="51" name="Text 40"/>
          <p:cNvSpPr/>
          <p:nvPr/>
        </p:nvSpPr>
        <p:spPr>
          <a:xfrm>
            <a:off x="5285232" y="4581144"/>
            <a:ext cx="1371600" cy="566928"/>
          </a:xfrm>
          <a:prstGeom prst="rect">
            <a:avLst/>
          </a:prstGeom>
          <a:noFill/>
        </p:spPr>
        <p:txBody>
          <a:bodyPr wrap="square" rtlCol="0" anchor="ctr"/>
          <a:lstStyle/>
          <a:p>
            <a:pPr marL="0" indent="0" algn="ctr">
              <a:lnSpc>
                <a:spcPct val="100000"/>
              </a:lnSpc>
              <a:buNone/>
            </a:pPr>
            <a:r>
              <a:rPr lang="en-US" sz="830" b="1" dirty="0">
                <a:solidFill>
                  <a:srgbClr val="FFFFFF"/>
                </a:solidFill>
                <a:latin typeface="Arial" panose="020B0604020202020204" pitchFamily="34" charset="0"/>
                <a:ea typeface="Arial" panose="020B0604020202020204" pitchFamily="34" charset="-122"/>
                <a:cs typeface="Arial" panose="020B0604020202020204" pitchFamily="34" charset="-120"/>
              </a:rPr>
              <a:t>Confirm</a:t>
            </a:r>
            <a:endParaRPr lang="en-US" sz="830" dirty="0"/>
          </a:p>
          <a:p>
            <a:pPr marL="0" indent="0" algn="ctr">
              <a:lnSpc>
                <a:spcPct val="100000"/>
              </a:lnSpc>
              <a:buNone/>
            </a:pPr>
            <a:r>
              <a:rPr lang="en-US" sz="830" b="1" dirty="0">
                <a:solidFill>
                  <a:srgbClr val="FFFFFF"/>
                </a:solidFill>
                <a:latin typeface="Arial" panose="020B0604020202020204" pitchFamily="34" charset="0"/>
                <a:ea typeface="Arial" panose="020B0604020202020204" pitchFamily="34" charset="-122"/>
                <a:cs typeface="Arial" panose="020B0604020202020204" pitchFamily="34" charset="-120"/>
              </a:rPr>
              <a:t>Booking</a:t>
            </a:r>
            <a:endParaRPr lang="en-US" sz="830" dirty="0"/>
          </a:p>
        </p:txBody>
      </p:sp>
      <p:pic>
        <p:nvPicPr>
          <p:cNvPr id="52" name="Image 9" descr="icons/arrowRight_grey.png"/>
          <p:cNvPicPr>
            <a:picLocks noChangeAspect="1"/>
          </p:cNvPicPr>
          <p:nvPr/>
        </p:nvPicPr>
        <p:blipFill>
          <a:blip r:embed="rId7"/>
          <a:stretch>
            <a:fillRect/>
          </a:stretch>
        </p:blipFill>
        <p:spPr>
          <a:xfrm>
            <a:off x="6707124" y="4782312"/>
            <a:ext cx="164592" cy="164592"/>
          </a:xfrm>
          <a:prstGeom prst="rect">
            <a:avLst/>
          </a:prstGeom>
        </p:spPr>
      </p:pic>
      <p:sp>
        <p:nvSpPr>
          <p:cNvPr id="53" name="Shape 41"/>
          <p:cNvSpPr/>
          <p:nvPr/>
        </p:nvSpPr>
        <p:spPr>
          <a:xfrm>
            <a:off x="6784848" y="4581144"/>
            <a:ext cx="1444752" cy="566928"/>
          </a:xfrm>
          <a:prstGeom prst="roundRect">
            <a:avLst>
              <a:gd name="adj" fmla="val 45161"/>
            </a:avLst>
          </a:prstGeom>
          <a:solidFill>
            <a:srgbClr val="0B1F3A"/>
          </a:solidFill>
        </p:spPr>
      </p:sp>
      <p:sp>
        <p:nvSpPr>
          <p:cNvPr id="54" name="Text 42"/>
          <p:cNvSpPr/>
          <p:nvPr/>
        </p:nvSpPr>
        <p:spPr>
          <a:xfrm>
            <a:off x="6821424" y="4581144"/>
            <a:ext cx="1371600" cy="566928"/>
          </a:xfrm>
          <a:prstGeom prst="rect">
            <a:avLst/>
          </a:prstGeom>
          <a:noFill/>
        </p:spPr>
        <p:txBody>
          <a:bodyPr wrap="square" rtlCol="0" anchor="ctr"/>
          <a:lstStyle/>
          <a:p>
            <a:pPr marL="0" indent="0" algn="ctr">
              <a:lnSpc>
                <a:spcPct val="100000"/>
              </a:lnSpc>
              <a:buNone/>
            </a:pPr>
            <a:r>
              <a:rPr lang="en-US" sz="830" b="1" dirty="0">
                <a:solidFill>
                  <a:srgbClr val="FFFFFF"/>
                </a:solidFill>
                <a:latin typeface="Arial" panose="020B0604020202020204" pitchFamily="34" charset="0"/>
                <a:ea typeface="Arial" panose="020B0604020202020204" pitchFamily="34" charset="-122"/>
                <a:cs typeface="Arial" panose="020B0604020202020204" pitchFamily="34" charset="-120"/>
              </a:rPr>
              <a:t>Verified</a:t>
            </a:r>
            <a:endParaRPr lang="en-US" sz="830" dirty="0"/>
          </a:p>
          <a:p>
            <a:pPr marL="0" indent="0" algn="ctr">
              <a:lnSpc>
                <a:spcPct val="100000"/>
              </a:lnSpc>
              <a:buNone/>
            </a:pPr>
            <a:r>
              <a:rPr lang="en-US" sz="830" b="1" dirty="0">
                <a:solidFill>
                  <a:srgbClr val="FFFFFF"/>
                </a:solidFill>
                <a:latin typeface="Arial" panose="020B0604020202020204" pitchFamily="34" charset="0"/>
                <a:ea typeface="Arial" panose="020B0604020202020204" pitchFamily="34" charset="-122"/>
                <a:cs typeface="Arial" panose="020B0604020202020204" pitchFamily="34" charset="-120"/>
              </a:rPr>
              <a:t>Payment</a:t>
            </a:r>
            <a:endParaRPr lang="en-US" sz="830" dirty="0"/>
          </a:p>
        </p:txBody>
      </p:sp>
      <p:pic>
        <p:nvPicPr>
          <p:cNvPr id="55" name="Image 10" descr="icons/arrowRight_grey.png"/>
          <p:cNvPicPr>
            <a:picLocks noChangeAspect="1"/>
          </p:cNvPicPr>
          <p:nvPr/>
        </p:nvPicPr>
        <p:blipFill>
          <a:blip r:embed="rId7"/>
          <a:stretch>
            <a:fillRect/>
          </a:stretch>
        </p:blipFill>
        <p:spPr>
          <a:xfrm>
            <a:off x="8243316" y="4782312"/>
            <a:ext cx="164592" cy="164592"/>
          </a:xfrm>
          <a:prstGeom prst="rect">
            <a:avLst/>
          </a:prstGeom>
        </p:spPr>
      </p:pic>
      <p:sp>
        <p:nvSpPr>
          <p:cNvPr id="56" name="Shape 43"/>
          <p:cNvSpPr/>
          <p:nvPr/>
        </p:nvSpPr>
        <p:spPr>
          <a:xfrm>
            <a:off x="8321040" y="4581144"/>
            <a:ext cx="1444752" cy="566928"/>
          </a:xfrm>
          <a:prstGeom prst="roundRect">
            <a:avLst>
              <a:gd name="adj" fmla="val 45161"/>
            </a:avLst>
          </a:prstGeom>
          <a:solidFill>
            <a:srgbClr val="0B1F3A"/>
          </a:solidFill>
        </p:spPr>
      </p:sp>
      <p:sp>
        <p:nvSpPr>
          <p:cNvPr id="57" name="Text 44"/>
          <p:cNvSpPr/>
          <p:nvPr/>
        </p:nvSpPr>
        <p:spPr>
          <a:xfrm>
            <a:off x="8357616" y="4581144"/>
            <a:ext cx="1371600" cy="566928"/>
          </a:xfrm>
          <a:prstGeom prst="rect">
            <a:avLst/>
          </a:prstGeom>
          <a:noFill/>
        </p:spPr>
        <p:txBody>
          <a:bodyPr wrap="square" rtlCol="0" anchor="ctr"/>
          <a:lstStyle/>
          <a:p>
            <a:pPr marL="0" indent="0" algn="ctr">
              <a:lnSpc>
                <a:spcPct val="100000"/>
              </a:lnSpc>
              <a:buNone/>
            </a:pPr>
            <a:r>
              <a:rPr lang="en-US" sz="830" b="1" dirty="0">
                <a:solidFill>
                  <a:srgbClr val="FFFFFF"/>
                </a:solidFill>
                <a:latin typeface="Arial" panose="020B0604020202020204" pitchFamily="34" charset="0"/>
                <a:ea typeface="Arial" panose="020B0604020202020204" pitchFamily="34" charset="-122"/>
                <a:cs typeface="Arial" panose="020B0604020202020204" pitchFamily="34" charset="-120"/>
              </a:rPr>
              <a:t>Digital</a:t>
            </a:r>
            <a:endParaRPr lang="en-US" sz="830" dirty="0"/>
          </a:p>
          <a:p>
            <a:pPr marL="0" indent="0" algn="ctr">
              <a:lnSpc>
                <a:spcPct val="100000"/>
              </a:lnSpc>
              <a:buNone/>
            </a:pPr>
            <a:r>
              <a:rPr lang="en-US" sz="830" b="1" dirty="0">
                <a:solidFill>
                  <a:srgbClr val="FFFFFF"/>
                </a:solidFill>
                <a:latin typeface="Arial" panose="020B0604020202020204" pitchFamily="34" charset="0"/>
                <a:ea typeface="Arial" panose="020B0604020202020204" pitchFamily="34" charset="-122"/>
                <a:cs typeface="Arial" panose="020B0604020202020204" pitchFamily="34" charset="-120"/>
              </a:rPr>
              <a:t>Invoice</a:t>
            </a:r>
            <a:endParaRPr lang="en-US" sz="830" dirty="0"/>
          </a:p>
        </p:txBody>
      </p:sp>
      <p:pic>
        <p:nvPicPr>
          <p:cNvPr id="58" name="Image 11" descr="icons/arrowRight_grey.png"/>
          <p:cNvPicPr>
            <a:picLocks noChangeAspect="1"/>
          </p:cNvPicPr>
          <p:nvPr/>
        </p:nvPicPr>
        <p:blipFill>
          <a:blip r:embed="rId7"/>
          <a:stretch>
            <a:fillRect/>
          </a:stretch>
        </p:blipFill>
        <p:spPr>
          <a:xfrm>
            <a:off x="9779508" y="4782312"/>
            <a:ext cx="164592" cy="164592"/>
          </a:xfrm>
          <a:prstGeom prst="rect">
            <a:avLst/>
          </a:prstGeom>
        </p:spPr>
      </p:pic>
      <p:sp>
        <p:nvSpPr>
          <p:cNvPr id="59" name="Shape 45"/>
          <p:cNvSpPr/>
          <p:nvPr/>
        </p:nvSpPr>
        <p:spPr>
          <a:xfrm>
            <a:off x="9857232" y="4581144"/>
            <a:ext cx="1444752" cy="566928"/>
          </a:xfrm>
          <a:prstGeom prst="roundRect">
            <a:avLst>
              <a:gd name="adj" fmla="val 45161"/>
            </a:avLst>
          </a:prstGeom>
          <a:solidFill>
            <a:srgbClr val="2F6FED"/>
          </a:solidFill>
        </p:spPr>
      </p:sp>
      <p:sp>
        <p:nvSpPr>
          <p:cNvPr id="60" name="Text 46"/>
          <p:cNvSpPr/>
          <p:nvPr/>
        </p:nvSpPr>
        <p:spPr>
          <a:xfrm>
            <a:off x="9893808" y="4581144"/>
            <a:ext cx="1371600" cy="566928"/>
          </a:xfrm>
          <a:prstGeom prst="rect">
            <a:avLst/>
          </a:prstGeom>
          <a:noFill/>
        </p:spPr>
        <p:txBody>
          <a:bodyPr wrap="square" rtlCol="0" anchor="ctr"/>
          <a:lstStyle/>
          <a:p>
            <a:pPr marL="0" indent="0" algn="ctr">
              <a:lnSpc>
                <a:spcPct val="100000"/>
              </a:lnSpc>
              <a:buNone/>
            </a:pPr>
            <a:r>
              <a:rPr lang="en-US" sz="830" b="1" dirty="0">
                <a:solidFill>
                  <a:srgbClr val="FFFFFF"/>
                </a:solidFill>
                <a:latin typeface="Arial" panose="020B0604020202020204" pitchFamily="34" charset="0"/>
                <a:ea typeface="Arial" panose="020B0604020202020204" pitchFamily="34" charset="-122"/>
                <a:cs typeface="Arial" panose="020B0604020202020204" pitchFamily="34" charset="-120"/>
              </a:rPr>
              <a:t>Service History</a:t>
            </a:r>
            <a:endParaRPr lang="en-US" sz="830" dirty="0"/>
          </a:p>
          <a:p>
            <a:pPr marL="0" indent="0" algn="ctr">
              <a:lnSpc>
                <a:spcPct val="100000"/>
              </a:lnSpc>
              <a:buNone/>
            </a:pPr>
            <a:r>
              <a:rPr lang="en-US" sz="830" b="1" dirty="0">
                <a:solidFill>
                  <a:srgbClr val="FFFFFF"/>
                </a:solidFill>
                <a:latin typeface="Arial" panose="020B0604020202020204" pitchFamily="34" charset="0"/>
                <a:ea typeface="Arial" panose="020B0604020202020204" pitchFamily="34" charset="-122"/>
                <a:cs typeface="Arial" panose="020B0604020202020204" pitchFamily="34" charset="-120"/>
              </a:rPr>
              <a:t>/ Fuel Log</a:t>
            </a:r>
            <a:endParaRPr lang="en-US" sz="830" dirty="0"/>
          </a:p>
        </p:txBody>
      </p:sp>
      <p:sp>
        <p:nvSpPr>
          <p:cNvPr id="61" name="Text 47"/>
          <p:cNvSpPr/>
          <p:nvPr/>
        </p:nvSpPr>
        <p:spPr>
          <a:xfrm>
            <a:off x="11503152" y="6400800"/>
            <a:ext cx="457200" cy="274320"/>
          </a:xfrm>
          <a:prstGeom prst="rect">
            <a:avLst/>
          </a:prstGeom>
          <a:noFill/>
        </p:spPr>
        <p:txBody>
          <a:bodyPr wrap="square" rtlCol="0" anchor="ctr"/>
          <a:lstStyle/>
          <a:p>
            <a:pPr marL="0" indent="0" algn="r">
              <a:buNone/>
            </a:pPr>
            <a:r>
              <a:rPr lang="en-US" sz="900" dirty="0">
                <a:solidFill>
                  <a:srgbClr val="6B7684"/>
                </a:solidFill>
                <a:latin typeface="Arial" panose="020B0604020202020204" pitchFamily="34" charset="0"/>
                <a:ea typeface="Arial" panose="020B0604020202020204" pitchFamily="34" charset="-122"/>
                <a:cs typeface="Arial" panose="020B0604020202020204"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0" cy="274320"/>
          </a:xfrm>
          <a:prstGeom prst="rect">
            <a:avLst/>
          </a:prstGeom>
          <a:noFill/>
        </p:spPr>
        <p:txBody>
          <a:bodyPr wrap="square" rtlCol="0" anchor="ctr"/>
          <a:lstStyle/>
          <a:p>
            <a:pPr marL="0" indent="0">
              <a:buNone/>
            </a:pPr>
            <a:r>
              <a:rPr lang="en-US" b="1" kern="0" spc="200" dirty="0">
                <a:solidFill>
                  <a:srgbClr val="2F6FED"/>
                </a:solidFill>
                <a:latin typeface="Arial" panose="020B0604020202020204" pitchFamily="34" charset="0"/>
                <a:ea typeface="Arial" panose="020B0604020202020204" pitchFamily="34" charset="-122"/>
                <a:cs typeface="Arial" panose="020B0604020202020204" pitchFamily="34" charset="-120"/>
              </a:rPr>
              <a:t>REQUIREMENTS</a:t>
            </a:r>
            <a:endParaRPr lang="en-US" dirty="0"/>
          </a:p>
        </p:txBody>
      </p:sp>
      <p:sp>
        <p:nvSpPr>
          <p:cNvPr id="3" name="Text 1"/>
          <p:cNvSpPr/>
          <p:nvPr/>
        </p:nvSpPr>
        <p:spPr>
          <a:xfrm>
            <a:off x="640080" y="685800"/>
            <a:ext cx="10515600" cy="640080"/>
          </a:xfrm>
          <a:prstGeom prst="rect">
            <a:avLst/>
          </a:prstGeom>
          <a:noFill/>
        </p:spPr>
        <p:txBody>
          <a:bodyPr wrap="square" rtlCol="0" anchor="ctr"/>
          <a:lstStyle/>
          <a:p>
            <a:pPr marL="0" indent="0">
              <a:buNone/>
            </a:pPr>
            <a:r>
              <a:rPr lang="en-US" sz="3000" b="1" dirty="0">
                <a:solidFill>
                  <a:srgbClr val="0B1F3A"/>
                </a:solidFill>
                <a:latin typeface="Arial" panose="020B0604020202020204" pitchFamily="34" charset="0"/>
                <a:ea typeface="Arial" panose="020B0604020202020204" pitchFamily="34" charset="-122"/>
                <a:cs typeface="Arial" panose="020B0604020202020204" pitchFamily="34" charset="-120"/>
              </a:rPr>
              <a:t>Non-Functional Requirements</a:t>
            </a:r>
            <a:endParaRPr lang="en-US" sz="3000" dirty="0"/>
          </a:p>
        </p:txBody>
      </p:sp>
      <p:sp>
        <p:nvSpPr>
          <p:cNvPr id="4" name="Shape 2"/>
          <p:cNvSpPr/>
          <p:nvPr/>
        </p:nvSpPr>
        <p:spPr>
          <a:xfrm>
            <a:off x="640080" y="1554480"/>
            <a:ext cx="5120640" cy="1298448"/>
          </a:xfrm>
          <a:prstGeom prst="roundRect">
            <a:avLst>
              <a:gd name="adj" fmla="val 5634"/>
            </a:avLst>
          </a:prstGeom>
          <a:solidFill>
            <a:srgbClr val="F2F4F7"/>
          </a:solidFill>
        </p:spPr>
      </p:sp>
      <p:sp>
        <p:nvSpPr>
          <p:cNvPr id="5" name="Shape 3"/>
          <p:cNvSpPr/>
          <p:nvPr/>
        </p:nvSpPr>
        <p:spPr>
          <a:xfrm>
            <a:off x="841248" y="1755648"/>
            <a:ext cx="566928" cy="566928"/>
          </a:xfrm>
          <a:prstGeom prst="ellipse">
            <a:avLst/>
          </a:prstGeom>
          <a:solidFill>
            <a:srgbClr val="2F6FED"/>
          </a:solidFill>
        </p:spPr>
      </p:sp>
      <p:pic>
        <p:nvPicPr>
          <p:cNvPr id="6" name="Image 0" descr="icons/mobileAlt_white.png"/>
          <p:cNvPicPr>
            <a:picLocks noChangeAspect="1"/>
          </p:cNvPicPr>
          <p:nvPr/>
        </p:nvPicPr>
        <p:blipFill>
          <a:blip r:embed="rId1"/>
          <a:stretch>
            <a:fillRect/>
          </a:stretch>
        </p:blipFill>
        <p:spPr>
          <a:xfrm>
            <a:off x="994319" y="1908719"/>
            <a:ext cx="260787" cy="260787"/>
          </a:xfrm>
          <a:prstGeom prst="rect">
            <a:avLst/>
          </a:prstGeom>
        </p:spPr>
      </p:pic>
      <p:sp>
        <p:nvSpPr>
          <p:cNvPr id="7" name="Text 4"/>
          <p:cNvSpPr/>
          <p:nvPr/>
        </p:nvSpPr>
        <p:spPr>
          <a:xfrm>
            <a:off x="1600200" y="1737360"/>
            <a:ext cx="3977640" cy="365760"/>
          </a:xfrm>
          <a:prstGeom prst="rect">
            <a:avLst/>
          </a:prstGeom>
          <a:noFill/>
        </p:spPr>
        <p:txBody>
          <a:bodyPr wrap="square" rtlCol="0" anchor="ctr"/>
          <a:lstStyle/>
          <a:p>
            <a:pPr marL="0" indent="0">
              <a:buNone/>
            </a:pPr>
            <a:r>
              <a:rPr lang="en-US" b="1" dirty="0">
                <a:solidFill>
                  <a:srgbClr val="0B1F3A"/>
                </a:solidFill>
                <a:latin typeface="Arial" panose="020B0604020202020204" pitchFamily="34" charset="0"/>
                <a:ea typeface="Arial" panose="020B0604020202020204" pitchFamily="34" charset="-122"/>
                <a:cs typeface="Arial" panose="020B0604020202020204" pitchFamily="34" charset="-120"/>
              </a:rPr>
              <a:t>Mobile-first, accessible UI</a:t>
            </a:r>
            <a:endParaRPr lang="en-US" b="1" dirty="0">
              <a:solidFill>
                <a:srgbClr val="0B1F3A"/>
              </a:solidFill>
              <a:latin typeface="Arial" panose="020B0604020202020204" pitchFamily="34" charset="0"/>
              <a:ea typeface="Arial" panose="020B0604020202020204" pitchFamily="34" charset="-122"/>
              <a:cs typeface="Arial" panose="020B0604020202020204" pitchFamily="34" charset="-120"/>
            </a:endParaRPr>
          </a:p>
        </p:txBody>
      </p:sp>
      <p:sp>
        <p:nvSpPr>
          <p:cNvPr id="8" name="Text 5"/>
          <p:cNvSpPr/>
          <p:nvPr/>
        </p:nvSpPr>
        <p:spPr>
          <a:xfrm>
            <a:off x="1600200" y="2121408"/>
            <a:ext cx="3977640" cy="594360"/>
          </a:xfrm>
          <a:prstGeom prst="rect">
            <a:avLst/>
          </a:prstGeom>
          <a:noFill/>
        </p:spPr>
        <p:txBody>
          <a:bodyPr wrap="square" rtlCol="0" anchor="t"/>
          <a:lstStyle/>
          <a:p>
            <a:pPr marL="0" indent="0">
              <a:lnSpc>
                <a:spcPct val="115000"/>
              </a:lnSpc>
              <a:buNone/>
            </a:pPr>
            <a:r>
              <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rPr>
              <a:t>Available in English, Sinhala, and Tamil.</a:t>
            </a:r>
            <a:endParaRPr lang="en-US" sz="1600" dirty="0"/>
          </a:p>
        </p:txBody>
      </p:sp>
      <p:sp>
        <p:nvSpPr>
          <p:cNvPr id="9" name="Shape 6"/>
          <p:cNvSpPr/>
          <p:nvPr/>
        </p:nvSpPr>
        <p:spPr>
          <a:xfrm>
            <a:off x="640080" y="3035808"/>
            <a:ext cx="5120640" cy="1298448"/>
          </a:xfrm>
          <a:prstGeom prst="roundRect">
            <a:avLst>
              <a:gd name="adj" fmla="val 5634"/>
            </a:avLst>
          </a:prstGeom>
          <a:solidFill>
            <a:srgbClr val="F2F4F7"/>
          </a:solidFill>
        </p:spPr>
      </p:sp>
      <p:sp>
        <p:nvSpPr>
          <p:cNvPr id="10" name="Shape 7"/>
          <p:cNvSpPr/>
          <p:nvPr/>
        </p:nvSpPr>
        <p:spPr>
          <a:xfrm>
            <a:off x="841248" y="3236976"/>
            <a:ext cx="566928" cy="566928"/>
          </a:xfrm>
          <a:prstGeom prst="ellipse">
            <a:avLst/>
          </a:prstGeom>
          <a:solidFill>
            <a:srgbClr val="2F6FED"/>
          </a:solidFill>
        </p:spPr>
      </p:sp>
      <p:pic>
        <p:nvPicPr>
          <p:cNvPr id="11" name="Image 1" descr="icons/shieldAlt_white.png"/>
          <p:cNvPicPr>
            <a:picLocks noChangeAspect="1"/>
          </p:cNvPicPr>
          <p:nvPr/>
        </p:nvPicPr>
        <p:blipFill>
          <a:blip r:embed="rId2"/>
          <a:stretch>
            <a:fillRect/>
          </a:stretch>
        </p:blipFill>
        <p:spPr>
          <a:xfrm>
            <a:off x="994319" y="3390047"/>
            <a:ext cx="260787" cy="260787"/>
          </a:xfrm>
          <a:prstGeom prst="rect">
            <a:avLst/>
          </a:prstGeom>
        </p:spPr>
      </p:pic>
      <p:sp>
        <p:nvSpPr>
          <p:cNvPr id="12" name="Text 8"/>
          <p:cNvSpPr/>
          <p:nvPr/>
        </p:nvSpPr>
        <p:spPr>
          <a:xfrm>
            <a:off x="1600200" y="3218688"/>
            <a:ext cx="3977640" cy="365760"/>
          </a:xfrm>
          <a:prstGeom prst="rect">
            <a:avLst/>
          </a:prstGeom>
          <a:noFill/>
        </p:spPr>
        <p:txBody>
          <a:bodyPr wrap="square" rtlCol="0" anchor="ctr"/>
          <a:lstStyle/>
          <a:p>
            <a:pPr marL="0" indent="0">
              <a:buNone/>
            </a:pPr>
            <a:r>
              <a:rPr lang="en-US" b="1" dirty="0">
                <a:solidFill>
                  <a:srgbClr val="0B1F3A"/>
                </a:solidFill>
                <a:latin typeface="Arial" panose="020B0604020202020204" pitchFamily="34" charset="0"/>
                <a:ea typeface="Arial" panose="020B0604020202020204" pitchFamily="34" charset="-122"/>
                <a:cs typeface="Arial" panose="020B0604020202020204" pitchFamily="34" charset="-120"/>
              </a:rPr>
              <a:t>Secure role-based access</a:t>
            </a:r>
            <a:endParaRPr lang="en-US" dirty="0"/>
          </a:p>
        </p:txBody>
      </p:sp>
      <p:sp>
        <p:nvSpPr>
          <p:cNvPr id="13" name="Text 9"/>
          <p:cNvSpPr/>
          <p:nvPr/>
        </p:nvSpPr>
        <p:spPr>
          <a:xfrm>
            <a:off x="1600200" y="3602736"/>
            <a:ext cx="3977640" cy="594360"/>
          </a:xfrm>
          <a:prstGeom prst="rect">
            <a:avLst/>
          </a:prstGeom>
          <a:noFill/>
        </p:spPr>
        <p:txBody>
          <a:bodyPr wrap="square" rtlCol="0" anchor="t"/>
          <a:lstStyle/>
          <a:p>
            <a:pPr marL="0" indent="0">
              <a:lnSpc>
                <a:spcPct val="115000"/>
              </a:lnSpc>
              <a:buNone/>
            </a:pPr>
            <a:r>
              <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rPr>
              <a:t>Protects customer and payment data at every level.</a:t>
            </a:r>
            <a:endPar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endParaRPr>
          </a:p>
        </p:txBody>
      </p:sp>
      <p:sp>
        <p:nvSpPr>
          <p:cNvPr id="14" name="Shape 10"/>
          <p:cNvSpPr/>
          <p:nvPr/>
        </p:nvSpPr>
        <p:spPr>
          <a:xfrm>
            <a:off x="640080" y="4517136"/>
            <a:ext cx="5120640" cy="1298448"/>
          </a:xfrm>
          <a:prstGeom prst="roundRect">
            <a:avLst>
              <a:gd name="adj" fmla="val 5634"/>
            </a:avLst>
          </a:prstGeom>
          <a:solidFill>
            <a:srgbClr val="F2F4F7"/>
          </a:solidFill>
        </p:spPr>
      </p:sp>
      <p:sp>
        <p:nvSpPr>
          <p:cNvPr id="15" name="Shape 11"/>
          <p:cNvSpPr/>
          <p:nvPr/>
        </p:nvSpPr>
        <p:spPr>
          <a:xfrm>
            <a:off x="841248" y="4718304"/>
            <a:ext cx="566928" cy="566928"/>
          </a:xfrm>
          <a:prstGeom prst="ellipse">
            <a:avLst/>
          </a:prstGeom>
          <a:solidFill>
            <a:srgbClr val="2F6FED"/>
          </a:solidFill>
        </p:spPr>
      </p:sp>
      <p:pic>
        <p:nvPicPr>
          <p:cNvPr id="16" name="Image 2" descr="icons/clipboardList_white.png"/>
          <p:cNvPicPr>
            <a:picLocks noChangeAspect="1"/>
          </p:cNvPicPr>
          <p:nvPr/>
        </p:nvPicPr>
        <p:blipFill>
          <a:blip r:embed="rId3"/>
          <a:stretch>
            <a:fillRect/>
          </a:stretch>
        </p:blipFill>
        <p:spPr>
          <a:xfrm>
            <a:off x="994319" y="4871375"/>
            <a:ext cx="260787" cy="260787"/>
          </a:xfrm>
          <a:prstGeom prst="rect">
            <a:avLst/>
          </a:prstGeom>
        </p:spPr>
      </p:pic>
      <p:sp>
        <p:nvSpPr>
          <p:cNvPr id="17" name="Text 12"/>
          <p:cNvSpPr/>
          <p:nvPr/>
        </p:nvSpPr>
        <p:spPr>
          <a:xfrm>
            <a:off x="1600200" y="4700016"/>
            <a:ext cx="3977640" cy="365760"/>
          </a:xfrm>
          <a:prstGeom prst="rect">
            <a:avLst/>
          </a:prstGeom>
          <a:noFill/>
        </p:spPr>
        <p:txBody>
          <a:bodyPr wrap="square" rtlCol="0" anchor="ctr"/>
          <a:lstStyle/>
          <a:p>
            <a:pPr marL="0" indent="0">
              <a:buNone/>
            </a:pPr>
            <a:r>
              <a:rPr lang="en-US" b="1" dirty="0">
                <a:solidFill>
                  <a:srgbClr val="0B1F3A"/>
                </a:solidFill>
                <a:latin typeface="Arial" panose="020B0604020202020204" pitchFamily="34" charset="0"/>
                <a:ea typeface="Arial" panose="020B0604020202020204" pitchFamily="34" charset="-122"/>
                <a:cs typeface="Arial" panose="020B0604020202020204" pitchFamily="34" charset="-120"/>
              </a:rPr>
              <a:t>Full audit trail</a:t>
            </a:r>
            <a:endParaRPr lang="en-US" b="1" dirty="0">
              <a:solidFill>
                <a:srgbClr val="0B1F3A"/>
              </a:solidFill>
              <a:latin typeface="Arial" panose="020B0604020202020204" pitchFamily="34" charset="0"/>
              <a:ea typeface="Arial" panose="020B0604020202020204" pitchFamily="34" charset="-122"/>
              <a:cs typeface="Arial" panose="020B0604020202020204" pitchFamily="34" charset="-120"/>
            </a:endParaRPr>
          </a:p>
        </p:txBody>
      </p:sp>
      <p:sp>
        <p:nvSpPr>
          <p:cNvPr id="18" name="Text 13"/>
          <p:cNvSpPr/>
          <p:nvPr/>
        </p:nvSpPr>
        <p:spPr>
          <a:xfrm>
            <a:off x="1600200" y="5084064"/>
            <a:ext cx="3977640" cy="594360"/>
          </a:xfrm>
          <a:prstGeom prst="rect">
            <a:avLst/>
          </a:prstGeom>
          <a:noFill/>
        </p:spPr>
        <p:txBody>
          <a:bodyPr wrap="square" rtlCol="0" anchor="t"/>
          <a:lstStyle/>
          <a:p>
            <a:pPr marL="0" indent="0">
              <a:lnSpc>
                <a:spcPct val="115000"/>
              </a:lnSpc>
              <a:buNone/>
            </a:pPr>
            <a:r>
              <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rPr>
              <a:t>Logs user, action, date/time, old value, and new value.</a:t>
            </a:r>
            <a:endParaRPr lang="en-US" sz="1600" dirty="0"/>
          </a:p>
        </p:txBody>
      </p:sp>
      <p:sp>
        <p:nvSpPr>
          <p:cNvPr id="19" name="Shape 14"/>
          <p:cNvSpPr/>
          <p:nvPr/>
        </p:nvSpPr>
        <p:spPr>
          <a:xfrm>
            <a:off x="6080760" y="1554480"/>
            <a:ext cx="5120640" cy="1298448"/>
          </a:xfrm>
          <a:prstGeom prst="roundRect">
            <a:avLst>
              <a:gd name="adj" fmla="val 5634"/>
            </a:avLst>
          </a:prstGeom>
          <a:solidFill>
            <a:srgbClr val="F2F4F7"/>
          </a:solidFill>
        </p:spPr>
      </p:sp>
      <p:sp>
        <p:nvSpPr>
          <p:cNvPr id="20" name="Shape 15"/>
          <p:cNvSpPr/>
          <p:nvPr/>
        </p:nvSpPr>
        <p:spPr>
          <a:xfrm>
            <a:off x="6281928" y="1755648"/>
            <a:ext cx="566928" cy="566928"/>
          </a:xfrm>
          <a:prstGeom prst="ellipse">
            <a:avLst/>
          </a:prstGeom>
          <a:solidFill>
            <a:srgbClr val="2F6FED"/>
          </a:solidFill>
        </p:spPr>
      </p:sp>
      <p:pic>
        <p:nvPicPr>
          <p:cNvPr id="21" name="Image 3" descr="icons/clock_white.png"/>
          <p:cNvPicPr>
            <a:picLocks noChangeAspect="1"/>
          </p:cNvPicPr>
          <p:nvPr/>
        </p:nvPicPr>
        <p:blipFill>
          <a:blip r:embed="rId4"/>
          <a:stretch>
            <a:fillRect/>
          </a:stretch>
        </p:blipFill>
        <p:spPr>
          <a:xfrm>
            <a:off x="6434999" y="1908719"/>
            <a:ext cx="260787" cy="260787"/>
          </a:xfrm>
          <a:prstGeom prst="rect">
            <a:avLst/>
          </a:prstGeom>
        </p:spPr>
      </p:pic>
      <p:sp>
        <p:nvSpPr>
          <p:cNvPr id="22" name="Text 16"/>
          <p:cNvSpPr/>
          <p:nvPr/>
        </p:nvSpPr>
        <p:spPr>
          <a:xfrm>
            <a:off x="7040880" y="1737360"/>
            <a:ext cx="3977640" cy="365760"/>
          </a:xfrm>
          <a:prstGeom prst="rect">
            <a:avLst/>
          </a:prstGeom>
          <a:noFill/>
        </p:spPr>
        <p:txBody>
          <a:bodyPr wrap="square" rtlCol="0" anchor="ctr"/>
          <a:lstStyle/>
          <a:p>
            <a:pPr marL="0" indent="0">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Performance targets</a:t>
            </a:r>
            <a:endPar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endParaRPr>
          </a:p>
        </p:txBody>
      </p:sp>
      <p:sp>
        <p:nvSpPr>
          <p:cNvPr id="23" name="Text 17"/>
          <p:cNvSpPr/>
          <p:nvPr/>
        </p:nvSpPr>
        <p:spPr>
          <a:xfrm>
            <a:off x="7040880" y="2121408"/>
            <a:ext cx="3977640" cy="594360"/>
          </a:xfrm>
          <a:prstGeom prst="rect">
            <a:avLst/>
          </a:prstGeom>
          <a:noFill/>
        </p:spPr>
        <p:txBody>
          <a:bodyPr wrap="square" rtlCol="0" anchor="t"/>
          <a:lstStyle/>
          <a:p>
            <a:pPr marL="0" indent="0">
              <a:lnSpc>
                <a:spcPct val="115000"/>
              </a:lnSpc>
              <a:buNone/>
            </a:pPr>
            <a:r>
              <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rPr>
              <a:t>Search under 3s; booking completes under 10s after payment.</a:t>
            </a:r>
            <a:endPar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endParaRPr>
          </a:p>
        </p:txBody>
      </p:sp>
      <p:sp>
        <p:nvSpPr>
          <p:cNvPr id="24" name="Shape 18"/>
          <p:cNvSpPr/>
          <p:nvPr/>
        </p:nvSpPr>
        <p:spPr>
          <a:xfrm>
            <a:off x="6080760" y="3035808"/>
            <a:ext cx="5120640" cy="1298448"/>
          </a:xfrm>
          <a:prstGeom prst="roundRect">
            <a:avLst>
              <a:gd name="adj" fmla="val 5634"/>
            </a:avLst>
          </a:prstGeom>
          <a:solidFill>
            <a:srgbClr val="F2F4F7"/>
          </a:solidFill>
        </p:spPr>
      </p:sp>
      <p:sp>
        <p:nvSpPr>
          <p:cNvPr id="25" name="Shape 19"/>
          <p:cNvSpPr/>
          <p:nvPr/>
        </p:nvSpPr>
        <p:spPr>
          <a:xfrm>
            <a:off x="6281928" y="3236976"/>
            <a:ext cx="566928" cy="566928"/>
          </a:xfrm>
          <a:prstGeom prst="ellipse">
            <a:avLst/>
          </a:prstGeom>
          <a:solidFill>
            <a:srgbClr val="2F6FED"/>
          </a:solidFill>
        </p:spPr>
      </p:sp>
      <p:pic>
        <p:nvPicPr>
          <p:cNvPr id="26" name="Image 4" descr="icons/database_white.png"/>
          <p:cNvPicPr>
            <a:picLocks noChangeAspect="1"/>
          </p:cNvPicPr>
          <p:nvPr/>
        </p:nvPicPr>
        <p:blipFill>
          <a:blip r:embed="rId5"/>
          <a:stretch>
            <a:fillRect/>
          </a:stretch>
        </p:blipFill>
        <p:spPr>
          <a:xfrm>
            <a:off x="6434999" y="3390047"/>
            <a:ext cx="260787" cy="260787"/>
          </a:xfrm>
          <a:prstGeom prst="rect">
            <a:avLst/>
          </a:prstGeom>
        </p:spPr>
      </p:pic>
      <p:sp>
        <p:nvSpPr>
          <p:cNvPr id="27" name="Text 20"/>
          <p:cNvSpPr/>
          <p:nvPr/>
        </p:nvSpPr>
        <p:spPr>
          <a:xfrm>
            <a:off x="7040880" y="3218688"/>
            <a:ext cx="3977640" cy="365760"/>
          </a:xfrm>
          <a:prstGeom prst="rect">
            <a:avLst/>
          </a:prstGeom>
          <a:noFill/>
        </p:spPr>
        <p:txBody>
          <a:bodyPr wrap="square" rtlCol="0" anchor="ctr"/>
          <a:lstStyle/>
          <a:p>
            <a:pPr marL="0" indent="0">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99.5% uptime</a:t>
            </a:r>
            <a:endPar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endParaRPr>
          </a:p>
        </p:txBody>
      </p:sp>
      <p:sp>
        <p:nvSpPr>
          <p:cNvPr id="28" name="Text 21"/>
          <p:cNvSpPr/>
          <p:nvPr/>
        </p:nvSpPr>
        <p:spPr>
          <a:xfrm>
            <a:off x="7040880" y="3602736"/>
            <a:ext cx="3977640" cy="594360"/>
          </a:xfrm>
          <a:prstGeom prst="rect">
            <a:avLst/>
          </a:prstGeom>
          <a:noFill/>
        </p:spPr>
        <p:txBody>
          <a:bodyPr wrap="square" rtlCol="0" anchor="t"/>
          <a:lstStyle/>
          <a:p>
            <a:pPr marL="0" indent="0">
              <a:lnSpc>
                <a:spcPct val="115000"/>
              </a:lnSpc>
              <a:buNone/>
            </a:pPr>
            <a:r>
              <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rPr>
              <a:t>Backed by scheduled backup and recovery support</a:t>
            </a:r>
            <a:r>
              <a:rPr lang="en-US" sz="1050" dirty="0">
                <a:solidFill>
                  <a:srgbClr val="4A5563"/>
                </a:solidFill>
                <a:latin typeface="Arial" panose="020B0604020202020204" pitchFamily="34" charset="0"/>
                <a:ea typeface="Arial" panose="020B0604020202020204" pitchFamily="34" charset="-122"/>
                <a:cs typeface="Arial" panose="020B0604020202020204" pitchFamily="34" charset="-120"/>
              </a:rPr>
              <a:t>.</a:t>
            </a:r>
            <a:endParaRPr lang="en-US" sz="1050" dirty="0"/>
          </a:p>
        </p:txBody>
      </p:sp>
      <p:sp>
        <p:nvSpPr>
          <p:cNvPr id="29" name="Shape 22"/>
          <p:cNvSpPr/>
          <p:nvPr/>
        </p:nvSpPr>
        <p:spPr>
          <a:xfrm>
            <a:off x="6080760" y="4517136"/>
            <a:ext cx="5120640" cy="1298448"/>
          </a:xfrm>
          <a:prstGeom prst="roundRect">
            <a:avLst>
              <a:gd name="adj" fmla="val 5634"/>
            </a:avLst>
          </a:prstGeom>
          <a:solidFill>
            <a:srgbClr val="F2F4F7"/>
          </a:solidFill>
        </p:spPr>
      </p:sp>
      <p:sp>
        <p:nvSpPr>
          <p:cNvPr id="30" name="Shape 23"/>
          <p:cNvSpPr/>
          <p:nvPr/>
        </p:nvSpPr>
        <p:spPr>
          <a:xfrm>
            <a:off x="6281928" y="4718304"/>
            <a:ext cx="566928" cy="566928"/>
          </a:xfrm>
          <a:prstGeom prst="ellipse">
            <a:avLst/>
          </a:prstGeom>
          <a:solidFill>
            <a:srgbClr val="2F6FED"/>
          </a:solidFill>
        </p:spPr>
      </p:sp>
      <p:pic>
        <p:nvPicPr>
          <p:cNvPr id="31" name="Image 5" descr="icons/chartBar_white.png"/>
          <p:cNvPicPr>
            <a:picLocks noChangeAspect="1"/>
          </p:cNvPicPr>
          <p:nvPr/>
        </p:nvPicPr>
        <p:blipFill>
          <a:blip r:embed="rId6"/>
          <a:stretch>
            <a:fillRect/>
          </a:stretch>
        </p:blipFill>
        <p:spPr>
          <a:xfrm>
            <a:off x="6434999" y="4871375"/>
            <a:ext cx="260787" cy="260787"/>
          </a:xfrm>
          <a:prstGeom prst="rect">
            <a:avLst/>
          </a:prstGeom>
        </p:spPr>
      </p:pic>
      <p:sp>
        <p:nvSpPr>
          <p:cNvPr id="32" name="Text 24"/>
          <p:cNvSpPr/>
          <p:nvPr/>
        </p:nvSpPr>
        <p:spPr>
          <a:xfrm>
            <a:off x="7040880" y="4700016"/>
            <a:ext cx="3977640" cy="365760"/>
          </a:xfrm>
          <a:prstGeom prst="rect">
            <a:avLst/>
          </a:prstGeom>
          <a:noFill/>
        </p:spPr>
        <p:txBody>
          <a:bodyPr wrap="square" rtlCol="0" anchor="ctr"/>
          <a:lstStyle/>
          <a:p>
            <a:pPr marL="0" indent="0">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Built to scale</a:t>
            </a:r>
            <a:endPar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endParaRPr>
          </a:p>
        </p:txBody>
      </p:sp>
      <p:sp>
        <p:nvSpPr>
          <p:cNvPr id="33" name="Text 25"/>
          <p:cNvSpPr/>
          <p:nvPr/>
        </p:nvSpPr>
        <p:spPr>
          <a:xfrm>
            <a:off x="7040880" y="5084064"/>
            <a:ext cx="3977640" cy="594360"/>
          </a:xfrm>
          <a:prstGeom prst="rect">
            <a:avLst/>
          </a:prstGeom>
          <a:noFill/>
        </p:spPr>
        <p:txBody>
          <a:bodyPr wrap="square" rtlCol="0" anchor="t"/>
          <a:lstStyle/>
          <a:p>
            <a:pPr marL="0" indent="0">
              <a:lnSpc>
                <a:spcPct val="115000"/>
              </a:lnSpc>
              <a:buNone/>
            </a:pPr>
            <a:r>
              <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rPr>
              <a:t>Reliable, scalable, and easy-to-use web application.</a:t>
            </a:r>
            <a:endPar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endParaRPr>
          </a:p>
        </p:txBody>
      </p:sp>
      <p:sp>
        <p:nvSpPr>
          <p:cNvPr id="34" name="Text 26"/>
          <p:cNvSpPr/>
          <p:nvPr/>
        </p:nvSpPr>
        <p:spPr>
          <a:xfrm>
            <a:off x="11503152" y="6400800"/>
            <a:ext cx="457200" cy="274320"/>
          </a:xfrm>
          <a:prstGeom prst="rect">
            <a:avLst/>
          </a:prstGeom>
          <a:noFill/>
        </p:spPr>
        <p:txBody>
          <a:bodyPr wrap="square" rtlCol="0" anchor="ctr"/>
          <a:lstStyle/>
          <a:p>
            <a:pPr marL="0" indent="0" algn="r">
              <a:buNone/>
            </a:pPr>
            <a:r>
              <a:rPr lang="en-US" sz="900" dirty="0">
                <a:solidFill>
                  <a:srgbClr val="6B7684"/>
                </a:solidFill>
                <a:latin typeface="Arial" panose="020B0604020202020204" pitchFamily="34" charset="0"/>
                <a:ea typeface="Arial" panose="020B0604020202020204" pitchFamily="34" charset="-122"/>
                <a:cs typeface="Arial" panose="020B0604020202020204"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0" cy="274320"/>
          </a:xfrm>
          <a:prstGeom prst="rect">
            <a:avLst/>
          </a:prstGeom>
          <a:noFill/>
        </p:spPr>
        <p:txBody>
          <a:bodyPr wrap="square" rtlCol="0" anchor="ctr"/>
          <a:lstStyle/>
          <a:p>
            <a:pPr marL="0" indent="0">
              <a:buNone/>
            </a:pPr>
            <a:r>
              <a:rPr lang="en-US" b="1" kern="0" spc="200" dirty="0">
                <a:solidFill>
                  <a:srgbClr val="2F6FED"/>
                </a:solidFill>
                <a:latin typeface="Arial" panose="020B0604020202020204" pitchFamily="34" charset="0"/>
                <a:ea typeface="Arial" panose="020B0604020202020204" pitchFamily="34" charset="-122"/>
                <a:cs typeface="Arial" panose="020B0604020202020204" pitchFamily="34" charset="-120"/>
              </a:rPr>
              <a:t>PEOPLE</a:t>
            </a:r>
            <a:endParaRPr lang="en-US" dirty="0"/>
          </a:p>
        </p:txBody>
      </p:sp>
      <p:sp>
        <p:nvSpPr>
          <p:cNvPr id="3" name="Text 1"/>
          <p:cNvSpPr/>
          <p:nvPr/>
        </p:nvSpPr>
        <p:spPr>
          <a:xfrm>
            <a:off x="640080" y="685800"/>
            <a:ext cx="10515600" cy="640080"/>
          </a:xfrm>
          <a:prstGeom prst="rect">
            <a:avLst/>
          </a:prstGeom>
          <a:noFill/>
        </p:spPr>
        <p:txBody>
          <a:bodyPr wrap="square" rtlCol="0" anchor="ctr"/>
          <a:lstStyle/>
          <a:p>
            <a:pPr marL="0" indent="0">
              <a:buNone/>
            </a:pPr>
            <a:r>
              <a:rPr lang="en-US" sz="3000" b="1" dirty="0">
                <a:solidFill>
                  <a:srgbClr val="0B1F3A"/>
                </a:solidFill>
                <a:latin typeface="Arial" panose="020B0604020202020204" pitchFamily="34" charset="0"/>
                <a:ea typeface="Arial" panose="020B0604020202020204" pitchFamily="34" charset="-122"/>
                <a:cs typeface="Arial" panose="020B0604020202020204" pitchFamily="34" charset="-120"/>
              </a:rPr>
              <a:t>Stakeholders &amp; Users</a:t>
            </a:r>
            <a:endParaRPr lang="en-US" sz="3000" dirty="0"/>
          </a:p>
        </p:txBody>
      </p:sp>
      <p:sp>
        <p:nvSpPr>
          <p:cNvPr id="4" name="Text 2"/>
          <p:cNvSpPr/>
          <p:nvPr/>
        </p:nvSpPr>
        <p:spPr>
          <a:xfrm>
            <a:off x="640080" y="1371600"/>
            <a:ext cx="4572000" cy="274320"/>
          </a:xfrm>
          <a:prstGeom prst="rect">
            <a:avLst/>
          </a:prstGeom>
          <a:noFill/>
        </p:spPr>
        <p:txBody>
          <a:bodyPr wrap="square" rtlCol="0" anchor="ctr"/>
          <a:lstStyle/>
          <a:p>
            <a:pPr marL="0" indent="0">
              <a:buNone/>
            </a:pPr>
            <a:r>
              <a:rPr lang="en-US" b="1" kern="0" spc="150" dirty="0">
                <a:solidFill>
                  <a:srgbClr val="6B7684"/>
                </a:solidFill>
                <a:latin typeface="Arial" panose="020B0604020202020204" pitchFamily="34" charset="0"/>
                <a:ea typeface="Arial" panose="020B0604020202020204" pitchFamily="34" charset="-122"/>
                <a:cs typeface="Arial" panose="020B0604020202020204" pitchFamily="34" charset="-120"/>
              </a:rPr>
              <a:t>INTERNAL USERS</a:t>
            </a:r>
            <a:endParaRPr lang="en-US" dirty="0"/>
          </a:p>
        </p:txBody>
      </p:sp>
      <p:sp>
        <p:nvSpPr>
          <p:cNvPr id="5" name="Shape 3"/>
          <p:cNvSpPr/>
          <p:nvPr/>
        </p:nvSpPr>
        <p:spPr>
          <a:xfrm>
            <a:off x="640080" y="1755648"/>
            <a:ext cx="2587752" cy="777240"/>
          </a:xfrm>
          <a:prstGeom prst="roundRect">
            <a:avLst>
              <a:gd name="adj" fmla="val 8235"/>
            </a:avLst>
          </a:prstGeom>
          <a:solidFill>
            <a:srgbClr val="F2F4F7"/>
          </a:solidFill>
        </p:spPr>
      </p:sp>
      <p:pic>
        <p:nvPicPr>
          <p:cNvPr id="6" name="Image 0" descr="icons/userCircle_navy.png"/>
          <p:cNvPicPr>
            <a:picLocks noChangeAspect="1"/>
          </p:cNvPicPr>
          <p:nvPr/>
        </p:nvPicPr>
        <p:blipFill>
          <a:blip r:embed="rId1"/>
          <a:stretch>
            <a:fillRect/>
          </a:stretch>
        </p:blipFill>
        <p:spPr>
          <a:xfrm>
            <a:off x="777240" y="1892808"/>
            <a:ext cx="274320" cy="274320"/>
          </a:xfrm>
          <a:prstGeom prst="rect">
            <a:avLst/>
          </a:prstGeom>
        </p:spPr>
      </p:pic>
      <p:sp>
        <p:nvSpPr>
          <p:cNvPr id="7" name="Text 4"/>
          <p:cNvSpPr/>
          <p:nvPr/>
        </p:nvSpPr>
        <p:spPr>
          <a:xfrm>
            <a:off x="749808" y="2185416"/>
            <a:ext cx="2368296" cy="320040"/>
          </a:xfrm>
          <a:prstGeom prst="rect">
            <a:avLst/>
          </a:prstGeom>
          <a:noFill/>
        </p:spPr>
        <p:txBody>
          <a:bodyPr wrap="square" rtlCol="0" anchor="t"/>
          <a:lstStyle/>
          <a:p>
            <a:pPr marL="0" indent="0">
              <a:buNone/>
            </a:pPr>
            <a:r>
              <a:rPr lang="en-US" sz="1400" b="1" dirty="0">
                <a:solidFill>
                  <a:srgbClr val="0B1F3A"/>
                </a:solidFill>
                <a:latin typeface="Arial" panose="020B0604020202020204" pitchFamily="34" charset="0"/>
                <a:ea typeface="Arial" panose="020B0604020202020204" pitchFamily="34" charset="-122"/>
                <a:cs typeface="Arial" panose="020B0604020202020204" pitchFamily="34" charset="-120"/>
              </a:rPr>
              <a:t>Public visitors &amp; guest customers</a:t>
            </a:r>
            <a:endParaRPr lang="en-US" sz="1400" dirty="0"/>
          </a:p>
        </p:txBody>
      </p:sp>
      <p:sp>
        <p:nvSpPr>
          <p:cNvPr id="8" name="Shape 5"/>
          <p:cNvSpPr/>
          <p:nvPr/>
        </p:nvSpPr>
        <p:spPr>
          <a:xfrm>
            <a:off x="3337560" y="1755648"/>
            <a:ext cx="2587752" cy="777240"/>
          </a:xfrm>
          <a:prstGeom prst="roundRect">
            <a:avLst>
              <a:gd name="adj" fmla="val 8235"/>
            </a:avLst>
          </a:prstGeom>
          <a:solidFill>
            <a:srgbClr val="F2F4F7"/>
          </a:solidFill>
        </p:spPr>
      </p:sp>
      <p:pic>
        <p:nvPicPr>
          <p:cNvPr id="9" name="Image 1" descr="icons/users_navy.png"/>
          <p:cNvPicPr>
            <a:picLocks noChangeAspect="1"/>
          </p:cNvPicPr>
          <p:nvPr/>
        </p:nvPicPr>
        <p:blipFill>
          <a:blip r:embed="rId2"/>
          <a:stretch>
            <a:fillRect/>
          </a:stretch>
        </p:blipFill>
        <p:spPr>
          <a:xfrm>
            <a:off x="3474720" y="1892808"/>
            <a:ext cx="274320" cy="274320"/>
          </a:xfrm>
          <a:prstGeom prst="rect">
            <a:avLst/>
          </a:prstGeom>
        </p:spPr>
      </p:pic>
      <p:sp>
        <p:nvSpPr>
          <p:cNvPr id="10" name="Text 6"/>
          <p:cNvSpPr/>
          <p:nvPr/>
        </p:nvSpPr>
        <p:spPr>
          <a:xfrm>
            <a:off x="3447288" y="2185416"/>
            <a:ext cx="2368296" cy="320040"/>
          </a:xfrm>
          <a:prstGeom prst="rect">
            <a:avLst/>
          </a:prstGeom>
          <a:noFill/>
        </p:spPr>
        <p:txBody>
          <a:bodyPr wrap="square" rtlCol="0" anchor="t"/>
          <a:lstStyle/>
          <a:p>
            <a:pPr marL="0" indent="0">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Registered customers</a:t>
            </a:r>
            <a:endParaRPr lang="en-US" sz="1600" dirty="0"/>
          </a:p>
        </p:txBody>
      </p:sp>
      <p:sp>
        <p:nvSpPr>
          <p:cNvPr id="11" name="Shape 7"/>
          <p:cNvSpPr/>
          <p:nvPr/>
        </p:nvSpPr>
        <p:spPr>
          <a:xfrm>
            <a:off x="6035040" y="1755648"/>
            <a:ext cx="2587752" cy="777240"/>
          </a:xfrm>
          <a:prstGeom prst="roundRect">
            <a:avLst>
              <a:gd name="adj" fmla="val 8235"/>
            </a:avLst>
          </a:prstGeom>
          <a:solidFill>
            <a:srgbClr val="F2F4F7"/>
          </a:solidFill>
        </p:spPr>
      </p:sp>
      <p:pic>
        <p:nvPicPr>
          <p:cNvPr id="12" name="Image 2" descr="icons/headset_navy.png"/>
          <p:cNvPicPr>
            <a:picLocks noChangeAspect="1"/>
          </p:cNvPicPr>
          <p:nvPr/>
        </p:nvPicPr>
        <p:blipFill>
          <a:blip r:embed="rId3"/>
          <a:stretch>
            <a:fillRect/>
          </a:stretch>
        </p:blipFill>
        <p:spPr>
          <a:xfrm>
            <a:off x="6172200" y="1892808"/>
            <a:ext cx="274320" cy="274320"/>
          </a:xfrm>
          <a:prstGeom prst="rect">
            <a:avLst/>
          </a:prstGeom>
        </p:spPr>
      </p:pic>
      <p:sp>
        <p:nvSpPr>
          <p:cNvPr id="13" name="Text 8"/>
          <p:cNvSpPr/>
          <p:nvPr/>
        </p:nvSpPr>
        <p:spPr>
          <a:xfrm>
            <a:off x="6144768" y="2185416"/>
            <a:ext cx="2368296" cy="320040"/>
          </a:xfrm>
          <a:prstGeom prst="rect">
            <a:avLst/>
          </a:prstGeom>
          <a:noFill/>
        </p:spPr>
        <p:txBody>
          <a:bodyPr wrap="square" rtlCol="0" anchor="t"/>
          <a:lstStyle/>
          <a:p>
            <a:pPr marL="0" indent="0">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Customer Service Office</a:t>
            </a:r>
            <a:r>
              <a:rPr lang="en-US" sz="880" b="1" dirty="0">
                <a:solidFill>
                  <a:srgbClr val="0B1F3A"/>
                </a:solidFill>
                <a:latin typeface="Arial" panose="020B0604020202020204" pitchFamily="34" charset="0"/>
                <a:ea typeface="Arial" panose="020B0604020202020204" pitchFamily="34" charset="-122"/>
                <a:cs typeface="Arial" panose="020B0604020202020204" pitchFamily="34" charset="-120"/>
              </a:rPr>
              <a:t>r</a:t>
            </a:r>
            <a:endParaRPr lang="en-US" sz="880" dirty="0"/>
          </a:p>
        </p:txBody>
      </p:sp>
      <p:sp>
        <p:nvSpPr>
          <p:cNvPr id="14" name="Shape 9"/>
          <p:cNvSpPr/>
          <p:nvPr/>
        </p:nvSpPr>
        <p:spPr>
          <a:xfrm>
            <a:off x="8732520" y="1755648"/>
            <a:ext cx="2587752" cy="777240"/>
          </a:xfrm>
          <a:prstGeom prst="roundRect">
            <a:avLst>
              <a:gd name="adj" fmla="val 8235"/>
            </a:avLst>
          </a:prstGeom>
          <a:solidFill>
            <a:srgbClr val="F2F4F7"/>
          </a:solidFill>
        </p:spPr>
      </p:sp>
      <p:pic>
        <p:nvPicPr>
          <p:cNvPr id="15" name="Image 3" descr="icons/calendarCheck_navy.png"/>
          <p:cNvPicPr>
            <a:picLocks noChangeAspect="1"/>
          </p:cNvPicPr>
          <p:nvPr/>
        </p:nvPicPr>
        <p:blipFill>
          <a:blip r:embed="rId4"/>
          <a:stretch>
            <a:fillRect/>
          </a:stretch>
        </p:blipFill>
        <p:spPr>
          <a:xfrm>
            <a:off x="8869680" y="1892808"/>
            <a:ext cx="274320" cy="274320"/>
          </a:xfrm>
          <a:prstGeom prst="rect">
            <a:avLst/>
          </a:prstGeom>
        </p:spPr>
      </p:pic>
      <p:sp>
        <p:nvSpPr>
          <p:cNvPr id="16" name="Text 10"/>
          <p:cNvSpPr/>
          <p:nvPr/>
        </p:nvSpPr>
        <p:spPr>
          <a:xfrm>
            <a:off x="8842248" y="2185416"/>
            <a:ext cx="2368296" cy="320040"/>
          </a:xfrm>
          <a:prstGeom prst="rect">
            <a:avLst/>
          </a:prstGeom>
          <a:noFill/>
        </p:spPr>
        <p:txBody>
          <a:bodyPr wrap="square" rtlCol="0" anchor="t"/>
          <a:lstStyle/>
          <a:p>
            <a:pPr marL="0" indent="0">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Scheduling Officer</a:t>
            </a:r>
            <a:endParaRPr lang="en-US" sz="1600" dirty="0"/>
          </a:p>
        </p:txBody>
      </p:sp>
      <p:sp>
        <p:nvSpPr>
          <p:cNvPr id="17" name="Shape 11"/>
          <p:cNvSpPr/>
          <p:nvPr/>
        </p:nvSpPr>
        <p:spPr>
          <a:xfrm>
            <a:off x="640080" y="2660904"/>
            <a:ext cx="2587752" cy="777240"/>
          </a:xfrm>
          <a:prstGeom prst="roundRect">
            <a:avLst>
              <a:gd name="adj" fmla="val 8235"/>
            </a:avLst>
          </a:prstGeom>
          <a:solidFill>
            <a:srgbClr val="F2F4F7"/>
          </a:solidFill>
        </p:spPr>
      </p:sp>
      <p:pic>
        <p:nvPicPr>
          <p:cNvPr id="18" name="Image 4" descr="icons/fileInvoiceDollar_navy.png"/>
          <p:cNvPicPr>
            <a:picLocks noChangeAspect="1"/>
          </p:cNvPicPr>
          <p:nvPr/>
        </p:nvPicPr>
        <p:blipFill>
          <a:blip r:embed="rId5"/>
          <a:stretch>
            <a:fillRect/>
          </a:stretch>
        </p:blipFill>
        <p:spPr>
          <a:xfrm>
            <a:off x="777240" y="2798064"/>
            <a:ext cx="274320" cy="274320"/>
          </a:xfrm>
          <a:prstGeom prst="rect">
            <a:avLst/>
          </a:prstGeom>
        </p:spPr>
      </p:pic>
      <p:sp>
        <p:nvSpPr>
          <p:cNvPr id="19" name="Text 12"/>
          <p:cNvSpPr/>
          <p:nvPr/>
        </p:nvSpPr>
        <p:spPr>
          <a:xfrm>
            <a:off x="749808" y="3090672"/>
            <a:ext cx="2368296" cy="320040"/>
          </a:xfrm>
          <a:prstGeom prst="rect">
            <a:avLst/>
          </a:prstGeom>
          <a:noFill/>
        </p:spPr>
        <p:txBody>
          <a:bodyPr wrap="square" rtlCol="0" anchor="t"/>
          <a:lstStyle/>
          <a:p>
            <a:pPr marL="0" indent="0">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Finance &amp; Revenue Manager</a:t>
            </a:r>
            <a:endPar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endParaRPr>
          </a:p>
          <a:p>
            <a:pPr marL="0" indent="0">
              <a:buNone/>
            </a:pPr>
            <a:endParaRPr lang="en-US" sz="1600" dirty="0"/>
          </a:p>
        </p:txBody>
      </p:sp>
      <p:sp>
        <p:nvSpPr>
          <p:cNvPr id="20" name="Shape 13"/>
          <p:cNvSpPr/>
          <p:nvPr/>
        </p:nvSpPr>
        <p:spPr>
          <a:xfrm>
            <a:off x="3337560" y="2660904"/>
            <a:ext cx="2587752" cy="777240"/>
          </a:xfrm>
          <a:prstGeom prst="roundRect">
            <a:avLst>
              <a:gd name="adj" fmla="val 8235"/>
            </a:avLst>
          </a:prstGeom>
          <a:solidFill>
            <a:srgbClr val="F2F4F7"/>
          </a:solidFill>
        </p:spPr>
      </p:sp>
      <p:pic>
        <p:nvPicPr>
          <p:cNvPr id="21" name="Image 5" descr="icons/gasPump_navy.png"/>
          <p:cNvPicPr>
            <a:picLocks noChangeAspect="1"/>
          </p:cNvPicPr>
          <p:nvPr/>
        </p:nvPicPr>
        <p:blipFill>
          <a:blip r:embed="rId6"/>
          <a:stretch>
            <a:fillRect/>
          </a:stretch>
        </p:blipFill>
        <p:spPr>
          <a:xfrm>
            <a:off x="3474720" y="2798064"/>
            <a:ext cx="274320" cy="274320"/>
          </a:xfrm>
          <a:prstGeom prst="rect">
            <a:avLst/>
          </a:prstGeom>
        </p:spPr>
      </p:pic>
      <p:sp>
        <p:nvSpPr>
          <p:cNvPr id="22" name="Text 14"/>
          <p:cNvSpPr/>
          <p:nvPr/>
        </p:nvSpPr>
        <p:spPr>
          <a:xfrm>
            <a:off x="3447288" y="3090672"/>
            <a:ext cx="2368296" cy="320040"/>
          </a:xfrm>
          <a:prstGeom prst="rect">
            <a:avLst/>
          </a:prstGeom>
          <a:noFill/>
        </p:spPr>
        <p:txBody>
          <a:bodyPr wrap="square" rtlCol="0" anchor="t"/>
          <a:lstStyle/>
          <a:p>
            <a:pPr marL="0" indent="0">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Fuel Station Manage</a:t>
            </a:r>
            <a:r>
              <a:rPr lang="en-US" sz="880" b="1" dirty="0">
                <a:solidFill>
                  <a:srgbClr val="0B1F3A"/>
                </a:solidFill>
                <a:latin typeface="Arial" panose="020B0604020202020204" pitchFamily="34" charset="0"/>
                <a:ea typeface="Arial" panose="020B0604020202020204" pitchFamily="34" charset="-122"/>
                <a:cs typeface="Arial" panose="020B0604020202020204" pitchFamily="34" charset="-120"/>
              </a:rPr>
              <a:t>r</a:t>
            </a:r>
            <a:endParaRPr lang="en-US" sz="880" dirty="0"/>
          </a:p>
        </p:txBody>
      </p:sp>
      <p:sp>
        <p:nvSpPr>
          <p:cNvPr id="23" name="Shape 15"/>
          <p:cNvSpPr/>
          <p:nvPr/>
        </p:nvSpPr>
        <p:spPr>
          <a:xfrm>
            <a:off x="6035040" y="2660904"/>
            <a:ext cx="2587752" cy="777240"/>
          </a:xfrm>
          <a:prstGeom prst="roundRect">
            <a:avLst>
              <a:gd name="adj" fmla="val 8235"/>
            </a:avLst>
          </a:prstGeom>
          <a:solidFill>
            <a:srgbClr val="F2F4F7"/>
          </a:solidFill>
        </p:spPr>
      </p:sp>
      <p:pic>
        <p:nvPicPr>
          <p:cNvPr id="24" name="Image 6" descr="icons/wrench_navy.png"/>
          <p:cNvPicPr>
            <a:picLocks noChangeAspect="1"/>
          </p:cNvPicPr>
          <p:nvPr/>
        </p:nvPicPr>
        <p:blipFill>
          <a:blip r:embed="rId7"/>
          <a:stretch>
            <a:fillRect/>
          </a:stretch>
        </p:blipFill>
        <p:spPr>
          <a:xfrm>
            <a:off x="6172200" y="2798064"/>
            <a:ext cx="274320" cy="274320"/>
          </a:xfrm>
          <a:prstGeom prst="rect">
            <a:avLst/>
          </a:prstGeom>
        </p:spPr>
      </p:pic>
      <p:sp>
        <p:nvSpPr>
          <p:cNvPr id="25" name="Text 16"/>
          <p:cNvSpPr/>
          <p:nvPr/>
        </p:nvSpPr>
        <p:spPr>
          <a:xfrm>
            <a:off x="6144895" y="3027045"/>
            <a:ext cx="2368550" cy="383540"/>
          </a:xfrm>
          <a:prstGeom prst="rect">
            <a:avLst/>
          </a:prstGeom>
          <a:noFill/>
        </p:spPr>
        <p:txBody>
          <a:bodyPr wrap="square" rtlCol="0" anchor="t"/>
          <a:lstStyle/>
          <a:p>
            <a:pPr marL="0" indent="0">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Workshop Operations Manager</a:t>
            </a:r>
            <a:endParaRPr lang="en-US" sz="1600" dirty="0"/>
          </a:p>
        </p:txBody>
      </p:sp>
      <p:sp>
        <p:nvSpPr>
          <p:cNvPr id="26" name="Shape 17"/>
          <p:cNvSpPr/>
          <p:nvPr/>
        </p:nvSpPr>
        <p:spPr>
          <a:xfrm>
            <a:off x="8732520" y="2660904"/>
            <a:ext cx="2587752" cy="777240"/>
          </a:xfrm>
          <a:prstGeom prst="roundRect">
            <a:avLst>
              <a:gd name="adj" fmla="val 8235"/>
            </a:avLst>
          </a:prstGeom>
          <a:solidFill>
            <a:srgbClr val="F2F4F7"/>
          </a:solidFill>
        </p:spPr>
      </p:sp>
      <p:pic>
        <p:nvPicPr>
          <p:cNvPr id="27" name="Image 7" descr="icons/userShield_navy.png"/>
          <p:cNvPicPr>
            <a:picLocks noChangeAspect="1"/>
          </p:cNvPicPr>
          <p:nvPr/>
        </p:nvPicPr>
        <p:blipFill>
          <a:blip r:embed="rId8"/>
          <a:stretch>
            <a:fillRect/>
          </a:stretch>
        </p:blipFill>
        <p:spPr>
          <a:xfrm>
            <a:off x="8869680" y="2798064"/>
            <a:ext cx="274320" cy="274320"/>
          </a:xfrm>
          <a:prstGeom prst="rect">
            <a:avLst/>
          </a:prstGeom>
        </p:spPr>
      </p:pic>
      <p:sp>
        <p:nvSpPr>
          <p:cNvPr id="28" name="Text 18"/>
          <p:cNvSpPr/>
          <p:nvPr/>
        </p:nvSpPr>
        <p:spPr>
          <a:xfrm>
            <a:off x="8842248" y="3090672"/>
            <a:ext cx="2368296" cy="320040"/>
          </a:xfrm>
          <a:prstGeom prst="rect">
            <a:avLst/>
          </a:prstGeom>
          <a:noFill/>
        </p:spPr>
        <p:txBody>
          <a:bodyPr wrap="square" rtlCol="0" anchor="t"/>
          <a:lstStyle/>
          <a:p>
            <a:pPr marL="0" indent="0">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Administrator &amp; Management</a:t>
            </a:r>
            <a:endParaRPr lang="en-US" sz="1600" dirty="0"/>
          </a:p>
        </p:txBody>
      </p:sp>
      <p:sp>
        <p:nvSpPr>
          <p:cNvPr id="29" name="Text 19"/>
          <p:cNvSpPr/>
          <p:nvPr/>
        </p:nvSpPr>
        <p:spPr>
          <a:xfrm>
            <a:off x="685800" y="3702685"/>
            <a:ext cx="5486400" cy="431800"/>
          </a:xfrm>
          <a:prstGeom prst="rect">
            <a:avLst/>
          </a:prstGeom>
          <a:noFill/>
        </p:spPr>
        <p:txBody>
          <a:bodyPr wrap="square" rtlCol="0" anchor="ctr"/>
          <a:lstStyle/>
          <a:p>
            <a:pPr marL="0" indent="0">
              <a:buNone/>
            </a:pPr>
            <a:r>
              <a:rPr lang="en-US" sz="2400" b="1" kern="0" spc="150" dirty="0">
                <a:solidFill>
                  <a:srgbClr val="6B7684"/>
                </a:solidFill>
                <a:latin typeface="Arial" panose="020B0604020202020204" pitchFamily="34" charset="0"/>
                <a:ea typeface="Arial" panose="020B0604020202020204" pitchFamily="34" charset="-122"/>
                <a:cs typeface="Arial" panose="020B0604020202020204" pitchFamily="34" charset="-120"/>
              </a:rPr>
              <a:t>EXTERNAL STAKEHOLDERS</a:t>
            </a:r>
            <a:endParaRPr lang="en-US" sz="2400" dirty="0"/>
          </a:p>
        </p:txBody>
      </p:sp>
      <p:sp>
        <p:nvSpPr>
          <p:cNvPr id="30" name="Shape 20"/>
          <p:cNvSpPr/>
          <p:nvPr/>
        </p:nvSpPr>
        <p:spPr>
          <a:xfrm>
            <a:off x="749935" y="4323080"/>
            <a:ext cx="10908665" cy="891540"/>
          </a:xfrm>
          <a:prstGeom prst="roundRect">
            <a:avLst>
              <a:gd name="adj" fmla="val 11290"/>
            </a:avLst>
          </a:prstGeom>
          <a:solidFill>
            <a:srgbClr val="0B1F3A"/>
          </a:solidFill>
        </p:spPr>
      </p:sp>
      <p:sp>
        <p:nvSpPr>
          <p:cNvPr id="31" name="Text 21"/>
          <p:cNvSpPr/>
          <p:nvPr/>
        </p:nvSpPr>
        <p:spPr>
          <a:xfrm>
            <a:off x="822960" y="3996055"/>
            <a:ext cx="10515600" cy="1196340"/>
          </a:xfrm>
          <a:prstGeom prst="rect">
            <a:avLst/>
          </a:prstGeom>
          <a:noFill/>
        </p:spPr>
        <p:txBody>
          <a:bodyPr wrap="square" rtlCol="0" anchor="ctr"/>
          <a:lstStyle/>
          <a:p>
            <a:pPr marL="0" indent="0" algn="ctr">
              <a:buNone/>
            </a:pPr>
            <a:r>
              <a:rPr lang="en-US" sz="1600" dirty="0">
                <a:solidFill>
                  <a:srgbClr val="FFFFFF"/>
                </a:solidFill>
                <a:latin typeface="Arial" panose="020B0604020202020204" pitchFamily="34" charset="0"/>
                <a:ea typeface="Arial" panose="020B0604020202020204" pitchFamily="34" charset="-122"/>
                <a:cs typeface="Arial" panose="020B0604020202020204" pitchFamily="34" charset="-120"/>
              </a:rPr>
              <a:t>Banks / Payment Gateways    ·    Fuel Suppliers    ·    Regulators    ·    Insurance Providers    ·    IT Support</a:t>
            </a:r>
            <a:endParaRPr lang="en-US" sz="1600" dirty="0"/>
          </a:p>
        </p:txBody>
      </p:sp>
      <p:sp>
        <p:nvSpPr>
          <p:cNvPr id="32" name="Shape 22"/>
          <p:cNvSpPr/>
          <p:nvPr/>
        </p:nvSpPr>
        <p:spPr>
          <a:xfrm>
            <a:off x="640080" y="5511800"/>
            <a:ext cx="10908665" cy="849630"/>
          </a:xfrm>
          <a:prstGeom prst="roundRect">
            <a:avLst>
              <a:gd name="adj" fmla="val 11290"/>
            </a:avLst>
          </a:prstGeom>
          <a:solidFill>
            <a:srgbClr val="EAF1FE"/>
          </a:solidFill>
          <a:ln w="12700">
            <a:solidFill>
              <a:srgbClr val="DCE7FC"/>
            </a:solidFill>
            <a:prstDash val="solid"/>
          </a:ln>
        </p:spPr>
      </p:sp>
      <p:pic>
        <p:nvPicPr>
          <p:cNvPr id="33" name="Image 8" descr="icons/lock_luminex.png"/>
          <p:cNvPicPr>
            <a:picLocks noChangeAspect="1"/>
          </p:cNvPicPr>
          <p:nvPr/>
        </p:nvPicPr>
        <p:blipFill>
          <a:blip r:embed="rId9"/>
          <a:stretch>
            <a:fillRect/>
          </a:stretch>
        </p:blipFill>
        <p:spPr>
          <a:xfrm>
            <a:off x="822960" y="5627878"/>
            <a:ext cx="292608" cy="292608"/>
          </a:xfrm>
          <a:prstGeom prst="rect">
            <a:avLst/>
          </a:prstGeom>
        </p:spPr>
      </p:pic>
      <p:sp>
        <p:nvSpPr>
          <p:cNvPr id="34" name="Text 23"/>
          <p:cNvSpPr/>
          <p:nvPr/>
        </p:nvSpPr>
        <p:spPr>
          <a:xfrm>
            <a:off x="1325880" y="5076190"/>
            <a:ext cx="10058400" cy="1433830"/>
          </a:xfrm>
          <a:prstGeom prst="rect">
            <a:avLst/>
          </a:prstGeom>
          <a:noFill/>
        </p:spPr>
        <p:txBody>
          <a:bodyPr wrap="square" rtlCol="0" anchor="ctr"/>
          <a:lstStyle/>
          <a:p>
            <a:pPr marL="0" indent="0">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Privacy by design: customers can access only their own records; staff access follows role-based permissions.</a:t>
            </a:r>
            <a:endParaRPr lang="en-US" sz="2000" dirty="0"/>
          </a:p>
        </p:txBody>
      </p:sp>
      <p:sp>
        <p:nvSpPr>
          <p:cNvPr id="35" name="Text 24"/>
          <p:cNvSpPr/>
          <p:nvPr/>
        </p:nvSpPr>
        <p:spPr>
          <a:xfrm>
            <a:off x="11503152" y="6400800"/>
            <a:ext cx="457200" cy="274320"/>
          </a:xfrm>
          <a:prstGeom prst="rect">
            <a:avLst/>
          </a:prstGeom>
          <a:noFill/>
        </p:spPr>
        <p:txBody>
          <a:bodyPr wrap="square" rtlCol="0" anchor="ctr"/>
          <a:lstStyle/>
          <a:p>
            <a:pPr marL="0" indent="0" algn="r">
              <a:buNone/>
            </a:pPr>
            <a:r>
              <a:rPr lang="en-US" sz="900" dirty="0">
                <a:solidFill>
                  <a:srgbClr val="6B7684"/>
                </a:solidFill>
                <a:latin typeface="Arial" panose="020B0604020202020204" pitchFamily="34" charset="0"/>
                <a:ea typeface="Arial" panose="020B0604020202020204" pitchFamily="34" charset="-122"/>
                <a:cs typeface="Arial" panose="020B0604020202020204"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0" cy="274320"/>
          </a:xfrm>
          <a:prstGeom prst="rect">
            <a:avLst/>
          </a:prstGeom>
          <a:noFill/>
        </p:spPr>
        <p:txBody>
          <a:bodyPr wrap="square" rtlCol="0" anchor="ctr"/>
          <a:lstStyle/>
          <a:p>
            <a:pPr marL="0" indent="0">
              <a:buNone/>
            </a:pPr>
            <a:r>
              <a:rPr lang="en-US" sz="2000" b="1" kern="0" spc="200" dirty="0">
                <a:solidFill>
                  <a:srgbClr val="2F6FED"/>
                </a:solidFill>
                <a:latin typeface="Arial" panose="020B0604020202020204" pitchFamily="34" charset="0"/>
                <a:ea typeface="Arial" panose="020B0604020202020204" pitchFamily="34" charset="-122"/>
                <a:cs typeface="Arial" panose="020B0604020202020204" pitchFamily="34" charset="-120"/>
              </a:rPr>
              <a:t>OWNERSHIP</a:t>
            </a:r>
            <a:endParaRPr lang="en-US" sz="2000" dirty="0"/>
          </a:p>
        </p:txBody>
      </p:sp>
      <p:sp>
        <p:nvSpPr>
          <p:cNvPr id="3" name="Text 1"/>
          <p:cNvSpPr/>
          <p:nvPr/>
        </p:nvSpPr>
        <p:spPr>
          <a:xfrm>
            <a:off x="640080" y="685800"/>
            <a:ext cx="10515600" cy="640080"/>
          </a:xfrm>
          <a:prstGeom prst="rect">
            <a:avLst/>
          </a:prstGeom>
          <a:noFill/>
        </p:spPr>
        <p:txBody>
          <a:bodyPr wrap="square" rtlCol="0" anchor="ctr"/>
          <a:lstStyle/>
          <a:p>
            <a:pPr marL="0" indent="0">
              <a:buNone/>
            </a:pPr>
            <a:r>
              <a:rPr lang="en-US" sz="3000" b="1" dirty="0">
                <a:solidFill>
                  <a:srgbClr val="0B1F3A"/>
                </a:solidFill>
                <a:latin typeface="Arial" panose="020B0604020202020204" pitchFamily="34" charset="0"/>
                <a:ea typeface="Arial" panose="020B0604020202020204" pitchFamily="34" charset="-122"/>
                <a:cs typeface="Arial" panose="020B0604020202020204" pitchFamily="34" charset="-120"/>
              </a:rPr>
              <a:t>Six Major Functions — One Per Member</a:t>
            </a:r>
            <a:endParaRPr lang="en-US" sz="3000" dirty="0"/>
          </a:p>
        </p:txBody>
      </p:sp>
      <p:sp>
        <p:nvSpPr>
          <p:cNvPr id="4" name="Shape 2"/>
          <p:cNvSpPr/>
          <p:nvPr/>
        </p:nvSpPr>
        <p:spPr>
          <a:xfrm>
            <a:off x="640080" y="1417320"/>
            <a:ext cx="1691640" cy="365760"/>
          </a:xfrm>
          <a:prstGeom prst="rect">
            <a:avLst/>
          </a:prstGeom>
          <a:solidFill>
            <a:srgbClr val="0B1F3A"/>
          </a:solidFill>
        </p:spPr>
      </p:sp>
      <p:sp>
        <p:nvSpPr>
          <p:cNvPr id="5" name="Text 3"/>
          <p:cNvSpPr/>
          <p:nvPr/>
        </p:nvSpPr>
        <p:spPr>
          <a:xfrm>
            <a:off x="749808" y="1417320"/>
            <a:ext cx="1508760" cy="365760"/>
          </a:xfrm>
          <a:prstGeom prst="rect">
            <a:avLst/>
          </a:prstGeom>
          <a:noFill/>
        </p:spPr>
        <p:txBody>
          <a:bodyPr wrap="square" rtlCol="0" anchor="ctr"/>
          <a:lstStyle/>
          <a:p>
            <a:pPr marL="0" indent="0">
              <a:buNone/>
            </a:pPr>
            <a:r>
              <a:rPr lang="en-US" sz="1000" b="1" kern="0" spc="100" dirty="0">
                <a:solidFill>
                  <a:srgbClr val="FFFFFF"/>
                </a:solidFill>
                <a:latin typeface="Arial" panose="020B0604020202020204" pitchFamily="34" charset="0"/>
                <a:ea typeface="Arial" panose="020B0604020202020204" pitchFamily="34" charset="-122"/>
                <a:cs typeface="Arial" panose="020B0604020202020204" pitchFamily="34" charset="-120"/>
              </a:rPr>
              <a:t>MODULE</a:t>
            </a:r>
            <a:endParaRPr lang="en-US" sz="1000" dirty="0"/>
          </a:p>
        </p:txBody>
      </p:sp>
      <p:sp>
        <p:nvSpPr>
          <p:cNvPr id="6" name="Shape 4"/>
          <p:cNvSpPr/>
          <p:nvPr/>
        </p:nvSpPr>
        <p:spPr>
          <a:xfrm>
            <a:off x="2331720" y="1417320"/>
            <a:ext cx="1554480" cy="365760"/>
          </a:xfrm>
          <a:prstGeom prst="rect">
            <a:avLst/>
          </a:prstGeom>
          <a:solidFill>
            <a:srgbClr val="0B1F3A"/>
          </a:solidFill>
        </p:spPr>
      </p:sp>
      <p:sp>
        <p:nvSpPr>
          <p:cNvPr id="7" name="Text 5"/>
          <p:cNvSpPr/>
          <p:nvPr/>
        </p:nvSpPr>
        <p:spPr>
          <a:xfrm>
            <a:off x="2441448" y="1417320"/>
            <a:ext cx="1371600" cy="365760"/>
          </a:xfrm>
          <a:prstGeom prst="rect">
            <a:avLst/>
          </a:prstGeom>
          <a:noFill/>
        </p:spPr>
        <p:txBody>
          <a:bodyPr wrap="square" rtlCol="0" anchor="ctr"/>
          <a:lstStyle/>
          <a:p>
            <a:pPr marL="0" indent="0">
              <a:buNone/>
            </a:pPr>
            <a:r>
              <a:rPr lang="en-US" sz="1000" b="1" kern="0" spc="100" dirty="0">
                <a:solidFill>
                  <a:srgbClr val="FFFFFF"/>
                </a:solidFill>
                <a:latin typeface="Arial" panose="020B0604020202020204" pitchFamily="34" charset="0"/>
                <a:ea typeface="Arial" panose="020B0604020202020204" pitchFamily="34" charset="-122"/>
                <a:cs typeface="Arial" panose="020B0604020202020204" pitchFamily="34" charset="-120"/>
              </a:rPr>
              <a:t>OWNER</a:t>
            </a:r>
            <a:endParaRPr lang="en-US" sz="1000" dirty="0"/>
          </a:p>
        </p:txBody>
      </p:sp>
      <p:sp>
        <p:nvSpPr>
          <p:cNvPr id="8" name="Shape 6"/>
          <p:cNvSpPr/>
          <p:nvPr/>
        </p:nvSpPr>
        <p:spPr>
          <a:xfrm>
            <a:off x="3886200" y="1417320"/>
            <a:ext cx="5577840" cy="365760"/>
          </a:xfrm>
          <a:prstGeom prst="rect">
            <a:avLst/>
          </a:prstGeom>
          <a:solidFill>
            <a:srgbClr val="0B1F3A"/>
          </a:solidFill>
        </p:spPr>
      </p:sp>
      <p:sp>
        <p:nvSpPr>
          <p:cNvPr id="9" name="Text 7"/>
          <p:cNvSpPr/>
          <p:nvPr/>
        </p:nvSpPr>
        <p:spPr>
          <a:xfrm>
            <a:off x="3995928" y="1417320"/>
            <a:ext cx="5394960" cy="365760"/>
          </a:xfrm>
          <a:prstGeom prst="rect">
            <a:avLst/>
          </a:prstGeom>
          <a:noFill/>
        </p:spPr>
        <p:txBody>
          <a:bodyPr wrap="square" rtlCol="0" anchor="ctr"/>
          <a:lstStyle/>
          <a:p>
            <a:pPr marL="0" indent="0">
              <a:buNone/>
            </a:pPr>
            <a:r>
              <a:rPr lang="en-US" sz="1000" b="1" kern="0" spc="100" dirty="0">
                <a:solidFill>
                  <a:srgbClr val="FFFFFF"/>
                </a:solidFill>
                <a:latin typeface="Arial" panose="020B0604020202020204" pitchFamily="34" charset="0"/>
                <a:ea typeface="Arial" panose="020B0604020202020204" pitchFamily="34" charset="-122"/>
                <a:cs typeface="Arial" panose="020B0604020202020204" pitchFamily="34" charset="-120"/>
              </a:rPr>
              <a:t>MAJOR TASKS</a:t>
            </a:r>
            <a:endParaRPr lang="en-US" sz="1000" dirty="0"/>
          </a:p>
        </p:txBody>
      </p:sp>
      <p:sp>
        <p:nvSpPr>
          <p:cNvPr id="10" name="Shape 8"/>
          <p:cNvSpPr/>
          <p:nvPr/>
        </p:nvSpPr>
        <p:spPr>
          <a:xfrm>
            <a:off x="9464040" y="1417320"/>
            <a:ext cx="2084832" cy="365760"/>
          </a:xfrm>
          <a:prstGeom prst="rect">
            <a:avLst/>
          </a:prstGeom>
          <a:solidFill>
            <a:srgbClr val="0B1F3A"/>
          </a:solidFill>
        </p:spPr>
      </p:sp>
      <p:sp>
        <p:nvSpPr>
          <p:cNvPr id="11" name="Text 9"/>
          <p:cNvSpPr/>
          <p:nvPr/>
        </p:nvSpPr>
        <p:spPr>
          <a:xfrm>
            <a:off x="9573768" y="1417320"/>
            <a:ext cx="1901952" cy="365760"/>
          </a:xfrm>
          <a:prstGeom prst="rect">
            <a:avLst/>
          </a:prstGeom>
          <a:noFill/>
        </p:spPr>
        <p:txBody>
          <a:bodyPr wrap="square" rtlCol="0" anchor="ctr"/>
          <a:lstStyle/>
          <a:p>
            <a:pPr marL="0" indent="0">
              <a:buNone/>
            </a:pPr>
            <a:r>
              <a:rPr lang="en-US" sz="1000" b="1" kern="0" spc="100" dirty="0">
                <a:solidFill>
                  <a:srgbClr val="FFFFFF"/>
                </a:solidFill>
                <a:latin typeface="Arial" panose="020B0604020202020204" pitchFamily="34" charset="0"/>
                <a:ea typeface="Arial" panose="020B0604020202020204" pitchFamily="34" charset="-122"/>
                <a:cs typeface="Arial" panose="020B0604020202020204" pitchFamily="34" charset="-120"/>
              </a:rPr>
              <a:t>EXPECTED OUTCOME</a:t>
            </a:r>
            <a:endParaRPr lang="en-US" sz="1000" dirty="0"/>
          </a:p>
        </p:txBody>
      </p:sp>
      <p:sp>
        <p:nvSpPr>
          <p:cNvPr id="12" name="Shape 10"/>
          <p:cNvSpPr/>
          <p:nvPr/>
        </p:nvSpPr>
        <p:spPr>
          <a:xfrm>
            <a:off x="640080" y="1783080"/>
            <a:ext cx="1691640" cy="758952"/>
          </a:xfrm>
          <a:prstGeom prst="rect">
            <a:avLst/>
          </a:prstGeom>
          <a:solidFill>
            <a:srgbClr val="FFFFFF"/>
          </a:solidFill>
          <a:ln w="9525">
            <a:solidFill>
              <a:srgbClr val="E7EBF0"/>
            </a:solidFill>
            <a:prstDash val="solid"/>
          </a:ln>
        </p:spPr>
      </p:sp>
      <p:sp>
        <p:nvSpPr>
          <p:cNvPr id="13" name="Shape 11"/>
          <p:cNvSpPr/>
          <p:nvPr/>
        </p:nvSpPr>
        <p:spPr>
          <a:xfrm>
            <a:off x="2441575" y="1783080"/>
            <a:ext cx="1554480" cy="758952"/>
          </a:xfrm>
          <a:prstGeom prst="rect">
            <a:avLst/>
          </a:prstGeom>
          <a:solidFill>
            <a:srgbClr val="FFFFFF"/>
          </a:solidFill>
          <a:ln w="9525">
            <a:solidFill>
              <a:srgbClr val="E7EBF0"/>
            </a:solidFill>
            <a:prstDash val="solid"/>
          </a:ln>
        </p:spPr>
      </p:sp>
      <p:sp>
        <p:nvSpPr>
          <p:cNvPr id="14" name="Shape 12"/>
          <p:cNvSpPr/>
          <p:nvPr/>
        </p:nvSpPr>
        <p:spPr>
          <a:xfrm>
            <a:off x="3886200" y="1783080"/>
            <a:ext cx="5577840" cy="758952"/>
          </a:xfrm>
          <a:prstGeom prst="rect">
            <a:avLst/>
          </a:prstGeom>
          <a:solidFill>
            <a:srgbClr val="FFFFFF"/>
          </a:solidFill>
          <a:ln w="9525">
            <a:solidFill>
              <a:srgbClr val="E7EBF0"/>
            </a:solidFill>
            <a:prstDash val="solid"/>
          </a:ln>
        </p:spPr>
      </p:sp>
      <p:sp>
        <p:nvSpPr>
          <p:cNvPr id="15" name="Shape 13"/>
          <p:cNvSpPr/>
          <p:nvPr/>
        </p:nvSpPr>
        <p:spPr>
          <a:xfrm>
            <a:off x="9464040" y="1783080"/>
            <a:ext cx="2084832" cy="758952"/>
          </a:xfrm>
          <a:prstGeom prst="rect">
            <a:avLst/>
          </a:prstGeom>
          <a:solidFill>
            <a:srgbClr val="FFFFFF"/>
          </a:solidFill>
          <a:ln w="9525">
            <a:solidFill>
              <a:srgbClr val="E7EBF0"/>
            </a:solidFill>
            <a:prstDash val="solid"/>
          </a:ln>
        </p:spPr>
      </p:sp>
      <p:sp>
        <p:nvSpPr>
          <p:cNvPr id="16" name="Text 14"/>
          <p:cNvSpPr/>
          <p:nvPr/>
        </p:nvSpPr>
        <p:spPr>
          <a:xfrm>
            <a:off x="749808" y="1783080"/>
            <a:ext cx="1508760" cy="758952"/>
          </a:xfrm>
          <a:prstGeom prst="rect">
            <a:avLst/>
          </a:prstGeom>
          <a:noFill/>
        </p:spPr>
        <p:txBody>
          <a:bodyPr wrap="square" rtlCol="0" anchor="ctr"/>
          <a:lstStyle/>
          <a:p>
            <a:pPr marL="0" indent="0">
              <a:buNone/>
            </a:pPr>
            <a:r>
              <a:rPr lang="en-US" sz="1400" b="1" dirty="0">
                <a:solidFill>
                  <a:srgbClr val="0B1F3A"/>
                </a:solidFill>
                <a:latin typeface="Arial" panose="020B0604020202020204" pitchFamily="34" charset="0"/>
                <a:ea typeface="Arial" panose="020B0604020202020204" pitchFamily="34" charset="-122"/>
                <a:cs typeface="Arial" panose="020B0604020202020204" pitchFamily="34" charset="-120"/>
              </a:rPr>
              <a:t>Vehicle</a:t>
            </a:r>
            <a:endParaRPr lang="en-US" sz="1400" dirty="0"/>
          </a:p>
          <a:p>
            <a:pPr marL="0" indent="0">
              <a:buNone/>
            </a:pPr>
            <a:r>
              <a:rPr lang="en-US" sz="1400" b="1" dirty="0">
                <a:solidFill>
                  <a:srgbClr val="0B1F3A"/>
                </a:solidFill>
                <a:latin typeface="Arial" panose="020B0604020202020204" pitchFamily="34" charset="0"/>
                <a:ea typeface="Arial" panose="020B0604020202020204" pitchFamily="34" charset="-122"/>
                <a:cs typeface="Arial" panose="020B0604020202020204" pitchFamily="34" charset="-120"/>
              </a:rPr>
              <a:t>Managemen</a:t>
            </a:r>
            <a:r>
              <a:rPr lang="en-US" sz="1000" b="1" dirty="0">
                <a:solidFill>
                  <a:srgbClr val="0B1F3A"/>
                </a:solidFill>
                <a:latin typeface="Arial" panose="020B0604020202020204" pitchFamily="34" charset="0"/>
                <a:ea typeface="Arial" panose="020B0604020202020204" pitchFamily="34" charset="-122"/>
                <a:cs typeface="Arial" panose="020B0604020202020204" pitchFamily="34" charset="-120"/>
              </a:rPr>
              <a:t>t</a:t>
            </a:r>
            <a:endParaRPr lang="en-US" sz="1000" dirty="0"/>
          </a:p>
        </p:txBody>
      </p:sp>
      <p:sp>
        <p:nvSpPr>
          <p:cNvPr id="17" name="Text 15"/>
          <p:cNvSpPr/>
          <p:nvPr/>
        </p:nvSpPr>
        <p:spPr>
          <a:xfrm>
            <a:off x="2441448" y="1783080"/>
            <a:ext cx="1371600" cy="758952"/>
          </a:xfrm>
          <a:prstGeom prst="rect">
            <a:avLst/>
          </a:prstGeom>
          <a:noFill/>
        </p:spPr>
        <p:txBody>
          <a:bodyPr wrap="square" rtlCol="0" anchor="ctr"/>
          <a:lstStyle/>
          <a:p>
            <a:pPr marL="0" indent="0">
              <a:buNone/>
            </a:pPr>
            <a:r>
              <a:rPr lang="en-US" sz="1400" b="1" dirty="0">
                <a:solidFill>
                  <a:srgbClr val="2F6FED"/>
                </a:solidFill>
                <a:latin typeface="Arial" panose="020B0604020202020204" pitchFamily="34" charset="0"/>
                <a:ea typeface="Arial" panose="020B0604020202020204" pitchFamily="34" charset="-122"/>
                <a:cs typeface="Arial" panose="020B0604020202020204" pitchFamily="34" charset="-120"/>
              </a:rPr>
              <a:t>Manathunge A.I</a:t>
            </a:r>
            <a:endParaRPr lang="en-US" sz="1400" b="1" dirty="0">
              <a:solidFill>
                <a:srgbClr val="2F6FED"/>
              </a:solidFill>
              <a:latin typeface="Arial" panose="020B0604020202020204" pitchFamily="34" charset="0"/>
              <a:ea typeface="Arial" panose="020B0604020202020204" pitchFamily="34" charset="-122"/>
              <a:cs typeface="Arial" panose="020B0604020202020204" pitchFamily="34" charset="-120"/>
            </a:endParaRPr>
          </a:p>
        </p:txBody>
      </p:sp>
      <p:sp>
        <p:nvSpPr>
          <p:cNvPr id="18" name="Text 16"/>
          <p:cNvSpPr/>
          <p:nvPr/>
        </p:nvSpPr>
        <p:spPr>
          <a:xfrm>
            <a:off x="3995928" y="1783080"/>
            <a:ext cx="5358384" cy="758952"/>
          </a:xfrm>
          <a:prstGeom prst="rect">
            <a:avLst/>
          </a:prstGeom>
          <a:noFill/>
        </p:spPr>
        <p:txBody>
          <a:bodyPr wrap="square" rtlCol="0" anchor="ctr"/>
          <a:lstStyle/>
          <a:p>
            <a:pPr marL="0" indent="0">
              <a:lnSpc>
                <a:spcPct val="105000"/>
              </a:lnSpc>
              <a:buNone/>
            </a:pPr>
            <a:r>
              <a:rPr lang="en-US" sz="1400" b="1" dirty="0">
                <a:solidFill>
                  <a:srgbClr val="4A5563"/>
                </a:solidFill>
                <a:latin typeface="Arial" panose="020B0604020202020204" pitchFamily="34" charset="0"/>
                <a:ea typeface="Arial" panose="020B0604020202020204" pitchFamily="34" charset="-122"/>
                <a:cs typeface="Arial" panose="020B0604020202020204" pitchFamily="34" charset="-120"/>
              </a:rPr>
              <a:t>Create, view, update, and archive vehicle &amp; owner records; block unsafe or unregistered vehicles from booking</a:t>
            </a:r>
            <a:r>
              <a:rPr lang="en-US" sz="900" dirty="0">
                <a:solidFill>
                  <a:srgbClr val="4A5563"/>
                </a:solidFill>
                <a:latin typeface="Arial" panose="020B0604020202020204" pitchFamily="34" charset="0"/>
                <a:ea typeface="Arial" panose="020B0604020202020204" pitchFamily="34" charset="-122"/>
                <a:cs typeface="Arial" panose="020B0604020202020204" pitchFamily="34" charset="-120"/>
              </a:rPr>
              <a:t>.</a:t>
            </a:r>
            <a:endParaRPr lang="en-US" sz="900" dirty="0"/>
          </a:p>
        </p:txBody>
      </p:sp>
      <p:sp>
        <p:nvSpPr>
          <p:cNvPr id="19" name="Text 17"/>
          <p:cNvSpPr/>
          <p:nvPr/>
        </p:nvSpPr>
        <p:spPr>
          <a:xfrm>
            <a:off x="9573768" y="1783080"/>
            <a:ext cx="1901952" cy="758952"/>
          </a:xfrm>
          <a:prstGeom prst="rect">
            <a:avLst/>
          </a:prstGeom>
          <a:noFill/>
        </p:spPr>
        <p:txBody>
          <a:bodyPr wrap="square" rtlCol="0" anchor="ctr"/>
          <a:lstStyle/>
          <a:p>
            <a:pPr marL="0" indent="0">
              <a:buNone/>
            </a:pPr>
            <a:r>
              <a:rPr lang="en-US" sz="1600" i="1" dirty="0">
                <a:solidFill>
                  <a:srgbClr val="0B1F3A"/>
                </a:solidFill>
                <a:latin typeface="Arial" panose="020B0604020202020204" pitchFamily="34" charset="0"/>
                <a:ea typeface="Arial" panose="020B0604020202020204" pitchFamily="34" charset="-122"/>
                <a:cs typeface="Arial" panose="020B0604020202020204" pitchFamily="34" charset="-120"/>
              </a:rPr>
              <a:t>Accurate, trusted vehicle records</a:t>
            </a:r>
            <a:endParaRPr lang="en-US" sz="1600" i="1" dirty="0">
              <a:solidFill>
                <a:srgbClr val="0B1F3A"/>
              </a:solidFill>
              <a:latin typeface="Arial" panose="020B0604020202020204" pitchFamily="34" charset="0"/>
              <a:ea typeface="Arial" panose="020B0604020202020204" pitchFamily="34" charset="-122"/>
              <a:cs typeface="Arial" panose="020B0604020202020204" pitchFamily="34" charset="-120"/>
            </a:endParaRPr>
          </a:p>
        </p:txBody>
      </p:sp>
      <p:sp>
        <p:nvSpPr>
          <p:cNvPr id="20" name="Shape 18"/>
          <p:cNvSpPr/>
          <p:nvPr/>
        </p:nvSpPr>
        <p:spPr>
          <a:xfrm>
            <a:off x="640080" y="2542032"/>
            <a:ext cx="1691640" cy="758952"/>
          </a:xfrm>
          <a:prstGeom prst="rect">
            <a:avLst/>
          </a:prstGeom>
          <a:solidFill>
            <a:srgbClr val="F2F4F7"/>
          </a:solidFill>
          <a:ln w="9525">
            <a:solidFill>
              <a:srgbClr val="E7EBF0"/>
            </a:solidFill>
            <a:prstDash val="solid"/>
          </a:ln>
        </p:spPr>
      </p:sp>
      <p:sp>
        <p:nvSpPr>
          <p:cNvPr id="21" name="Shape 19"/>
          <p:cNvSpPr/>
          <p:nvPr/>
        </p:nvSpPr>
        <p:spPr>
          <a:xfrm>
            <a:off x="2331720" y="2542032"/>
            <a:ext cx="1554480" cy="758952"/>
          </a:xfrm>
          <a:prstGeom prst="rect">
            <a:avLst/>
          </a:prstGeom>
          <a:solidFill>
            <a:srgbClr val="F2F4F7"/>
          </a:solidFill>
          <a:ln w="9525">
            <a:solidFill>
              <a:srgbClr val="E7EBF0"/>
            </a:solidFill>
            <a:prstDash val="solid"/>
          </a:ln>
        </p:spPr>
      </p:sp>
      <p:sp>
        <p:nvSpPr>
          <p:cNvPr id="22" name="Shape 20"/>
          <p:cNvSpPr/>
          <p:nvPr/>
        </p:nvSpPr>
        <p:spPr>
          <a:xfrm>
            <a:off x="3886200" y="2542032"/>
            <a:ext cx="5577840" cy="758952"/>
          </a:xfrm>
          <a:prstGeom prst="rect">
            <a:avLst/>
          </a:prstGeom>
          <a:solidFill>
            <a:srgbClr val="F2F4F7"/>
          </a:solidFill>
          <a:ln w="9525">
            <a:solidFill>
              <a:srgbClr val="E7EBF0"/>
            </a:solidFill>
            <a:prstDash val="solid"/>
          </a:ln>
        </p:spPr>
      </p:sp>
      <p:sp>
        <p:nvSpPr>
          <p:cNvPr id="23" name="Shape 21"/>
          <p:cNvSpPr/>
          <p:nvPr/>
        </p:nvSpPr>
        <p:spPr>
          <a:xfrm>
            <a:off x="9464040" y="2542032"/>
            <a:ext cx="2084832" cy="758952"/>
          </a:xfrm>
          <a:prstGeom prst="rect">
            <a:avLst/>
          </a:prstGeom>
          <a:solidFill>
            <a:srgbClr val="F2F4F7"/>
          </a:solidFill>
          <a:ln w="9525">
            <a:solidFill>
              <a:srgbClr val="E7EBF0"/>
            </a:solidFill>
            <a:prstDash val="solid"/>
          </a:ln>
        </p:spPr>
      </p:sp>
      <p:sp>
        <p:nvSpPr>
          <p:cNvPr id="24" name="Text 22"/>
          <p:cNvSpPr/>
          <p:nvPr/>
        </p:nvSpPr>
        <p:spPr>
          <a:xfrm>
            <a:off x="749808" y="2542032"/>
            <a:ext cx="1508760" cy="758952"/>
          </a:xfrm>
          <a:prstGeom prst="rect">
            <a:avLst/>
          </a:prstGeom>
          <a:noFill/>
        </p:spPr>
        <p:txBody>
          <a:bodyPr wrap="square" rtlCol="0" anchor="ctr"/>
          <a:lstStyle/>
          <a:p>
            <a:pPr marL="0" indent="0">
              <a:buNone/>
            </a:pPr>
            <a:r>
              <a:rPr lang="en-US" sz="1400" b="1" dirty="0">
                <a:solidFill>
                  <a:srgbClr val="0B1F3A"/>
                </a:solidFill>
                <a:latin typeface="Arial" panose="020B0604020202020204" pitchFamily="34" charset="0"/>
                <a:ea typeface="Arial" panose="020B0604020202020204" pitchFamily="34" charset="-122"/>
                <a:cs typeface="Arial" panose="020B0604020202020204" pitchFamily="34" charset="-120"/>
              </a:rPr>
              <a:t>Service Booking</a:t>
            </a:r>
            <a:endParaRPr lang="en-US" sz="1400" dirty="0"/>
          </a:p>
          <a:p>
            <a:pPr marL="0" indent="0">
              <a:buNone/>
            </a:pPr>
            <a:r>
              <a:rPr lang="en-US" sz="1400" b="1" dirty="0">
                <a:solidFill>
                  <a:srgbClr val="0B1F3A"/>
                </a:solidFill>
                <a:latin typeface="Arial" panose="020B0604020202020204" pitchFamily="34" charset="0"/>
                <a:ea typeface="Arial" panose="020B0604020202020204" pitchFamily="34" charset="-122"/>
                <a:cs typeface="Arial" panose="020B0604020202020204" pitchFamily="34" charset="-120"/>
              </a:rPr>
              <a:t>Management</a:t>
            </a:r>
            <a:endParaRPr lang="en-US" sz="1400" dirty="0"/>
          </a:p>
        </p:txBody>
      </p:sp>
      <p:sp>
        <p:nvSpPr>
          <p:cNvPr id="25" name="Text 23"/>
          <p:cNvSpPr/>
          <p:nvPr/>
        </p:nvSpPr>
        <p:spPr>
          <a:xfrm>
            <a:off x="2441448" y="2542032"/>
            <a:ext cx="1371600" cy="758952"/>
          </a:xfrm>
          <a:prstGeom prst="rect">
            <a:avLst/>
          </a:prstGeom>
          <a:noFill/>
        </p:spPr>
        <p:txBody>
          <a:bodyPr wrap="square" rtlCol="0" anchor="ctr"/>
          <a:lstStyle/>
          <a:p>
            <a:pPr marL="0" indent="0">
              <a:buNone/>
            </a:pPr>
            <a:r>
              <a:rPr lang="en-US" sz="1400" b="1" dirty="0">
                <a:solidFill>
                  <a:srgbClr val="2F6FED"/>
                </a:solidFill>
                <a:latin typeface="Arial" panose="020B0604020202020204" pitchFamily="34" charset="0"/>
                <a:ea typeface="Arial" panose="020B0604020202020204" pitchFamily="34" charset="-122"/>
                <a:cs typeface="Arial" panose="020B0604020202020204" pitchFamily="34" charset="-120"/>
              </a:rPr>
              <a:t>Ahamed M.N.A</a:t>
            </a:r>
            <a:endParaRPr lang="en-US" sz="1400" dirty="0"/>
          </a:p>
        </p:txBody>
      </p:sp>
      <p:sp>
        <p:nvSpPr>
          <p:cNvPr id="26" name="Text 24"/>
          <p:cNvSpPr/>
          <p:nvPr/>
        </p:nvSpPr>
        <p:spPr>
          <a:xfrm>
            <a:off x="3995928" y="2542032"/>
            <a:ext cx="5358384" cy="758952"/>
          </a:xfrm>
          <a:prstGeom prst="rect">
            <a:avLst/>
          </a:prstGeom>
          <a:noFill/>
        </p:spPr>
        <p:txBody>
          <a:bodyPr wrap="square" rtlCol="0" anchor="ctr"/>
          <a:lstStyle/>
          <a:p>
            <a:pPr marL="0" indent="0">
              <a:lnSpc>
                <a:spcPct val="105000"/>
              </a:lnSpc>
              <a:buNone/>
            </a:pPr>
            <a:r>
              <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rPr>
              <a:t>Reserve appointments, check bay/technician availability, manage the queue, reschedule, and cancel</a:t>
            </a:r>
            <a:r>
              <a:rPr lang="en-US" sz="900" dirty="0">
                <a:solidFill>
                  <a:srgbClr val="4A5563"/>
                </a:solidFill>
                <a:latin typeface="Arial" panose="020B0604020202020204" pitchFamily="34" charset="0"/>
                <a:ea typeface="Arial" panose="020B0604020202020204" pitchFamily="34" charset="-122"/>
                <a:cs typeface="Arial" panose="020B0604020202020204" pitchFamily="34" charset="-120"/>
              </a:rPr>
              <a:t>.</a:t>
            </a:r>
            <a:endParaRPr lang="en-US" sz="900" dirty="0"/>
          </a:p>
        </p:txBody>
      </p:sp>
      <p:sp>
        <p:nvSpPr>
          <p:cNvPr id="27" name="Text 25"/>
          <p:cNvSpPr/>
          <p:nvPr/>
        </p:nvSpPr>
        <p:spPr>
          <a:xfrm>
            <a:off x="9573768" y="2542032"/>
            <a:ext cx="1901952" cy="758952"/>
          </a:xfrm>
          <a:prstGeom prst="rect">
            <a:avLst/>
          </a:prstGeom>
          <a:noFill/>
        </p:spPr>
        <p:txBody>
          <a:bodyPr wrap="square" rtlCol="0" anchor="ctr"/>
          <a:lstStyle/>
          <a:p>
            <a:pPr marL="0" indent="0">
              <a:buNone/>
            </a:pPr>
            <a:r>
              <a:rPr lang="en-US" sz="1400" i="1" dirty="0">
                <a:solidFill>
                  <a:srgbClr val="0B1F3A"/>
                </a:solidFill>
                <a:latin typeface="Arial" panose="020B0604020202020204" pitchFamily="34" charset="0"/>
                <a:ea typeface="Arial" panose="020B0604020202020204" pitchFamily="34" charset="-122"/>
                <a:cs typeface="Arial" panose="020B0604020202020204" pitchFamily="34" charset="-120"/>
              </a:rPr>
              <a:t>Conflict-free, efficient scheduling</a:t>
            </a:r>
            <a:endParaRPr lang="en-US" sz="1400" dirty="0"/>
          </a:p>
        </p:txBody>
      </p:sp>
      <p:sp>
        <p:nvSpPr>
          <p:cNvPr id="28" name="Shape 26"/>
          <p:cNvSpPr/>
          <p:nvPr/>
        </p:nvSpPr>
        <p:spPr>
          <a:xfrm>
            <a:off x="640080" y="3300984"/>
            <a:ext cx="1691640" cy="758952"/>
          </a:xfrm>
          <a:prstGeom prst="rect">
            <a:avLst/>
          </a:prstGeom>
          <a:solidFill>
            <a:srgbClr val="FFFFFF"/>
          </a:solidFill>
          <a:ln w="9525">
            <a:solidFill>
              <a:srgbClr val="E7EBF0"/>
            </a:solidFill>
            <a:prstDash val="solid"/>
          </a:ln>
        </p:spPr>
      </p:sp>
      <p:sp>
        <p:nvSpPr>
          <p:cNvPr id="29" name="Shape 27"/>
          <p:cNvSpPr/>
          <p:nvPr/>
        </p:nvSpPr>
        <p:spPr>
          <a:xfrm>
            <a:off x="2331720" y="3301619"/>
            <a:ext cx="1554480" cy="758952"/>
          </a:xfrm>
          <a:prstGeom prst="rect">
            <a:avLst/>
          </a:prstGeom>
          <a:solidFill>
            <a:srgbClr val="FFFFFF"/>
          </a:solidFill>
          <a:ln w="9525">
            <a:solidFill>
              <a:srgbClr val="E7EBF0"/>
            </a:solidFill>
            <a:prstDash val="solid"/>
          </a:ln>
        </p:spPr>
      </p:sp>
      <p:sp>
        <p:nvSpPr>
          <p:cNvPr id="30" name="Shape 28"/>
          <p:cNvSpPr/>
          <p:nvPr/>
        </p:nvSpPr>
        <p:spPr>
          <a:xfrm>
            <a:off x="3886200" y="3300984"/>
            <a:ext cx="5577840" cy="758952"/>
          </a:xfrm>
          <a:prstGeom prst="rect">
            <a:avLst/>
          </a:prstGeom>
          <a:solidFill>
            <a:srgbClr val="FFFFFF"/>
          </a:solidFill>
          <a:ln w="9525">
            <a:solidFill>
              <a:srgbClr val="E7EBF0"/>
            </a:solidFill>
            <a:prstDash val="solid"/>
          </a:ln>
        </p:spPr>
      </p:sp>
      <p:sp>
        <p:nvSpPr>
          <p:cNvPr id="31" name="Shape 29"/>
          <p:cNvSpPr/>
          <p:nvPr/>
        </p:nvSpPr>
        <p:spPr>
          <a:xfrm>
            <a:off x="9464040" y="3300984"/>
            <a:ext cx="2084832" cy="758952"/>
          </a:xfrm>
          <a:prstGeom prst="rect">
            <a:avLst/>
          </a:prstGeom>
          <a:solidFill>
            <a:srgbClr val="FFFFFF"/>
          </a:solidFill>
          <a:ln w="9525">
            <a:solidFill>
              <a:srgbClr val="E7EBF0"/>
            </a:solidFill>
            <a:prstDash val="solid"/>
          </a:ln>
        </p:spPr>
      </p:sp>
      <p:sp>
        <p:nvSpPr>
          <p:cNvPr id="32" name="Text 30"/>
          <p:cNvSpPr/>
          <p:nvPr/>
        </p:nvSpPr>
        <p:spPr>
          <a:xfrm>
            <a:off x="749808" y="3300984"/>
            <a:ext cx="1508760" cy="758952"/>
          </a:xfrm>
          <a:prstGeom prst="rect">
            <a:avLst/>
          </a:prstGeom>
          <a:noFill/>
        </p:spPr>
        <p:txBody>
          <a:bodyPr wrap="square" rtlCol="0" anchor="ctr"/>
          <a:lstStyle/>
          <a:p>
            <a:pPr marL="0" indent="0">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Fuel</a:t>
            </a:r>
            <a:endParaRPr lang="en-US" sz="1600" dirty="0"/>
          </a:p>
          <a:p>
            <a:pPr marL="0" indent="0">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Management</a:t>
            </a:r>
            <a:endParaRPr lang="en-US" sz="1600" dirty="0"/>
          </a:p>
        </p:txBody>
      </p:sp>
      <p:sp>
        <p:nvSpPr>
          <p:cNvPr id="33" name="Text 31"/>
          <p:cNvSpPr/>
          <p:nvPr/>
        </p:nvSpPr>
        <p:spPr>
          <a:xfrm>
            <a:off x="2441448" y="3300984"/>
            <a:ext cx="1371600" cy="758952"/>
          </a:xfrm>
          <a:prstGeom prst="rect">
            <a:avLst/>
          </a:prstGeom>
          <a:noFill/>
        </p:spPr>
        <p:txBody>
          <a:bodyPr wrap="square" rtlCol="0" anchor="ctr"/>
          <a:lstStyle/>
          <a:p>
            <a:pPr marL="0" indent="0">
              <a:buNone/>
            </a:pPr>
            <a:r>
              <a:rPr lang="en-US" sz="1600" b="1" dirty="0">
                <a:solidFill>
                  <a:srgbClr val="2F6FED"/>
                </a:solidFill>
                <a:latin typeface="Arial" panose="020B0604020202020204" pitchFamily="34" charset="0"/>
                <a:ea typeface="Arial" panose="020B0604020202020204" pitchFamily="34" charset="-122"/>
                <a:cs typeface="Arial" panose="020B0604020202020204" pitchFamily="34" charset="-120"/>
              </a:rPr>
              <a:t>Sarma S.S.L</a:t>
            </a:r>
            <a:endParaRPr lang="en-US" sz="1600" b="1" dirty="0">
              <a:solidFill>
                <a:srgbClr val="2F6FED"/>
              </a:solidFill>
              <a:latin typeface="Arial" panose="020B0604020202020204" pitchFamily="34" charset="0"/>
              <a:ea typeface="Arial" panose="020B0604020202020204" pitchFamily="34" charset="-122"/>
              <a:cs typeface="Arial" panose="020B0604020202020204" pitchFamily="34" charset="-120"/>
            </a:endParaRPr>
          </a:p>
        </p:txBody>
      </p:sp>
      <p:sp>
        <p:nvSpPr>
          <p:cNvPr id="34" name="Text 32"/>
          <p:cNvSpPr/>
          <p:nvPr/>
        </p:nvSpPr>
        <p:spPr>
          <a:xfrm>
            <a:off x="3995928" y="3300984"/>
            <a:ext cx="5358384" cy="758952"/>
          </a:xfrm>
          <a:prstGeom prst="rect">
            <a:avLst/>
          </a:prstGeom>
          <a:noFill/>
        </p:spPr>
        <p:txBody>
          <a:bodyPr wrap="square" rtlCol="0" anchor="ctr"/>
          <a:lstStyle/>
          <a:p>
            <a:pPr marL="0" indent="0">
              <a:lnSpc>
                <a:spcPct val="105000"/>
              </a:lnSpc>
              <a:buNone/>
            </a:pPr>
            <a:r>
              <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rPr>
              <a:t>Record refuelling, track consumption, detect abnormal use or duplicate entries, manage disputes.</a:t>
            </a:r>
            <a:endPar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endParaRPr>
          </a:p>
        </p:txBody>
      </p:sp>
      <p:sp>
        <p:nvSpPr>
          <p:cNvPr id="35" name="Text 33"/>
          <p:cNvSpPr/>
          <p:nvPr/>
        </p:nvSpPr>
        <p:spPr>
          <a:xfrm>
            <a:off x="9573768" y="3300984"/>
            <a:ext cx="1901952" cy="758952"/>
          </a:xfrm>
          <a:prstGeom prst="rect">
            <a:avLst/>
          </a:prstGeom>
          <a:noFill/>
        </p:spPr>
        <p:txBody>
          <a:bodyPr wrap="square" rtlCol="0" anchor="ctr"/>
          <a:lstStyle/>
          <a:p>
            <a:pPr marL="0" indent="0">
              <a:buNone/>
            </a:pPr>
            <a:r>
              <a:rPr lang="en-US" sz="1600" i="1" dirty="0">
                <a:solidFill>
                  <a:srgbClr val="0B1F3A"/>
                </a:solidFill>
                <a:latin typeface="Arial" panose="020B0604020202020204" pitchFamily="34" charset="0"/>
                <a:ea typeface="Arial" panose="020B0604020202020204" pitchFamily="34" charset="-122"/>
                <a:cs typeface="Arial" panose="020B0604020202020204" pitchFamily="34" charset="-120"/>
              </a:rPr>
              <a:t>Reliable, auditable fuel data</a:t>
            </a:r>
            <a:endParaRPr lang="en-US" sz="1600" i="1" dirty="0">
              <a:solidFill>
                <a:srgbClr val="0B1F3A"/>
              </a:solidFill>
              <a:latin typeface="Arial" panose="020B0604020202020204" pitchFamily="34" charset="0"/>
              <a:ea typeface="Arial" panose="020B0604020202020204" pitchFamily="34" charset="-122"/>
              <a:cs typeface="Arial" panose="020B0604020202020204" pitchFamily="34" charset="-120"/>
            </a:endParaRPr>
          </a:p>
        </p:txBody>
      </p:sp>
      <p:sp>
        <p:nvSpPr>
          <p:cNvPr id="36" name="Shape 34"/>
          <p:cNvSpPr/>
          <p:nvPr/>
        </p:nvSpPr>
        <p:spPr>
          <a:xfrm>
            <a:off x="640080" y="4059936"/>
            <a:ext cx="1691640" cy="758952"/>
          </a:xfrm>
          <a:prstGeom prst="rect">
            <a:avLst/>
          </a:prstGeom>
          <a:solidFill>
            <a:srgbClr val="F2F4F7"/>
          </a:solidFill>
          <a:ln w="9525">
            <a:solidFill>
              <a:srgbClr val="E7EBF0"/>
            </a:solidFill>
            <a:prstDash val="solid"/>
          </a:ln>
        </p:spPr>
      </p:sp>
      <p:sp>
        <p:nvSpPr>
          <p:cNvPr id="37" name="Shape 35"/>
          <p:cNvSpPr/>
          <p:nvPr/>
        </p:nvSpPr>
        <p:spPr>
          <a:xfrm>
            <a:off x="2331720" y="4059936"/>
            <a:ext cx="1554480" cy="758952"/>
          </a:xfrm>
          <a:prstGeom prst="rect">
            <a:avLst/>
          </a:prstGeom>
          <a:solidFill>
            <a:srgbClr val="F2F4F7"/>
          </a:solidFill>
          <a:ln w="9525">
            <a:solidFill>
              <a:srgbClr val="E7EBF0"/>
            </a:solidFill>
            <a:prstDash val="solid"/>
          </a:ln>
        </p:spPr>
      </p:sp>
      <p:sp>
        <p:nvSpPr>
          <p:cNvPr id="38" name="Shape 36"/>
          <p:cNvSpPr/>
          <p:nvPr/>
        </p:nvSpPr>
        <p:spPr>
          <a:xfrm>
            <a:off x="3886200" y="4059936"/>
            <a:ext cx="5577840" cy="758952"/>
          </a:xfrm>
          <a:prstGeom prst="rect">
            <a:avLst/>
          </a:prstGeom>
          <a:solidFill>
            <a:srgbClr val="F2F4F7"/>
          </a:solidFill>
          <a:ln w="9525">
            <a:solidFill>
              <a:srgbClr val="E7EBF0"/>
            </a:solidFill>
            <a:prstDash val="solid"/>
          </a:ln>
        </p:spPr>
      </p:sp>
      <p:sp>
        <p:nvSpPr>
          <p:cNvPr id="39" name="Shape 37"/>
          <p:cNvSpPr/>
          <p:nvPr/>
        </p:nvSpPr>
        <p:spPr>
          <a:xfrm>
            <a:off x="9464040" y="4059936"/>
            <a:ext cx="2084832" cy="758952"/>
          </a:xfrm>
          <a:prstGeom prst="rect">
            <a:avLst/>
          </a:prstGeom>
          <a:solidFill>
            <a:srgbClr val="F2F4F7"/>
          </a:solidFill>
          <a:ln w="9525">
            <a:solidFill>
              <a:srgbClr val="E7EBF0"/>
            </a:solidFill>
            <a:prstDash val="solid"/>
          </a:ln>
        </p:spPr>
      </p:sp>
      <p:sp>
        <p:nvSpPr>
          <p:cNvPr id="40" name="Text 38"/>
          <p:cNvSpPr/>
          <p:nvPr/>
        </p:nvSpPr>
        <p:spPr>
          <a:xfrm>
            <a:off x="749808" y="4059936"/>
            <a:ext cx="1508760" cy="758952"/>
          </a:xfrm>
          <a:prstGeom prst="rect">
            <a:avLst/>
          </a:prstGeom>
          <a:noFill/>
        </p:spPr>
        <p:txBody>
          <a:bodyPr wrap="square" rtlCol="0" anchor="ctr"/>
          <a:lstStyle/>
          <a:p>
            <a:pPr marL="0" indent="0">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Payment</a:t>
            </a:r>
            <a:endParaRPr lang="en-US" sz="1600" dirty="0"/>
          </a:p>
          <a:p>
            <a:pPr marL="0" indent="0">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Management</a:t>
            </a:r>
            <a:endParaRPr lang="en-US" sz="1600" dirty="0"/>
          </a:p>
        </p:txBody>
      </p:sp>
      <p:sp>
        <p:nvSpPr>
          <p:cNvPr id="41" name="Text 39"/>
          <p:cNvSpPr/>
          <p:nvPr/>
        </p:nvSpPr>
        <p:spPr>
          <a:xfrm>
            <a:off x="2441448" y="4059936"/>
            <a:ext cx="1371600" cy="758952"/>
          </a:xfrm>
          <a:prstGeom prst="rect">
            <a:avLst/>
          </a:prstGeom>
          <a:noFill/>
        </p:spPr>
        <p:txBody>
          <a:bodyPr wrap="square" rtlCol="0" anchor="ctr"/>
          <a:lstStyle/>
          <a:p>
            <a:pPr marL="0" indent="0">
              <a:buNone/>
            </a:pPr>
            <a:r>
              <a:rPr lang="en-US" sz="1600" b="1" dirty="0">
                <a:solidFill>
                  <a:srgbClr val="2F6FED"/>
                </a:solidFill>
                <a:latin typeface="Arial" panose="020B0604020202020204" pitchFamily="34" charset="0"/>
                <a:ea typeface="Arial" panose="020B0604020202020204" pitchFamily="34" charset="-122"/>
                <a:cs typeface="Arial" panose="020B0604020202020204" pitchFamily="34" charset="-120"/>
              </a:rPr>
              <a:t>Nayanajith K.A.T</a:t>
            </a:r>
            <a:endParaRPr lang="en-US" sz="1600" dirty="0"/>
          </a:p>
        </p:txBody>
      </p:sp>
      <p:sp>
        <p:nvSpPr>
          <p:cNvPr id="42" name="Text 40"/>
          <p:cNvSpPr/>
          <p:nvPr/>
        </p:nvSpPr>
        <p:spPr>
          <a:xfrm>
            <a:off x="3995928" y="4059936"/>
            <a:ext cx="5358384" cy="758952"/>
          </a:xfrm>
          <a:prstGeom prst="rect">
            <a:avLst/>
          </a:prstGeom>
          <a:noFill/>
        </p:spPr>
        <p:txBody>
          <a:bodyPr wrap="square" rtlCol="0" anchor="ctr"/>
          <a:lstStyle/>
          <a:p>
            <a:pPr marL="0" indent="0">
              <a:lnSpc>
                <a:spcPct val="105000"/>
              </a:lnSpc>
              <a:buNone/>
            </a:pPr>
            <a:r>
              <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rPr>
              <a:t>Create payment attempts, verify payments, issue receipts/invoices, reconcile transactions, process refunds.</a:t>
            </a:r>
            <a:endParaRPr lang="en-US" sz="1600" dirty="0"/>
          </a:p>
        </p:txBody>
      </p:sp>
      <p:sp>
        <p:nvSpPr>
          <p:cNvPr id="43" name="Text 41"/>
          <p:cNvSpPr/>
          <p:nvPr/>
        </p:nvSpPr>
        <p:spPr>
          <a:xfrm>
            <a:off x="9573768" y="4059936"/>
            <a:ext cx="1901952" cy="758952"/>
          </a:xfrm>
          <a:prstGeom prst="rect">
            <a:avLst/>
          </a:prstGeom>
          <a:noFill/>
        </p:spPr>
        <p:txBody>
          <a:bodyPr wrap="square" rtlCol="0" anchor="ctr"/>
          <a:lstStyle/>
          <a:p>
            <a:pPr marL="0" indent="0">
              <a:buNone/>
            </a:pPr>
            <a:r>
              <a:rPr lang="en-US" sz="1600" i="1" dirty="0">
                <a:solidFill>
                  <a:srgbClr val="0B1F3A"/>
                </a:solidFill>
                <a:latin typeface="Arial" panose="020B0604020202020204" pitchFamily="34" charset="0"/>
                <a:ea typeface="Arial" panose="020B0604020202020204" pitchFamily="34" charset="-122"/>
                <a:cs typeface="Arial" panose="020B0604020202020204" pitchFamily="34" charset="-120"/>
              </a:rPr>
              <a:t>Accurate, transparent finances</a:t>
            </a:r>
            <a:endParaRPr lang="en-US" sz="1600" dirty="0"/>
          </a:p>
        </p:txBody>
      </p:sp>
      <p:sp>
        <p:nvSpPr>
          <p:cNvPr id="44" name="Shape 42"/>
          <p:cNvSpPr/>
          <p:nvPr/>
        </p:nvSpPr>
        <p:spPr>
          <a:xfrm>
            <a:off x="640080" y="4818888"/>
            <a:ext cx="1691640" cy="758952"/>
          </a:xfrm>
          <a:prstGeom prst="rect">
            <a:avLst/>
          </a:prstGeom>
          <a:solidFill>
            <a:srgbClr val="FFFFFF"/>
          </a:solidFill>
          <a:ln w="9525">
            <a:solidFill>
              <a:srgbClr val="E7EBF0"/>
            </a:solidFill>
            <a:prstDash val="solid"/>
          </a:ln>
        </p:spPr>
      </p:sp>
      <p:sp>
        <p:nvSpPr>
          <p:cNvPr id="45" name="Shape 43"/>
          <p:cNvSpPr/>
          <p:nvPr/>
        </p:nvSpPr>
        <p:spPr>
          <a:xfrm>
            <a:off x="2331720" y="4818888"/>
            <a:ext cx="1554480" cy="758952"/>
          </a:xfrm>
          <a:prstGeom prst="rect">
            <a:avLst/>
          </a:prstGeom>
          <a:solidFill>
            <a:srgbClr val="FFFFFF"/>
          </a:solidFill>
          <a:ln w="9525">
            <a:solidFill>
              <a:srgbClr val="E7EBF0"/>
            </a:solidFill>
            <a:prstDash val="solid"/>
          </a:ln>
        </p:spPr>
      </p:sp>
      <p:sp>
        <p:nvSpPr>
          <p:cNvPr id="46" name="Shape 44"/>
          <p:cNvSpPr/>
          <p:nvPr/>
        </p:nvSpPr>
        <p:spPr>
          <a:xfrm>
            <a:off x="3886200" y="4818888"/>
            <a:ext cx="5577840" cy="758952"/>
          </a:xfrm>
          <a:prstGeom prst="rect">
            <a:avLst/>
          </a:prstGeom>
          <a:solidFill>
            <a:srgbClr val="FFFFFF"/>
          </a:solidFill>
          <a:ln w="9525">
            <a:solidFill>
              <a:srgbClr val="E7EBF0"/>
            </a:solidFill>
            <a:prstDash val="solid"/>
          </a:ln>
        </p:spPr>
      </p:sp>
      <p:sp>
        <p:nvSpPr>
          <p:cNvPr id="47" name="Shape 45"/>
          <p:cNvSpPr/>
          <p:nvPr/>
        </p:nvSpPr>
        <p:spPr>
          <a:xfrm>
            <a:off x="9464040" y="4818888"/>
            <a:ext cx="2084832" cy="758952"/>
          </a:xfrm>
          <a:prstGeom prst="rect">
            <a:avLst/>
          </a:prstGeom>
          <a:solidFill>
            <a:srgbClr val="FFFFFF"/>
          </a:solidFill>
          <a:ln w="9525">
            <a:solidFill>
              <a:srgbClr val="E7EBF0"/>
            </a:solidFill>
            <a:prstDash val="solid"/>
          </a:ln>
        </p:spPr>
      </p:sp>
      <p:sp>
        <p:nvSpPr>
          <p:cNvPr id="48" name="Text 46"/>
          <p:cNvSpPr/>
          <p:nvPr/>
        </p:nvSpPr>
        <p:spPr>
          <a:xfrm>
            <a:off x="749808" y="4818888"/>
            <a:ext cx="1508760" cy="758952"/>
          </a:xfrm>
          <a:prstGeom prst="rect">
            <a:avLst/>
          </a:prstGeom>
          <a:noFill/>
        </p:spPr>
        <p:txBody>
          <a:bodyPr wrap="square" rtlCol="0" anchor="ctr"/>
          <a:lstStyle/>
          <a:p>
            <a:pPr marL="0" indent="0">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Notification</a:t>
            </a:r>
            <a:endParaRPr lang="en-US" sz="1600" dirty="0"/>
          </a:p>
          <a:p>
            <a:pPr marL="0" indent="0">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Management</a:t>
            </a:r>
            <a:endParaRPr lang="en-US" sz="1600" dirty="0"/>
          </a:p>
        </p:txBody>
      </p:sp>
      <p:sp>
        <p:nvSpPr>
          <p:cNvPr id="49" name="Text 47"/>
          <p:cNvSpPr/>
          <p:nvPr/>
        </p:nvSpPr>
        <p:spPr>
          <a:xfrm>
            <a:off x="2441448" y="4818888"/>
            <a:ext cx="1371600" cy="758952"/>
          </a:xfrm>
          <a:prstGeom prst="rect">
            <a:avLst/>
          </a:prstGeom>
          <a:noFill/>
        </p:spPr>
        <p:txBody>
          <a:bodyPr wrap="square" rtlCol="0" anchor="ctr"/>
          <a:lstStyle/>
          <a:p>
            <a:pPr marL="0" indent="0">
              <a:buNone/>
            </a:pPr>
            <a:r>
              <a:rPr lang="en-US" sz="1600" b="1" dirty="0">
                <a:solidFill>
                  <a:srgbClr val="2F6FED"/>
                </a:solidFill>
                <a:latin typeface="Arial" panose="020B0604020202020204" pitchFamily="34" charset="0"/>
                <a:ea typeface="Arial" panose="020B0604020202020204" pitchFamily="34" charset="-122"/>
                <a:cs typeface="Arial" panose="020B0604020202020204" pitchFamily="34" charset="-120"/>
              </a:rPr>
              <a:t>Herath H.M.A.R.B</a:t>
            </a:r>
            <a:endParaRPr lang="en-US" sz="1600" dirty="0"/>
          </a:p>
        </p:txBody>
      </p:sp>
      <p:sp>
        <p:nvSpPr>
          <p:cNvPr id="50" name="Text 48"/>
          <p:cNvSpPr/>
          <p:nvPr/>
        </p:nvSpPr>
        <p:spPr>
          <a:xfrm>
            <a:off x="3995928" y="4818888"/>
            <a:ext cx="5358384" cy="758952"/>
          </a:xfrm>
          <a:prstGeom prst="rect">
            <a:avLst/>
          </a:prstGeom>
          <a:noFill/>
        </p:spPr>
        <p:txBody>
          <a:bodyPr wrap="square" rtlCol="0" anchor="ctr"/>
          <a:lstStyle/>
          <a:p>
            <a:pPr marL="0" indent="0">
              <a:lnSpc>
                <a:spcPct val="105000"/>
              </a:lnSpc>
              <a:buNone/>
            </a:pPr>
            <a:r>
              <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rPr>
              <a:t>Send booking, payment, reminder, delay, cancellation, refund, and emergency alerts</a:t>
            </a:r>
            <a:r>
              <a:rPr lang="en-US" sz="900" dirty="0">
                <a:solidFill>
                  <a:srgbClr val="4A5563"/>
                </a:solidFill>
                <a:latin typeface="Arial" panose="020B0604020202020204" pitchFamily="34" charset="0"/>
                <a:ea typeface="Arial" panose="020B0604020202020204" pitchFamily="34" charset="-122"/>
                <a:cs typeface="Arial" panose="020B0604020202020204" pitchFamily="34" charset="-120"/>
              </a:rPr>
              <a:t>.</a:t>
            </a:r>
            <a:endParaRPr lang="en-US" sz="900" dirty="0"/>
          </a:p>
        </p:txBody>
      </p:sp>
      <p:sp>
        <p:nvSpPr>
          <p:cNvPr id="51" name="Text 49"/>
          <p:cNvSpPr/>
          <p:nvPr/>
        </p:nvSpPr>
        <p:spPr>
          <a:xfrm>
            <a:off x="9573768" y="4818888"/>
            <a:ext cx="1901952" cy="758952"/>
          </a:xfrm>
          <a:prstGeom prst="rect">
            <a:avLst/>
          </a:prstGeom>
          <a:noFill/>
        </p:spPr>
        <p:txBody>
          <a:bodyPr wrap="square" rtlCol="0" anchor="ctr"/>
          <a:lstStyle/>
          <a:p>
            <a:pPr marL="0" indent="0">
              <a:buNone/>
            </a:pPr>
            <a:r>
              <a:rPr lang="en-US" sz="1600" i="1" dirty="0">
                <a:solidFill>
                  <a:srgbClr val="0B1F3A"/>
                </a:solidFill>
                <a:latin typeface="Arial" panose="020B0604020202020204" pitchFamily="34" charset="0"/>
                <a:ea typeface="Arial" panose="020B0604020202020204" pitchFamily="34" charset="-122"/>
                <a:cs typeface="Arial" panose="020B0604020202020204" pitchFamily="34" charset="-120"/>
              </a:rPr>
              <a:t>Timely, informed customers</a:t>
            </a:r>
            <a:endParaRPr lang="en-US" sz="1600" dirty="0"/>
          </a:p>
        </p:txBody>
      </p:sp>
      <p:sp>
        <p:nvSpPr>
          <p:cNvPr id="52" name="Shape 50"/>
          <p:cNvSpPr/>
          <p:nvPr/>
        </p:nvSpPr>
        <p:spPr>
          <a:xfrm>
            <a:off x="640080" y="5577840"/>
            <a:ext cx="1691640" cy="758952"/>
          </a:xfrm>
          <a:prstGeom prst="rect">
            <a:avLst/>
          </a:prstGeom>
          <a:solidFill>
            <a:srgbClr val="F2F4F7"/>
          </a:solidFill>
          <a:ln w="9525">
            <a:solidFill>
              <a:srgbClr val="E7EBF0"/>
            </a:solidFill>
            <a:prstDash val="solid"/>
          </a:ln>
        </p:spPr>
      </p:sp>
      <p:sp>
        <p:nvSpPr>
          <p:cNvPr id="53" name="Shape 51"/>
          <p:cNvSpPr/>
          <p:nvPr/>
        </p:nvSpPr>
        <p:spPr>
          <a:xfrm>
            <a:off x="2331720" y="5577840"/>
            <a:ext cx="1554480" cy="758952"/>
          </a:xfrm>
          <a:prstGeom prst="rect">
            <a:avLst/>
          </a:prstGeom>
          <a:solidFill>
            <a:srgbClr val="F2F4F7"/>
          </a:solidFill>
          <a:ln w="9525">
            <a:solidFill>
              <a:srgbClr val="E7EBF0"/>
            </a:solidFill>
            <a:prstDash val="solid"/>
          </a:ln>
        </p:spPr>
      </p:sp>
      <p:sp>
        <p:nvSpPr>
          <p:cNvPr id="54" name="Shape 52"/>
          <p:cNvSpPr/>
          <p:nvPr/>
        </p:nvSpPr>
        <p:spPr>
          <a:xfrm>
            <a:off x="3886200" y="5577840"/>
            <a:ext cx="5577840" cy="758952"/>
          </a:xfrm>
          <a:prstGeom prst="rect">
            <a:avLst/>
          </a:prstGeom>
          <a:solidFill>
            <a:srgbClr val="F2F4F7"/>
          </a:solidFill>
          <a:ln w="9525">
            <a:solidFill>
              <a:srgbClr val="E7EBF0"/>
            </a:solidFill>
            <a:prstDash val="solid"/>
          </a:ln>
        </p:spPr>
      </p:sp>
      <p:sp>
        <p:nvSpPr>
          <p:cNvPr id="55" name="Shape 53"/>
          <p:cNvSpPr/>
          <p:nvPr/>
        </p:nvSpPr>
        <p:spPr>
          <a:xfrm>
            <a:off x="9464040" y="5577840"/>
            <a:ext cx="2084832" cy="758952"/>
          </a:xfrm>
          <a:prstGeom prst="rect">
            <a:avLst/>
          </a:prstGeom>
          <a:solidFill>
            <a:srgbClr val="F2F4F7"/>
          </a:solidFill>
          <a:ln w="9525">
            <a:solidFill>
              <a:srgbClr val="E7EBF0"/>
            </a:solidFill>
            <a:prstDash val="solid"/>
          </a:ln>
        </p:spPr>
      </p:sp>
      <p:sp>
        <p:nvSpPr>
          <p:cNvPr id="56" name="Text 54"/>
          <p:cNvSpPr/>
          <p:nvPr/>
        </p:nvSpPr>
        <p:spPr>
          <a:xfrm>
            <a:off x="749808" y="5577840"/>
            <a:ext cx="1508760" cy="758952"/>
          </a:xfrm>
          <a:prstGeom prst="rect">
            <a:avLst/>
          </a:prstGeom>
          <a:noFill/>
        </p:spPr>
        <p:txBody>
          <a:bodyPr wrap="square" rtlCol="0" anchor="ctr"/>
          <a:lstStyle/>
          <a:p>
            <a:pPr marL="0" indent="0">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User</a:t>
            </a:r>
            <a:endParaRPr lang="en-US" sz="1600" dirty="0"/>
          </a:p>
          <a:p>
            <a:pPr marL="0" indent="0">
              <a:buNone/>
            </a:pPr>
            <a:r>
              <a:rPr lang="en-US" sz="1600" b="1" dirty="0">
                <a:solidFill>
                  <a:srgbClr val="0B1F3A"/>
                </a:solidFill>
                <a:latin typeface="Arial" panose="020B0604020202020204" pitchFamily="34" charset="0"/>
                <a:ea typeface="Arial" panose="020B0604020202020204" pitchFamily="34" charset="-122"/>
                <a:cs typeface="Arial" panose="020B0604020202020204" pitchFamily="34" charset="-120"/>
              </a:rPr>
              <a:t>Management</a:t>
            </a:r>
            <a:endParaRPr lang="en-US" sz="1600" dirty="0"/>
          </a:p>
        </p:txBody>
      </p:sp>
      <p:sp>
        <p:nvSpPr>
          <p:cNvPr id="57" name="Text 55"/>
          <p:cNvSpPr/>
          <p:nvPr/>
        </p:nvSpPr>
        <p:spPr>
          <a:xfrm>
            <a:off x="2441448" y="5577840"/>
            <a:ext cx="1371600" cy="758952"/>
          </a:xfrm>
          <a:prstGeom prst="rect">
            <a:avLst/>
          </a:prstGeom>
          <a:noFill/>
        </p:spPr>
        <p:txBody>
          <a:bodyPr wrap="square" rtlCol="0" anchor="ctr"/>
          <a:lstStyle/>
          <a:p>
            <a:pPr marL="0" indent="0">
              <a:buNone/>
            </a:pPr>
            <a:r>
              <a:rPr lang="en-US" sz="1600" b="1" dirty="0">
                <a:solidFill>
                  <a:srgbClr val="2F6FED"/>
                </a:solidFill>
                <a:latin typeface="Arial" panose="020B0604020202020204" pitchFamily="34" charset="0"/>
                <a:ea typeface="Arial" panose="020B0604020202020204" pitchFamily="34" charset="-122"/>
                <a:cs typeface="Arial" panose="020B0604020202020204" pitchFamily="34" charset="-120"/>
              </a:rPr>
              <a:t>Liyanage D.D.S</a:t>
            </a:r>
            <a:endParaRPr lang="en-US" sz="1600" dirty="0"/>
          </a:p>
        </p:txBody>
      </p:sp>
      <p:sp>
        <p:nvSpPr>
          <p:cNvPr id="58" name="Text 56"/>
          <p:cNvSpPr/>
          <p:nvPr/>
        </p:nvSpPr>
        <p:spPr>
          <a:xfrm>
            <a:off x="3886073" y="5577840"/>
            <a:ext cx="5358384" cy="758952"/>
          </a:xfrm>
          <a:prstGeom prst="rect">
            <a:avLst/>
          </a:prstGeom>
          <a:noFill/>
        </p:spPr>
        <p:txBody>
          <a:bodyPr wrap="square" rtlCol="0" anchor="ctr"/>
          <a:lstStyle/>
          <a:p>
            <a:pPr marL="0" indent="0">
              <a:lnSpc>
                <a:spcPct val="105000"/>
              </a:lnSpc>
              <a:buNone/>
            </a:pPr>
            <a:r>
              <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rPr>
              <a:t>Register customers/staff, manage profiles, roles, login, password recovery, account status</a:t>
            </a:r>
            <a:r>
              <a:rPr lang="en-US" sz="900" dirty="0">
                <a:solidFill>
                  <a:srgbClr val="4A5563"/>
                </a:solidFill>
                <a:latin typeface="Arial" panose="020B0604020202020204" pitchFamily="34" charset="0"/>
                <a:ea typeface="Arial" panose="020B0604020202020204" pitchFamily="34" charset="-122"/>
                <a:cs typeface="Arial" panose="020B0604020202020204" pitchFamily="34" charset="-120"/>
              </a:rPr>
              <a:t>.</a:t>
            </a:r>
            <a:endParaRPr lang="en-US" sz="900" dirty="0"/>
          </a:p>
        </p:txBody>
      </p:sp>
      <p:sp>
        <p:nvSpPr>
          <p:cNvPr id="59" name="Text 57"/>
          <p:cNvSpPr/>
          <p:nvPr/>
        </p:nvSpPr>
        <p:spPr>
          <a:xfrm>
            <a:off x="9573768" y="5577840"/>
            <a:ext cx="1901952" cy="758952"/>
          </a:xfrm>
          <a:prstGeom prst="rect">
            <a:avLst/>
          </a:prstGeom>
          <a:noFill/>
        </p:spPr>
        <p:txBody>
          <a:bodyPr wrap="square" rtlCol="0" anchor="ctr"/>
          <a:lstStyle/>
          <a:p>
            <a:pPr marL="0" indent="0">
              <a:buNone/>
            </a:pPr>
            <a:r>
              <a:rPr lang="en-US" sz="1600" i="1" dirty="0">
                <a:solidFill>
                  <a:srgbClr val="0B1F3A"/>
                </a:solidFill>
                <a:latin typeface="Arial" panose="020B0604020202020204" pitchFamily="34" charset="0"/>
                <a:ea typeface="Arial" panose="020B0604020202020204" pitchFamily="34" charset="-122"/>
                <a:cs typeface="Arial" panose="020B0604020202020204" pitchFamily="34" charset="-120"/>
              </a:rPr>
              <a:t>Secure, well-managed access</a:t>
            </a:r>
            <a:endParaRPr lang="en-US" sz="1600" dirty="0"/>
          </a:p>
        </p:txBody>
      </p:sp>
      <p:sp>
        <p:nvSpPr>
          <p:cNvPr id="60" name="Text 58"/>
          <p:cNvSpPr/>
          <p:nvPr/>
        </p:nvSpPr>
        <p:spPr>
          <a:xfrm>
            <a:off x="11503152" y="6400800"/>
            <a:ext cx="457200" cy="274320"/>
          </a:xfrm>
          <a:prstGeom prst="rect">
            <a:avLst/>
          </a:prstGeom>
          <a:noFill/>
        </p:spPr>
        <p:txBody>
          <a:bodyPr wrap="square" rtlCol="0" anchor="ctr"/>
          <a:lstStyle/>
          <a:p>
            <a:pPr marL="0" indent="0" algn="r">
              <a:buNone/>
            </a:pPr>
            <a:r>
              <a:rPr lang="en-US" sz="900" dirty="0">
                <a:solidFill>
                  <a:srgbClr val="6B7684"/>
                </a:solidFill>
                <a:latin typeface="Arial" panose="020B0604020202020204" pitchFamily="34" charset="0"/>
                <a:ea typeface="Arial" panose="020B0604020202020204" pitchFamily="34" charset="-122"/>
                <a:cs typeface="Arial" panose="020B0604020202020204"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0" cy="274320"/>
          </a:xfrm>
          <a:prstGeom prst="rect">
            <a:avLst/>
          </a:prstGeom>
          <a:noFill/>
        </p:spPr>
        <p:txBody>
          <a:bodyPr wrap="square" rtlCol="0" anchor="ctr"/>
          <a:lstStyle/>
          <a:p>
            <a:pPr marL="0" indent="0">
              <a:buNone/>
            </a:pPr>
            <a:r>
              <a:rPr lang="en-US" b="1" kern="0" spc="200" dirty="0">
                <a:solidFill>
                  <a:srgbClr val="2F6FED"/>
                </a:solidFill>
                <a:latin typeface="Arial" panose="020B0604020202020204" pitchFamily="34" charset="0"/>
                <a:ea typeface="Arial" panose="020B0604020202020204" pitchFamily="34" charset="-122"/>
                <a:cs typeface="Arial" panose="020B0604020202020204" pitchFamily="34" charset="-120"/>
              </a:rPr>
              <a:t>DETAILS</a:t>
            </a:r>
            <a:endParaRPr lang="en-US" b="1" kern="0" spc="200" dirty="0">
              <a:solidFill>
                <a:srgbClr val="2F6FED"/>
              </a:solidFill>
              <a:latin typeface="Arial" panose="020B0604020202020204" pitchFamily="34" charset="0"/>
              <a:ea typeface="Arial" panose="020B0604020202020204" pitchFamily="34" charset="-122"/>
              <a:cs typeface="Arial" panose="020B0604020202020204" pitchFamily="34" charset="-120"/>
            </a:endParaRPr>
          </a:p>
        </p:txBody>
      </p:sp>
      <p:sp>
        <p:nvSpPr>
          <p:cNvPr id="3" name="Text 1"/>
          <p:cNvSpPr/>
          <p:nvPr/>
        </p:nvSpPr>
        <p:spPr>
          <a:xfrm>
            <a:off x="640080" y="685800"/>
            <a:ext cx="10515600" cy="640080"/>
          </a:xfrm>
          <a:prstGeom prst="rect">
            <a:avLst/>
          </a:prstGeom>
          <a:noFill/>
        </p:spPr>
        <p:txBody>
          <a:bodyPr wrap="square" rtlCol="0" anchor="ctr"/>
          <a:lstStyle/>
          <a:p>
            <a:pPr marL="0" indent="0">
              <a:buNone/>
            </a:pPr>
            <a:r>
              <a:rPr lang="en-US" sz="3000" b="1" dirty="0">
                <a:solidFill>
                  <a:srgbClr val="0B1F3A"/>
                </a:solidFill>
                <a:latin typeface="Arial" panose="020B0604020202020204" pitchFamily="34" charset="0"/>
                <a:ea typeface="Arial" panose="020B0604020202020204" pitchFamily="34" charset="-122"/>
                <a:cs typeface="Arial" panose="020B0604020202020204" pitchFamily="34" charset="-120"/>
              </a:rPr>
              <a:t>Minor Functions &amp; Business Rules</a:t>
            </a:r>
            <a:endParaRPr lang="en-US" sz="3000" dirty="0"/>
          </a:p>
        </p:txBody>
      </p:sp>
      <p:sp>
        <p:nvSpPr>
          <p:cNvPr id="4" name="Text 2"/>
          <p:cNvSpPr/>
          <p:nvPr/>
        </p:nvSpPr>
        <p:spPr>
          <a:xfrm>
            <a:off x="640080" y="1371600"/>
            <a:ext cx="5486400" cy="274320"/>
          </a:xfrm>
          <a:prstGeom prst="rect">
            <a:avLst/>
          </a:prstGeom>
          <a:noFill/>
        </p:spPr>
        <p:txBody>
          <a:bodyPr wrap="square" rtlCol="0" anchor="ctr"/>
          <a:lstStyle/>
          <a:p>
            <a:pPr marL="0" indent="0">
              <a:buNone/>
            </a:pPr>
            <a:r>
              <a:rPr lang="en-US" b="1" kern="0" spc="150" dirty="0">
                <a:solidFill>
                  <a:srgbClr val="6B7684"/>
                </a:solidFill>
                <a:latin typeface="Arial" panose="020B0604020202020204" pitchFamily="34" charset="0"/>
                <a:ea typeface="Arial" panose="020B0604020202020204" pitchFamily="34" charset="-122"/>
                <a:cs typeface="Arial" panose="020B0604020202020204" pitchFamily="34" charset="-120"/>
              </a:rPr>
              <a:t>SUPPORTING FUNCTIONS</a:t>
            </a:r>
            <a:endParaRPr lang="en-US" b="1" kern="0" spc="150" dirty="0">
              <a:solidFill>
                <a:srgbClr val="6B7684"/>
              </a:solidFill>
              <a:latin typeface="Arial" panose="020B0604020202020204" pitchFamily="34" charset="0"/>
              <a:ea typeface="Arial" panose="020B0604020202020204" pitchFamily="34" charset="-122"/>
              <a:cs typeface="Arial" panose="020B0604020202020204" pitchFamily="34" charset="-120"/>
            </a:endParaRPr>
          </a:p>
        </p:txBody>
      </p:sp>
      <p:sp>
        <p:nvSpPr>
          <p:cNvPr id="5" name="Shape 3"/>
          <p:cNvSpPr/>
          <p:nvPr/>
        </p:nvSpPr>
        <p:spPr>
          <a:xfrm>
            <a:off x="640080" y="1691640"/>
            <a:ext cx="2587752" cy="457200"/>
          </a:xfrm>
          <a:prstGeom prst="roundRect">
            <a:avLst>
              <a:gd name="adj" fmla="val 50000"/>
            </a:avLst>
          </a:prstGeom>
          <a:solidFill>
            <a:srgbClr val="F2F4F7"/>
          </a:solidFill>
        </p:spPr>
      </p:sp>
      <p:sp>
        <p:nvSpPr>
          <p:cNvPr id="6" name="Text 4"/>
          <p:cNvSpPr/>
          <p:nvPr/>
        </p:nvSpPr>
        <p:spPr>
          <a:xfrm>
            <a:off x="640080" y="1691640"/>
            <a:ext cx="2587752" cy="457200"/>
          </a:xfrm>
          <a:prstGeom prst="rect">
            <a:avLst/>
          </a:prstGeom>
          <a:noFill/>
        </p:spPr>
        <p:txBody>
          <a:bodyPr wrap="square" rtlCol="0" anchor="ctr"/>
          <a:lstStyle/>
          <a:p>
            <a:pPr marL="0" indent="0" algn="ctr">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Login / logout</a:t>
            </a:r>
            <a:endParaRPr lang="en-US" sz="2000" dirty="0"/>
          </a:p>
        </p:txBody>
      </p:sp>
      <p:sp>
        <p:nvSpPr>
          <p:cNvPr id="7" name="Shape 5"/>
          <p:cNvSpPr/>
          <p:nvPr/>
        </p:nvSpPr>
        <p:spPr>
          <a:xfrm>
            <a:off x="3319272" y="1691640"/>
            <a:ext cx="2587752" cy="457200"/>
          </a:xfrm>
          <a:prstGeom prst="roundRect">
            <a:avLst>
              <a:gd name="adj" fmla="val 50000"/>
            </a:avLst>
          </a:prstGeom>
          <a:solidFill>
            <a:srgbClr val="F2F4F7"/>
          </a:solidFill>
        </p:spPr>
      </p:sp>
      <p:sp>
        <p:nvSpPr>
          <p:cNvPr id="8" name="Text 6"/>
          <p:cNvSpPr/>
          <p:nvPr/>
        </p:nvSpPr>
        <p:spPr>
          <a:xfrm>
            <a:off x="3319272" y="1691640"/>
            <a:ext cx="2587752" cy="457200"/>
          </a:xfrm>
          <a:prstGeom prst="rect">
            <a:avLst/>
          </a:prstGeom>
          <a:noFill/>
        </p:spPr>
        <p:txBody>
          <a:bodyPr wrap="square" rtlCol="0" anchor="ctr"/>
          <a:lstStyle/>
          <a:p>
            <a:pPr marL="0" indent="0" algn="ctr">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Password reset</a:t>
            </a:r>
            <a:endParaRPr lang="en-US" sz="2000" dirty="0"/>
          </a:p>
        </p:txBody>
      </p:sp>
      <p:sp>
        <p:nvSpPr>
          <p:cNvPr id="9" name="Shape 7"/>
          <p:cNvSpPr/>
          <p:nvPr/>
        </p:nvSpPr>
        <p:spPr>
          <a:xfrm>
            <a:off x="5998464" y="1691640"/>
            <a:ext cx="2587752" cy="457200"/>
          </a:xfrm>
          <a:prstGeom prst="roundRect">
            <a:avLst>
              <a:gd name="adj" fmla="val 50000"/>
            </a:avLst>
          </a:prstGeom>
          <a:solidFill>
            <a:srgbClr val="F2F4F7"/>
          </a:solidFill>
        </p:spPr>
      </p:sp>
      <p:sp>
        <p:nvSpPr>
          <p:cNvPr id="10" name="Text 8"/>
          <p:cNvSpPr/>
          <p:nvPr/>
        </p:nvSpPr>
        <p:spPr>
          <a:xfrm>
            <a:off x="5998464" y="1691640"/>
            <a:ext cx="2587752" cy="457200"/>
          </a:xfrm>
          <a:prstGeom prst="rect">
            <a:avLst/>
          </a:prstGeom>
          <a:noFill/>
        </p:spPr>
        <p:txBody>
          <a:bodyPr wrap="square" rtlCol="0" anchor="ctr"/>
          <a:lstStyle/>
          <a:p>
            <a:pPr marL="0" indent="0" algn="ctr">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OTP verification</a:t>
            </a:r>
            <a:endParaRPr lang="en-US" sz="2000" dirty="0"/>
          </a:p>
        </p:txBody>
      </p:sp>
      <p:sp>
        <p:nvSpPr>
          <p:cNvPr id="11" name="Shape 9"/>
          <p:cNvSpPr/>
          <p:nvPr/>
        </p:nvSpPr>
        <p:spPr>
          <a:xfrm>
            <a:off x="8677656" y="1691640"/>
            <a:ext cx="2587752" cy="457200"/>
          </a:xfrm>
          <a:prstGeom prst="roundRect">
            <a:avLst>
              <a:gd name="adj" fmla="val 50000"/>
            </a:avLst>
          </a:prstGeom>
          <a:solidFill>
            <a:srgbClr val="F2F4F7"/>
          </a:solidFill>
        </p:spPr>
      </p:sp>
      <p:sp>
        <p:nvSpPr>
          <p:cNvPr id="12" name="Text 10"/>
          <p:cNvSpPr/>
          <p:nvPr/>
        </p:nvSpPr>
        <p:spPr>
          <a:xfrm>
            <a:off x="8677656" y="1691640"/>
            <a:ext cx="2587752" cy="457200"/>
          </a:xfrm>
          <a:prstGeom prst="rect">
            <a:avLst/>
          </a:prstGeom>
          <a:noFill/>
        </p:spPr>
        <p:txBody>
          <a:bodyPr wrap="square" rtlCol="0" anchor="ctr"/>
          <a:lstStyle/>
          <a:p>
            <a:pPr marL="0" indent="0" algn="ctr">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Search &amp; filter</a:t>
            </a:r>
            <a:endParaRPr lang="en-US" sz="2000" dirty="0"/>
          </a:p>
        </p:txBody>
      </p:sp>
      <p:sp>
        <p:nvSpPr>
          <p:cNvPr id="13" name="Shape 11"/>
          <p:cNvSpPr/>
          <p:nvPr/>
        </p:nvSpPr>
        <p:spPr>
          <a:xfrm>
            <a:off x="640080" y="2240280"/>
            <a:ext cx="2587752" cy="457200"/>
          </a:xfrm>
          <a:prstGeom prst="roundRect">
            <a:avLst>
              <a:gd name="adj" fmla="val 50000"/>
            </a:avLst>
          </a:prstGeom>
          <a:solidFill>
            <a:srgbClr val="F2F4F7"/>
          </a:solidFill>
        </p:spPr>
      </p:sp>
      <p:sp>
        <p:nvSpPr>
          <p:cNvPr id="14" name="Text 12"/>
          <p:cNvSpPr/>
          <p:nvPr/>
        </p:nvSpPr>
        <p:spPr>
          <a:xfrm>
            <a:off x="640080" y="2240280"/>
            <a:ext cx="2587752" cy="457200"/>
          </a:xfrm>
          <a:prstGeom prst="rect">
            <a:avLst/>
          </a:prstGeom>
          <a:noFill/>
        </p:spPr>
        <p:txBody>
          <a:bodyPr wrap="square" rtlCol="0" anchor="ctr"/>
          <a:lstStyle/>
          <a:p>
            <a:pPr marL="0" indent="0" algn="ctr">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Dashboards</a:t>
            </a:r>
            <a:endParaRPr lang="en-US" sz="2000" dirty="0"/>
          </a:p>
        </p:txBody>
      </p:sp>
      <p:sp>
        <p:nvSpPr>
          <p:cNvPr id="15" name="Shape 13"/>
          <p:cNvSpPr/>
          <p:nvPr/>
        </p:nvSpPr>
        <p:spPr>
          <a:xfrm>
            <a:off x="3319272" y="2240280"/>
            <a:ext cx="2587752" cy="457200"/>
          </a:xfrm>
          <a:prstGeom prst="roundRect">
            <a:avLst>
              <a:gd name="adj" fmla="val 50000"/>
            </a:avLst>
          </a:prstGeom>
          <a:solidFill>
            <a:srgbClr val="F2F4F7"/>
          </a:solidFill>
        </p:spPr>
      </p:sp>
      <p:sp>
        <p:nvSpPr>
          <p:cNvPr id="16" name="Text 14"/>
          <p:cNvSpPr/>
          <p:nvPr/>
        </p:nvSpPr>
        <p:spPr>
          <a:xfrm>
            <a:off x="3319272" y="2240280"/>
            <a:ext cx="2587752" cy="457200"/>
          </a:xfrm>
          <a:prstGeom prst="rect">
            <a:avLst/>
          </a:prstGeom>
          <a:noFill/>
        </p:spPr>
        <p:txBody>
          <a:bodyPr wrap="square" rtlCol="0" anchor="ctr"/>
          <a:lstStyle/>
          <a:p>
            <a:pPr marL="0" indent="0" algn="ctr">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Reports</a:t>
            </a:r>
            <a:endParaRPr lang="en-US" sz="2000" dirty="0"/>
          </a:p>
        </p:txBody>
      </p:sp>
      <p:sp>
        <p:nvSpPr>
          <p:cNvPr id="17" name="Shape 15"/>
          <p:cNvSpPr/>
          <p:nvPr/>
        </p:nvSpPr>
        <p:spPr>
          <a:xfrm>
            <a:off x="5998464" y="2240280"/>
            <a:ext cx="2587752" cy="457200"/>
          </a:xfrm>
          <a:prstGeom prst="roundRect">
            <a:avLst>
              <a:gd name="adj" fmla="val 50000"/>
            </a:avLst>
          </a:prstGeom>
          <a:solidFill>
            <a:srgbClr val="F2F4F7"/>
          </a:solidFill>
        </p:spPr>
      </p:sp>
      <p:sp>
        <p:nvSpPr>
          <p:cNvPr id="18" name="Text 16"/>
          <p:cNvSpPr/>
          <p:nvPr/>
        </p:nvSpPr>
        <p:spPr>
          <a:xfrm>
            <a:off x="5998464" y="2240280"/>
            <a:ext cx="2587752" cy="457200"/>
          </a:xfrm>
          <a:prstGeom prst="rect">
            <a:avLst/>
          </a:prstGeom>
          <a:noFill/>
        </p:spPr>
        <p:txBody>
          <a:bodyPr wrap="square" rtlCol="0" anchor="ctr"/>
          <a:lstStyle/>
          <a:p>
            <a:pPr marL="0" indent="0" algn="ctr">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Digital invoices</a:t>
            </a:r>
            <a:endParaRPr lang="en-US" sz="2000" dirty="0"/>
          </a:p>
        </p:txBody>
      </p:sp>
      <p:sp>
        <p:nvSpPr>
          <p:cNvPr id="19" name="Shape 17"/>
          <p:cNvSpPr/>
          <p:nvPr/>
        </p:nvSpPr>
        <p:spPr>
          <a:xfrm>
            <a:off x="8677656" y="2240280"/>
            <a:ext cx="2587752" cy="457200"/>
          </a:xfrm>
          <a:prstGeom prst="roundRect">
            <a:avLst>
              <a:gd name="adj" fmla="val 50000"/>
            </a:avLst>
          </a:prstGeom>
          <a:solidFill>
            <a:srgbClr val="F2F4F7"/>
          </a:solidFill>
        </p:spPr>
      </p:sp>
      <p:sp>
        <p:nvSpPr>
          <p:cNvPr id="20" name="Text 18"/>
          <p:cNvSpPr/>
          <p:nvPr/>
        </p:nvSpPr>
        <p:spPr>
          <a:xfrm>
            <a:off x="8677656" y="2240280"/>
            <a:ext cx="2587752" cy="457200"/>
          </a:xfrm>
          <a:prstGeom prst="rect">
            <a:avLst/>
          </a:prstGeom>
          <a:noFill/>
        </p:spPr>
        <p:txBody>
          <a:bodyPr wrap="square" rtlCol="0" anchor="ctr"/>
          <a:lstStyle/>
          <a:p>
            <a:pPr marL="0" indent="0" algn="ctr">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Feedback</a:t>
            </a:r>
            <a:endParaRPr lang="en-US" sz="2000" dirty="0"/>
          </a:p>
        </p:txBody>
      </p:sp>
      <p:sp>
        <p:nvSpPr>
          <p:cNvPr id="21" name="Shape 19"/>
          <p:cNvSpPr/>
          <p:nvPr/>
        </p:nvSpPr>
        <p:spPr>
          <a:xfrm>
            <a:off x="640080" y="2788920"/>
            <a:ext cx="2587752" cy="457200"/>
          </a:xfrm>
          <a:prstGeom prst="roundRect">
            <a:avLst>
              <a:gd name="adj" fmla="val 50000"/>
            </a:avLst>
          </a:prstGeom>
          <a:solidFill>
            <a:srgbClr val="F2F4F7"/>
          </a:solidFill>
        </p:spPr>
      </p:sp>
      <p:sp>
        <p:nvSpPr>
          <p:cNvPr id="22" name="Text 20"/>
          <p:cNvSpPr/>
          <p:nvPr/>
        </p:nvSpPr>
        <p:spPr>
          <a:xfrm>
            <a:off x="640080" y="2788920"/>
            <a:ext cx="2587752" cy="457200"/>
          </a:xfrm>
          <a:prstGeom prst="rect">
            <a:avLst/>
          </a:prstGeom>
          <a:noFill/>
        </p:spPr>
        <p:txBody>
          <a:bodyPr wrap="square" rtlCol="0" anchor="ctr"/>
          <a:lstStyle/>
          <a:p>
            <a:pPr marL="0" indent="0" algn="ctr">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Complaints</a:t>
            </a:r>
            <a:endPar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endParaRPr>
          </a:p>
        </p:txBody>
      </p:sp>
      <p:sp>
        <p:nvSpPr>
          <p:cNvPr id="23" name="Shape 21"/>
          <p:cNvSpPr/>
          <p:nvPr/>
        </p:nvSpPr>
        <p:spPr>
          <a:xfrm>
            <a:off x="3319272" y="2788920"/>
            <a:ext cx="2587752" cy="457200"/>
          </a:xfrm>
          <a:prstGeom prst="roundRect">
            <a:avLst>
              <a:gd name="adj" fmla="val 50000"/>
            </a:avLst>
          </a:prstGeom>
          <a:solidFill>
            <a:srgbClr val="F2F4F7"/>
          </a:solidFill>
        </p:spPr>
      </p:sp>
      <p:sp>
        <p:nvSpPr>
          <p:cNvPr id="24" name="Text 22"/>
          <p:cNvSpPr/>
          <p:nvPr/>
        </p:nvSpPr>
        <p:spPr>
          <a:xfrm>
            <a:off x="3319145" y="2788920"/>
            <a:ext cx="2587625" cy="640080"/>
          </a:xfrm>
          <a:prstGeom prst="rect">
            <a:avLst/>
          </a:prstGeom>
          <a:noFill/>
        </p:spPr>
        <p:txBody>
          <a:bodyPr wrap="square" rtlCol="0" anchor="ctr"/>
          <a:lstStyle/>
          <a:p>
            <a:pPr marL="0" indent="0" algn="ctr">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Maintenance history</a:t>
            </a:r>
            <a:endParaRPr lang="en-US" sz="2000" dirty="0"/>
          </a:p>
        </p:txBody>
      </p:sp>
      <p:sp>
        <p:nvSpPr>
          <p:cNvPr id="25" name="Shape 23"/>
          <p:cNvSpPr/>
          <p:nvPr/>
        </p:nvSpPr>
        <p:spPr>
          <a:xfrm>
            <a:off x="5998464" y="2788920"/>
            <a:ext cx="2587752" cy="457200"/>
          </a:xfrm>
          <a:prstGeom prst="roundRect">
            <a:avLst>
              <a:gd name="adj" fmla="val 50000"/>
            </a:avLst>
          </a:prstGeom>
          <a:solidFill>
            <a:srgbClr val="F2F4F7"/>
          </a:solidFill>
        </p:spPr>
      </p:sp>
      <p:sp>
        <p:nvSpPr>
          <p:cNvPr id="26" name="Text 24"/>
          <p:cNvSpPr/>
          <p:nvPr/>
        </p:nvSpPr>
        <p:spPr>
          <a:xfrm>
            <a:off x="5998464" y="2788920"/>
            <a:ext cx="2587752" cy="457200"/>
          </a:xfrm>
          <a:prstGeom prst="rect">
            <a:avLst/>
          </a:prstGeom>
          <a:noFill/>
        </p:spPr>
        <p:txBody>
          <a:bodyPr wrap="square" rtlCol="0" anchor="ctr"/>
          <a:lstStyle/>
          <a:p>
            <a:pPr marL="0" indent="0" algn="ctr">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Waiting list</a:t>
            </a:r>
            <a:endParaRPr lang="en-US" sz="2000" dirty="0"/>
          </a:p>
        </p:txBody>
      </p:sp>
      <p:sp>
        <p:nvSpPr>
          <p:cNvPr id="27" name="Shape 25"/>
          <p:cNvSpPr/>
          <p:nvPr/>
        </p:nvSpPr>
        <p:spPr>
          <a:xfrm>
            <a:off x="8677656" y="2788920"/>
            <a:ext cx="2587752" cy="457200"/>
          </a:xfrm>
          <a:prstGeom prst="roundRect">
            <a:avLst>
              <a:gd name="adj" fmla="val 50000"/>
            </a:avLst>
          </a:prstGeom>
          <a:solidFill>
            <a:srgbClr val="F2F4F7"/>
          </a:solidFill>
        </p:spPr>
      </p:sp>
      <p:sp>
        <p:nvSpPr>
          <p:cNvPr id="28" name="Text 26"/>
          <p:cNvSpPr/>
          <p:nvPr/>
        </p:nvSpPr>
        <p:spPr>
          <a:xfrm>
            <a:off x="8677656" y="2788920"/>
            <a:ext cx="2587752" cy="457200"/>
          </a:xfrm>
          <a:prstGeom prst="rect">
            <a:avLst/>
          </a:prstGeom>
          <a:noFill/>
        </p:spPr>
        <p:txBody>
          <a:bodyPr wrap="square" rtlCol="0" anchor="ctr"/>
          <a:lstStyle/>
          <a:p>
            <a:pPr marL="0" indent="0" algn="ctr">
              <a:buNone/>
            </a:pPr>
            <a:r>
              <a:rPr lang="en-US" sz="2000" b="1" dirty="0">
                <a:solidFill>
                  <a:srgbClr val="0B1F3A"/>
                </a:solidFill>
                <a:latin typeface="Arial" panose="020B0604020202020204" pitchFamily="34" charset="0"/>
                <a:ea typeface="Arial" panose="020B0604020202020204" pitchFamily="34" charset="-122"/>
                <a:cs typeface="Arial" panose="020B0604020202020204" pitchFamily="34" charset="-120"/>
              </a:rPr>
              <a:t>Audit logs</a:t>
            </a:r>
            <a:endParaRPr lang="en-US" sz="2000" dirty="0"/>
          </a:p>
        </p:txBody>
      </p:sp>
      <p:sp>
        <p:nvSpPr>
          <p:cNvPr id="29" name="Text 27"/>
          <p:cNvSpPr/>
          <p:nvPr/>
        </p:nvSpPr>
        <p:spPr>
          <a:xfrm>
            <a:off x="640080" y="3428365"/>
            <a:ext cx="5486400" cy="366395"/>
          </a:xfrm>
          <a:prstGeom prst="rect">
            <a:avLst/>
          </a:prstGeom>
          <a:noFill/>
        </p:spPr>
        <p:txBody>
          <a:bodyPr wrap="square" rtlCol="0" anchor="ctr"/>
          <a:lstStyle/>
          <a:p>
            <a:pPr marL="0" indent="0">
              <a:buNone/>
            </a:pPr>
            <a:r>
              <a:rPr lang="en-US" b="1" kern="0" spc="150" dirty="0">
                <a:solidFill>
                  <a:srgbClr val="6B7684"/>
                </a:solidFill>
                <a:latin typeface="Arial" panose="020B0604020202020204" pitchFamily="34" charset="0"/>
                <a:ea typeface="Arial" panose="020B0604020202020204" pitchFamily="34" charset="-122"/>
                <a:cs typeface="Arial" panose="020B0604020202020204" pitchFamily="34" charset="-120"/>
              </a:rPr>
              <a:t>KEY BUSINESS RULES</a:t>
            </a:r>
            <a:endParaRPr lang="en-US" dirty="0"/>
          </a:p>
        </p:txBody>
      </p:sp>
      <p:pic>
        <p:nvPicPr>
          <p:cNvPr id="30" name="Image 0" descr="icons/exclamationTriangle_luminex.png"/>
          <p:cNvPicPr>
            <a:picLocks noChangeAspect="1"/>
          </p:cNvPicPr>
          <p:nvPr/>
        </p:nvPicPr>
        <p:blipFill>
          <a:blip r:embed="rId1"/>
          <a:stretch>
            <a:fillRect/>
          </a:stretch>
        </p:blipFill>
        <p:spPr>
          <a:xfrm>
            <a:off x="494030" y="3904488"/>
            <a:ext cx="219456" cy="219456"/>
          </a:xfrm>
          <a:prstGeom prst="rect">
            <a:avLst/>
          </a:prstGeom>
        </p:spPr>
      </p:pic>
      <p:sp>
        <p:nvSpPr>
          <p:cNvPr id="31" name="Text 28"/>
          <p:cNvSpPr/>
          <p:nvPr/>
        </p:nvSpPr>
        <p:spPr>
          <a:xfrm>
            <a:off x="960120" y="3840480"/>
            <a:ext cx="5047615" cy="403225"/>
          </a:xfrm>
          <a:prstGeom prst="rect">
            <a:avLst/>
          </a:prstGeom>
          <a:noFill/>
        </p:spPr>
        <p:txBody>
          <a:bodyPr wrap="square" rtlCol="0" anchor="ctr"/>
          <a:lstStyle/>
          <a:p>
            <a:pPr marL="0" indent="0">
              <a:buNone/>
            </a:pPr>
            <a:r>
              <a:rPr lang="en-US" sz="2000" dirty="0">
                <a:solidFill>
                  <a:srgbClr val="4A5563"/>
                </a:solidFill>
                <a:latin typeface="Arial" panose="020B0604020202020204" pitchFamily="34" charset="0"/>
                <a:ea typeface="Arial" panose="020B0604020202020204" pitchFamily="34" charset="-122"/>
                <a:cs typeface="Arial" panose="020B0604020202020204" pitchFamily="34" charset="-120"/>
              </a:rPr>
              <a:t>One bay slot can have only one active booking</a:t>
            </a:r>
            <a:endParaRPr lang="en-US" sz="2000" dirty="0"/>
          </a:p>
        </p:txBody>
      </p:sp>
      <p:pic>
        <p:nvPicPr>
          <p:cNvPr id="32" name="Image 1" descr="icons/exclamationTriangle_luminex.png"/>
          <p:cNvPicPr>
            <a:picLocks noChangeAspect="1"/>
          </p:cNvPicPr>
          <p:nvPr/>
        </p:nvPicPr>
        <p:blipFill>
          <a:blip r:embed="rId1"/>
          <a:stretch>
            <a:fillRect/>
          </a:stretch>
        </p:blipFill>
        <p:spPr>
          <a:xfrm>
            <a:off x="6181344" y="3904488"/>
            <a:ext cx="219456" cy="219456"/>
          </a:xfrm>
          <a:prstGeom prst="rect">
            <a:avLst/>
          </a:prstGeom>
        </p:spPr>
      </p:pic>
      <p:sp>
        <p:nvSpPr>
          <p:cNvPr id="33" name="Text 29"/>
          <p:cNvSpPr/>
          <p:nvPr/>
        </p:nvSpPr>
        <p:spPr>
          <a:xfrm>
            <a:off x="6501384" y="3840480"/>
            <a:ext cx="5047488" cy="384048"/>
          </a:xfrm>
          <a:prstGeom prst="rect">
            <a:avLst/>
          </a:prstGeom>
          <a:noFill/>
        </p:spPr>
        <p:txBody>
          <a:bodyPr wrap="square" rtlCol="0" anchor="ctr"/>
          <a:lstStyle/>
          <a:p>
            <a:pPr marL="0" indent="0">
              <a:buNone/>
            </a:pPr>
            <a:r>
              <a:rPr lang="en-US" dirty="0">
                <a:solidFill>
                  <a:srgbClr val="4A5563"/>
                </a:solidFill>
                <a:latin typeface="Arial" panose="020B0604020202020204" pitchFamily="34" charset="0"/>
                <a:ea typeface="Arial" panose="020B0604020202020204" pitchFamily="34" charset="-122"/>
                <a:cs typeface="Arial" panose="020B0604020202020204" pitchFamily="34" charset="-120"/>
              </a:rPr>
              <a:t>Payment must be verified before an invoice is issued</a:t>
            </a:r>
            <a:endParaRPr lang="en-US" dirty="0"/>
          </a:p>
        </p:txBody>
      </p:sp>
      <p:pic>
        <p:nvPicPr>
          <p:cNvPr id="34" name="Image 2" descr="icons/exclamationTriangle_luminex.png"/>
          <p:cNvPicPr>
            <a:picLocks noChangeAspect="1"/>
          </p:cNvPicPr>
          <p:nvPr/>
        </p:nvPicPr>
        <p:blipFill>
          <a:blip r:embed="rId1"/>
          <a:stretch>
            <a:fillRect/>
          </a:stretch>
        </p:blipFill>
        <p:spPr>
          <a:xfrm>
            <a:off x="494030" y="4374388"/>
            <a:ext cx="219456" cy="219456"/>
          </a:xfrm>
          <a:prstGeom prst="rect">
            <a:avLst/>
          </a:prstGeom>
        </p:spPr>
      </p:pic>
      <p:sp>
        <p:nvSpPr>
          <p:cNvPr id="35" name="Text 30"/>
          <p:cNvSpPr/>
          <p:nvPr/>
        </p:nvSpPr>
        <p:spPr>
          <a:xfrm>
            <a:off x="960120" y="4374515"/>
            <a:ext cx="5047615" cy="380365"/>
          </a:xfrm>
          <a:prstGeom prst="rect">
            <a:avLst/>
          </a:prstGeom>
          <a:noFill/>
        </p:spPr>
        <p:txBody>
          <a:bodyPr wrap="square" rtlCol="0" anchor="ctr"/>
          <a:lstStyle/>
          <a:p>
            <a:pPr marL="0" indent="0">
              <a:buNone/>
            </a:pPr>
            <a:r>
              <a:rPr lang="en-US" sz="2000" dirty="0">
                <a:solidFill>
                  <a:srgbClr val="4A5563"/>
                </a:solidFill>
                <a:latin typeface="Arial" panose="020B0604020202020204" pitchFamily="34" charset="0"/>
                <a:ea typeface="Arial" panose="020B0604020202020204" pitchFamily="34" charset="-122"/>
                <a:cs typeface="Arial" panose="020B0604020202020204" pitchFamily="34" charset="-120"/>
              </a:rPr>
              <a:t>Cancelled bookings cannot be reused</a:t>
            </a:r>
            <a:endParaRPr lang="en-US" sz="2000" dirty="0"/>
          </a:p>
        </p:txBody>
      </p:sp>
      <p:pic>
        <p:nvPicPr>
          <p:cNvPr id="36" name="Image 3" descr="icons/exclamationTriangle_luminex.png"/>
          <p:cNvPicPr>
            <a:picLocks noChangeAspect="1"/>
          </p:cNvPicPr>
          <p:nvPr/>
        </p:nvPicPr>
        <p:blipFill>
          <a:blip r:embed="rId1"/>
          <a:stretch>
            <a:fillRect/>
          </a:stretch>
        </p:blipFill>
        <p:spPr>
          <a:xfrm>
            <a:off x="6181344" y="4535043"/>
            <a:ext cx="219456" cy="219456"/>
          </a:xfrm>
          <a:prstGeom prst="rect">
            <a:avLst/>
          </a:prstGeom>
        </p:spPr>
      </p:pic>
      <p:sp>
        <p:nvSpPr>
          <p:cNvPr id="37" name="Text 31"/>
          <p:cNvSpPr/>
          <p:nvPr/>
        </p:nvSpPr>
        <p:spPr>
          <a:xfrm>
            <a:off x="6501130" y="4374515"/>
            <a:ext cx="5047615" cy="837565"/>
          </a:xfrm>
          <a:prstGeom prst="rect">
            <a:avLst/>
          </a:prstGeom>
          <a:noFill/>
        </p:spPr>
        <p:txBody>
          <a:bodyPr wrap="square" rtlCol="0" anchor="ctr"/>
          <a:lstStyle/>
          <a:p>
            <a:pPr marL="0" indent="0">
              <a:buNone/>
            </a:pPr>
            <a:r>
              <a:rPr lang="en-US" dirty="0">
                <a:solidFill>
                  <a:srgbClr val="4A5563"/>
                </a:solidFill>
                <a:latin typeface="Arial" panose="020B0604020202020204" pitchFamily="34" charset="0"/>
                <a:ea typeface="Arial" panose="020B0604020202020204" pitchFamily="34" charset="-122"/>
                <a:cs typeface="Arial" panose="020B0604020202020204" pitchFamily="34" charset="-120"/>
              </a:rPr>
              <a:t>Duplicate transaction IDs are flagged for Finance review</a:t>
            </a:r>
            <a:endParaRPr lang="en-US" dirty="0"/>
          </a:p>
        </p:txBody>
      </p:sp>
      <p:pic>
        <p:nvPicPr>
          <p:cNvPr id="38" name="Image 4" descr="icons/exclamationTriangle_luminex.png"/>
          <p:cNvPicPr>
            <a:picLocks noChangeAspect="1"/>
          </p:cNvPicPr>
          <p:nvPr/>
        </p:nvPicPr>
        <p:blipFill>
          <a:blip r:embed="rId1"/>
          <a:stretch>
            <a:fillRect/>
          </a:stretch>
        </p:blipFill>
        <p:spPr>
          <a:xfrm>
            <a:off x="494030" y="4913503"/>
            <a:ext cx="219456" cy="219456"/>
          </a:xfrm>
          <a:prstGeom prst="rect">
            <a:avLst/>
          </a:prstGeom>
        </p:spPr>
      </p:pic>
      <p:sp>
        <p:nvSpPr>
          <p:cNvPr id="39" name="Text 32"/>
          <p:cNvSpPr/>
          <p:nvPr/>
        </p:nvSpPr>
        <p:spPr>
          <a:xfrm>
            <a:off x="960120" y="4754880"/>
            <a:ext cx="5047615" cy="788670"/>
          </a:xfrm>
          <a:prstGeom prst="rect">
            <a:avLst/>
          </a:prstGeom>
          <a:noFill/>
        </p:spPr>
        <p:txBody>
          <a:bodyPr wrap="square" rtlCol="0" anchor="ctr"/>
          <a:lstStyle/>
          <a:p>
            <a:pPr marL="0" indent="0">
              <a:buNone/>
            </a:pPr>
            <a:r>
              <a:rPr lang="en-US" sz="2000" dirty="0">
                <a:solidFill>
                  <a:srgbClr val="4A5563"/>
                </a:solidFill>
                <a:latin typeface="Arial" panose="020B0604020202020204" pitchFamily="34" charset="0"/>
                <a:ea typeface="Arial" panose="020B0604020202020204" pitchFamily="34" charset="-122"/>
                <a:cs typeface="Arial" panose="020B0604020202020204" pitchFamily="34" charset="-120"/>
              </a:rPr>
              <a:t>Expired insurance/revision blocks vehicle booking</a:t>
            </a:r>
            <a:endParaRPr lang="en-US" sz="2000" dirty="0"/>
          </a:p>
        </p:txBody>
      </p:sp>
      <p:pic>
        <p:nvPicPr>
          <p:cNvPr id="40" name="Image 5" descr="icons/exclamationTriangle_luminex.png"/>
          <p:cNvPicPr>
            <a:picLocks noChangeAspect="1"/>
          </p:cNvPicPr>
          <p:nvPr/>
        </p:nvPicPr>
        <p:blipFill>
          <a:blip r:embed="rId1"/>
          <a:stretch>
            <a:fillRect/>
          </a:stretch>
        </p:blipFill>
        <p:spPr>
          <a:xfrm>
            <a:off x="6181344" y="5566283"/>
            <a:ext cx="219456" cy="219456"/>
          </a:xfrm>
          <a:prstGeom prst="rect">
            <a:avLst/>
          </a:prstGeom>
        </p:spPr>
      </p:pic>
      <p:sp>
        <p:nvSpPr>
          <p:cNvPr id="41" name="Text 33"/>
          <p:cNvSpPr/>
          <p:nvPr/>
        </p:nvSpPr>
        <p:spPr>
          <a:xfrm>
            <a:off x="6455410" y="5133340"/>
            <a:ext cx="5047615" cy="1241425"/>
          </a:xfrm>
          <a:prstGeom prst="rect">
            <a:avLst/>
          </a:prstGeom>
          <a:noFill/>
        </p:spPr>
        <p:txBody>
          <a:bodyPr wrap="square" rtlCol="0" anchor="ctr"/>
          <a:lstStyle/>
          <a:p>
            <a:pPr marL="0" indent="0">
              <a:buNone/>
            </a:pPr>
            <a:r>
              <a:rPr lang="en-US" sz="2000" dirty="0">
                <a:solidFill>
                  <a:srgbClr val="4A5563"/>
                </a:solidFill>
                <a:latin typeface="Arial" panose="020B0604020202020204" pitchFamily="34" charset="0"/>
                <a:ea typeface="Arial" panose="020B0604020202020204" pitchFamily="34" charset="-122"/>
                <a:cs typeface="Arial" panose="020B0604020202020204" pitchFamily="34" charset="-120"/>
              </a:rPr>
              <a:t>A lower odometer reading than the previous entry is flagged</a:t>
            </a:r>
            <a:endParaRPr lang="en-US" sz="2000" dirty="0"/>
          </a:p>
        </p:txBody>
      </p:sp>
      <p:pic>
        <p:nvPicPr>
          <p:cNvPr id="42" name="Image 6" descr="icons/exclamationTriangle_luminex.png"/>
          <p:cNvPicPr>
            <a:picLocks noChangeAspect="1"/>
          </p:cNvPicPr>
          <p:nvPr/>
        </p:nvPicPr>
        <p:blipFill>
          <a:blip r:embed="rId1"/>
          <a:stretch>
            <a:fillRect/>
          </a:stretch>
        </p:blipFill>
        <p:spPr>
          <a:xfrm>
            <a:off x="494030" y="5785993"/>
            <a:ext cx="219456" cy="219456"/>
          </a:xfrm>
          <a:prstGeom prst="rect">
            <a:avLst/>
          </a:prstGeom>
        </p:spPr>
      </p:pic>
      <p:sp>
        <p:nvSpPr>
          <p:cNvPr id="43" name="Text 34"/>
          <p:cNvSpPr/>
          <p:nvPr/>
        </p:nvSpPr>
        <p:spPr>
          <a:xfrm>
            <a:off x="859790" y="5786120"/>
            <a:ext cx="5047488" cy="384048"/>
          </a:xfrm>
          <a:prstGeom prst="rect">
            <a:avLst/>
          </a:prstGeom>
          <a:noFill/>
        </p:spPr>
        <p:txBody>
          <a:bodyPr wrap="square" rtlCol="0" anchor="ctr"/>
          <a:lstStyle/>
          <a:p>
            <a:pPr marL="0" indent="0">
              <a:buNone/>
            </a:pPr>
            <a:r>
              <a:rPr lang="en-US" sz="2000" dirty="0">
                <a:solidFill>
                  <a:srgbClr val="4A5563"/>
                </a:solidFill>
                <a:latin typeface="Arial" panose="020B0604020202020204" pitchFamily="34" charset="0"/>
                <a:ea typeface="Arial" panose="020B0604020202020204" pitchFamily="34" charset="-122"/>
                <a:cs typeface="Arial" panose="020B0604020202020204" pitchFamily="34" charset="-120"/>
              </a:rPr>
              <a:t>Critical changes trigger customer notifications</a:t>
            </a:r>
            <a:endParaRPr lang="en-US" sz="2000" dirty="0"/>
          </a:p>
        </p:txBody>
      </p:sp>
      <p:sp>
        <p:nvSpPr>
          <p:cNvPr id="44" name="Text 35"/>
          <p:cNvSpPr/>
          <p:nvPr/>
        </p:nvSpPr>
        <p:spPr>
          <a:xfrm>
            <a:off x="11503152" y="6400800"/>
            <a:ext cx="457200" cy="274320"/>
          </a:xfrm>
          <a:prstGeom prst="rect">
            <a:avLst/>
          </a:prstGeom>
          <a:noFill/>
        </p:spPr>
        <p:txBody>
          <a:bodyPr wrap="square" rtlCol="0" anchor="ctr"/>
          <a:lstStyle/>
          <a:p>
            <a:pPr marL="0" indent="0" algn="r">
              <a:buNone/>
            </a:pPr>
            <a:r>
              <a:rPr lang="en-US" sz="900" dirty="0">
                <a:solidFill>
                  <a:srgbClr val="6B7684"/>
                </a:solidFill>
                <a:latin typeface="Arial" panose="020B0604020202020204" pitchFamily="34" charset="0"/>
                <a:ea typeface="Arial" panose="020B0604020202020204" pitchFamily="34" charset="-122"/>
                <a:cs typeface="Arial" panose="020B0604020202020204"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0" cy="274320"/>
          </a:xfrm>
          <a:prstGeom prst="rect">
            <a:avLst/>
          </a:prstGeom>
          <a:noFill/>
        </p:spPr>
        <p:txBody>
          <a:bodyPr wrap="square" rtlCol="0" anchor="ctr"/>
          <a:lstStyle/>
          <a:p>
            <a:pPr marL="0" indent="0">
              <a:buNone/>
            </a:pPr>
            <a:r>
              <a:rPr lang="en-US" sz="1200" b="1" kern="0" spc="200" dirty="0">
                <a:solidFill>
                  <a:srgbClr val="2F6FED"/>
                </a:solidFill>
                <a:latin typeface="Arial" panose="020B0604020202020204" pitchFamily="34" charset="0"/>
                <a:ea typeface="Arial" panose="020B0604020202020204" pitchFamily="34" charset="-122"/>
                <a:cs typeface="Arial" panose="020B0604020202020204" pitchFamily="34" charset="-120"/>
              </a:rPr>
              <a:t>SCOPE</a:t>
            </a:r>
            <a:endParaRPr lang="en-US" sz="1200" dirty="0"/>
          </a:p>
        </p:txBody>
      </p:sp>
      <p:sp>
        <p:nvSpPr>
          <p:cNvPr id="3" name="Text 1"/>
          <p:cNvSpPr/>
          <p:nvPr/>
        </p:nvSpPr>
        <p:spPr>
          <a:xfrm>
            <a:off x="640080" y="685800"/>
            <a:ext cx="10515600" cy="640080"/>
          </a:xfrm>
          <a:prstGeom prst="rect">
            <a:avLst/>
          </a:prstGeom>
          <a:noFill/>
        </p:spPr>
        <p:txBody>
          <a:bodyPr wrap="square" rtlCol="0" anchor="ctr"/>
          <a:lstStyle/>
          <a:p>
            <a:pPr marL="0" indent="0">
              <a:buNone/>
            </a:pPr>
            <a:r>
              <a:rPr lang="en-US" sz="3000" b="1" dirty="0">
                <a:solidFill>
                  <a:srgbClr val="0B1F3A"/>
                </a:solidFill>
                <a:latin typeface="Arial" panose="020B0604020202020204" pitchFamily="34" charset="0"/>
                <a:ea typeface="Arial" panose="020B0604020202020204" pitchFamily="34" charset="-122"/>
                <a:cs typeface="Arial" panose="020B0604020202020204" pitchFamily="34" charset="-120"/>
              </a:rPr>
              <a:t>Constraints &amp; Limitations</a:t>
            </a:r>
            <a:endParaRPr lang="en-US" sz="3000" dirty="0"/>
          </a:p>
        </p:txBody>
      </p:sp>
      <p:sp>
        <p:nvSpPr>
          <p:cNvPr id="4" name="Text 2"/>
          <p:cNvSpPr/>
          <p:nvPr/>
        </p:nvSpPr>
        <p:spPr>
          <a:xfrm>
            <a:off x="640080" y="1371600"/>
            <a:ext cx="5486400" cy="274320"/>
          </a:xfrm>
          <a:prstGeom prst="rect">
            <a:avLst/>
          </a:prstGeom>
          <a:noFill/>
        </p:spPr>
        <p:txBody>
          <a:bodyPr wrap="square" rtlCol="0" anchor="ctr"/>
          <a:lstStyle/>
          <a:p>
            <a:pPr marL="0" indent="0">
              <a:buNone/>
            </a:pPr>
            <a:r>
              <a:rPr lang="en-US" sz="1400" b="1" kern="0" spc="150" dirty="0">
                <a:solidFill>
                  <a:srgbClr val="6B7684"/>
                </a:solidFill>
                <a:latin typeface="Arial" panose="020B0604020202020204" pitchFamily="34" charset="0"/>
                <a:ea typeface="Arial" panose="020B0604020202020204" pitchFamily="34" charset="-122"/>
                <a:cs typeface="Arial" panose="020B0604020202020204" pitchFamily="34" charset="-120"/>
              </a:rPr>
              <a:t>OPEN ITEMS TO CONFIRM</a:t>
            </a:r>
            <a:endParaRPr lang="en-US" sz="1400" dirty="0"/>
          </a:p>
        </p:txBody>
      </p:sp>
      <p:sp>
        <p:nvSpPr>
          <p:cNvPr id="5" name="Shape 3"/>
          <p:cNvSpPr/>
          <p:nvPr/>
        </p:nvSpPr>
        <p:spPr>
          <a:xfrm>
            <a:off x="640080" y="1691640"/>
            <a:ext cx="6903720" cy="475488"/>
          </a:xfrm>
          <a:prstGeom prst="roundRect">
            <a:avLst>
              <a:gd name="adj" fmla="val 11538"/>
            </a:avLst>
          </a:prstGeom>
          <a:solidFill>
            <a:srgbClr val="F2F4F7"/>
          </a:solidFill>
        </p:spPr>
      </p:sp>
      <p:sp>
        <p:nvSpPr>
          <p:cNvPr id="6" name="Shape 4"/>
          <p:cNvSpPr/>
          <p:nvPr/>
        </p:nvSpPr>
        <p:spPr>
          <a:xfrm>
            <a:off x="777240" y="1874520"/>
            <a:ext cx="109728" cy="109728"/>
          </a:xfrm>
          <a:prstGeom prst="ellipse">
            <a:avLst/>
          </a:prstGeom>
          <a:solidFill>
            <a:srgbClr val="2F6FED"/>
          </a:solidFill>
        </p:spPr>
      </p:sp>
      <p:sp>
        <p:nvSpPr>
          <p:cNvPr id="7" name="Text 5"/>
          <p:cNvSpPr/>
          <p:nvPr/>
        </p:nvSpPr>
        <p:spPr>
          <a:xfrm>
            <a:off x="1005840" y="1691640"/>
            <a:ext cx="6400800" cy="475488"/>
          </a:xfrm>
          <a:prstGeom prst="rect">
            <a:avLst/>
          </a:prstGeom>
          <a:noFill/>
        </p:spPr>
        <p:txBody>
          <a:bodyPr wrap="square" rtlCol="0" anchor="ctr"/>
          <a:lstStyle/>
          <a:p>
            <a:pPr marL="0" indent="0">
              <a:buNone/>
            </a:pPr>
            <a:r>
              <a:rPr lang="en-US" sz="1400" dirty="0">
                <a:solidFill>
                  <a:srgbClr val="4A5563"/>
                </a:solidFill>
                <a:latin typeface="Arial" panose="020B0604020202020204" pitchFamily="34" charset="0"/>
                <a:ea typeface="Arial" panose="020B0604020202020204" pitchFamily="34" charset="-122"/>
                <a:cs typeface="Arial" panose="020B0604020202020204" pitchFamily="34" charset="-120"/>
              </a:rPr>
              <a:t>Exact payment gateway, SMS, email, and fuel-supplier APIs are not yet confirmed</a:t>
            </a:r>
            <a:endParaRPr lang="en-US" sz="1400" dirty="0"/>
          </a:p>
        </p:txBody>
      </p:sp>
      <p:sp>
        <p:nvSpPr>
          <p:cNvPr id="8" name="Shape 6"/>
          <p:cNvSpPr/>
          <p:nvPr/>
        </p:nvSpPr>
        <p:spPr>
          <a:xfrm>
            <a:off x="640080" y="2292350"/>
            <a:ext cx="7033260" cy="475615"/>
          </a:xfrm>
          <a:prstGeom prst="roundRect">
            <a:avLst>
              <a:gd name="adj" fmla="val 11538"/>
            </a:avLst>
          </a:prstGeom>
          <a:solidFill>
            <a:srgbClr val="F2F4F7"/>
          </a:solidFill>
        </p:spPr>
      </p:sp>
      <p:sp>
        <p:nvSpPr>
          <p:cNvPr id="9" name="Shape 7"/>
          <p:cNvSpPr/>
          <p:nvPr/>
        </p:nvSpPr>
        <p:spPr>
          <a:xfrm>
            <a:off x="777240" y="2441448"/>
            <a:ext cx="109728" cy="109728"/>
          </a:xfrm>
          <a:prstGeom prst="ellipse">
            <a:avLst/>
          </a:prstGeom>
          <a:solidFill>
            <a:srgbClr val="2F6FED"/>
          </a:solidFill>
        </p:spPr>
      </p:sp>
      <p:sp>
        <p:nvSpPr>
          <p:cNvPr id="10" name="Text 8"/>
          <p:cNvSpPr/>
          <p:nvPr/>
        </p:nvSpPr>
        <p:spPr>
          <a:xfrm>
            <a:off x="1129030" y="2258695"/>
            <a:ext cx="6407150" cy="475615"/>
          </a:xfrm>
          <a:prstGeom prst="rect">
            <a:avLst/>
          </a:prstGeom>
          <a:noFill/>
        </p:spPr>
        <p:txBody>
          <a:bodyPr wrap="square" rtlCol="0" anchor="ctr"/>
          <a:lstStyle/>
          <a:p>
            <a:pPr marL="0" indent="0">
              <a:buNone/>
            </a:pPr>
            <a:r>
              <a:rPr lang="en-US" sz="1400" dirty="0">
                <a:solidFill>
                  <a:srgbClr val="4A5563"/>
                </a:solidFill>
                <a:latin typeface="Arial" panose="020B0604020202020204" pitchFamily="34" charset="0"/>
                <a:ea typeface="Arial" panose="020B0604020202020204" pitchFamily="34" charset="-122"/>
                <a:cs typeface="Arial" panose="020B0604020202020204" pitchFamily="34" charset="-120"/>
              </a:rPr>
              <a:t>Refund percentages, financial approval limits, and late-payment rules need final approval</a:t>
            </a:r>
            <a:endParaRPr lang="en-US" sz="1400" dirty="0"/>
          </a:p>
        </p:txBody>
      </p:sp>
      <p:sp>
        <p:nvSpPr>
          <p:cNvPr id="11" name="Shape 9"/>
          <p:cNvSpPr/>
          <p:nvPr/>
        </p:nvSpPr>
        <p:spPr>
          <a:xfrm>
            <a:off x="640080" y="2825496"/>
            <a:ext cx="6903720" cy="475488"/>
          </a:xfrm>
          <a:prstGeom prst="roundRect">
            <a:avLst>
              <a:gd name="adj" fmla="val 11538"/>
            </a:avLst>
          </a:prstGeom>
          <a:solidFill>
            <a:srgbClr val="F2F4F7"/>
          </a:solidFill>
        </p:spPr>
      </p:sp>
      <p:sp>
        <p:nvSpPr>
          <p:cNvPr id="12" name="Shape 10"/>
          <p:cNvSpPr/>
          <p:nvPr/>
        </p:nvSpPr>
        <p:spPr>
          <a:xfrm>
            <a:off x="777240" y="3008376"/>
            <a:ext cx="109728" cy="109728"/>
          </a:xfrm>
          <a:prstGeom prst="ellipse">
            <a:avLst/>
          </a:prstGeom>
          <a:solidFill>
            <a:srgbClr val="2F6FED"/>
          </a:solidFill>
        </p:spPr>
      </p:sp>
      <p:sp>
        <p:nvSpPr>
          <p:cNvPr id="13" name="Text 11"/>
          <p:cNvSpPr/>
          <p:nvPr/>
        </p:nvSpPr>
        <p:spPr>
          <a:xfrm>
            <a:off x="1005840" y="2825496"/>
            <a:ext cx="6400800" cy="475488"/>
          </a:xfrm>
          <a:prstGeom prst="rect">
            <a:avLst/>
          </a:prstGeom>
          <a:noFill/>
        </p:spPr>
        <p:txBody>
          <a:bodyPr wrap="square" rtlCol="0" anchor="ctr"/>
          <a:lstStyle/>
          <a:p>
            <a:pPr marL="0" indent="0">
              <a:buNone/>
            </a:pPr>
            <a:r>
              <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rPr>
              <a:t>Guest invoice/refund retrieval method is still open</a:t>
            </a:r>
            <a:endParaRPr lang="en-US" sz="1600" dirty="0"/>
          </a:p>
        </p:txBody>
      </p:sp>
      <p:sp>
        <p:nvSpPr>
          <p:cNvPr id="14" name="Shape 12"/>
          <p:cNvSpPr/>
          <p:nvPr/>
        </p:nvSpPr>
        <p:spPr>
          <a:xfrm>
            <a:off x="640080" y="3392424"/>
            <a:ext cx="6903720" cy="475488"/>
          </a:xfrm>
          <a:prstGeom prst="roundRect">
            <a:avLst>
              <a:gd name="adj" fmla="val 11538"/>
            </a:avLst>
          </a:prstGeom>
          <a:solidFill>
            <a:srgbClr val="F2F4F7"/>
          </a:solidFill>
        </p:spPr>
      </p:sp>
      <p:sp>
        <p:nvSpPr>
          <p:cNvPr id="15" name="Shape 13"/>
          <p:cNvSpPr/>
          <p:nvPr/>
        </p:nvSpPr>
        <p:spPr>
          <a:xfrm>
            <a:off x="777240" y="3575304"/>
            <a:ext cx="109728" cy="109728"/>
          </a:xfrm>
          <a:prstGeom prst="ellipse">
            <a:avLst/>
          </a:prstGeom>
          <a:solidFill>
            <a:srgbClr val="2F6FED"/>
          </a:solidFill>
        </p:spPr>
      </p:sp>
      <p:sp>
        <p:nvSpPr>
          <p:cNvPr id="16" name="Text 14"/>
          <p:cNvSpPr/>
          <p:nvPr/>
        </p:nvSpPr>
        <p:spPr>
          <a:xfrm>
            <a:off x="1005840" y="3392424"/>
            <a:ext cx="6400800" cy="475488"/>
          </a:xfrm>
          <a:prstGeom prst="rect">
            <a:avLst/>
          </a:prstGeom>
          <a:noFill/>
        </p:spPr>
        <p:txBody>
          <a:bodyPr wrap="square" rtlCol="0" anchor="ctr"/>
          <a:lstStyle/>
          <a:p>
            <a:pPr marL="0" indent="0">
              <a:buNone/>
            </a:pPr>
            <a:r>
              <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rPr>
              <a:t>Offline operation and synchronisation procedures need final decisions</a:t>
            </a:r>
            <a:endPar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endParaRPr>
          </a:p>
        </p:txBody>
      </p:sp>
      <p:sp>
        <p:nvSpPr>
          <p:cNvPr id="17" name="Shape 15"/>
          <p:cNvSpPr/>
          <p:nvPr/>
        </p:nvSpPr>
        <p:spPr>
          <a:xfrm>
            <a:off x="640080" y="3959352"/>
            <a:ext cx="6903720" cy="475488"/>
          </a:xfrm>
          <a:prstGeom prst="roundRect">
            <a:avLst>
              <a:gd name="adj" fmla="val 11538"/>
            </a:avLst>
          </a:prstGeom>
          <a:solidFill>
            <a:srgbClr val="F2F4F7"/>
          </a:solidFill>
        </p:spPr>
      </p:sp>
      <p:sp>
        <p:nvSpPr>
          <p:cNvPr id="18" name="Shape 16"/>
          <p:cNvSpPr/>
          <p:nvPr/>
        </p:nvSpPr>
        <p:spPr>
          <a:xfrm>
            <a:off x="777240" y="4142232"/>
            <a:ext cx="109728" cy="109728"/>
          </a:xfrm>
          <a:prstGeom prst="ellipse">
            <a:avLst/>
          </a:prstGeom>
          <a:solidFill>
            <a:srgbClr val="2F6FED"/>
          </a:solidFill>
        </p:spPr>
      </p:sp>
      <p:sp>
        <p:nvSpPr>
          <p:cNvPr id="19" name="Text 17"/>
          <p:cNvSpPr/>
          <p:nvPr/>
        </p:nvSpPr>
        <p:spPr>
          <a:xfrm>
            <a:off x="1005840" y="3959352"/>
            <a:ext cx="6400800" cy="475488"/>
          </a:xfrm>
          <a:prstGeom prst="rect">
            <a:avLst/>
          </a:prstGeom>
          <a:noFill/>
        </p:spPr>
        <p:txBody>
          <a:bodyPr wrap="square" rtlCol="0" anchor="ctr"/>
          <a:lstStyle/>
          <a:p>
            <a:pPr marL="0" indent="0">
              <a:buNone/>
            </a:pPr>
            <a:r>
              <a:rPr lang="en-US" sz="1600" dirty="0">
                <a:solidFill>
                  <a:srgbClr val="4A5563"/>
                </a:solidFill>
                <a:latin typeface="Arial" panose="020B0604020202020204" pitchFamily="34" charset="0"/>
                <a:ea typeface="Arial" panose="020B0604020202020204" pitchFamily="34" charset="-122"/>
                <a:cs typeface="Arial" panose="020B0604020202020204" pitchFamily="34" charset="-120"/>
              </a:rPr>
              <a:t>Peak user load, browser/device targets, and detailed permissions require validation</a:t>
            </a:r>
            <a:endParaRPr lang="en-US" sz="1600" dirty="0"/>
          </a:p>
        </p:txBody>
      </p:sp>
      <p:sp>
        <p:nvSpPr>
          <p:cNvPr id="20" name="Shape 18"/>
          <p:cNvSpPr/>
          <p:nvPr/>
        </p:nvSpPr>
        <p:spPr>
          <a:xfrm>
            <a:off x="7772400" y="1691640"/>
            <a:ext cx="3776472" cy="4343400"/>
          </a:xfrm>
          <a:prstGeom prst="roundRect">
            <a:avLst>
              <a:gd name="adj" fmla="val 1937"/>
            </a:avLst>
          </a:prstGeom>
          <a:solidFill>
            <a:srgbClr val="0B1F3A"/>
          </a:solidFill>
        </p:spPr>
      </p:sp>
      <p:sp>
        <p:nvSpPr>
          <p:cNvPr id="21" name="Shape 19"/>
          <p:cNvSpPr/>
          <p:nvPr/>
        </p:nvSpPr>
        <p:spPr>
          <a:xfrm>
            <a:off x="8001000" y="1920240"/>
            <a:ext cx="502920" cy="502920"/>
          </a:xfrm>
          <a:prstGeom prst="ellipse">
            <a:avLst/>
          </a:prstGeom>
          <a:solidFill>
            <a:srgbClr val="2F6FED"/>
          </a:solidFill>
        </p:spPr>
      </p:sp>
      <p:pic>
        <p:nvPicPr>
          <p:cNvPr id="22" name="Image 0" descr="icons/flagCheckered_white.png"/>
          <p:cNvPicPr>
            <a:picLocks noChangeAspect="1"/>
          </p:cNvPicPr>
          <p:nvPr/>
        </p:nvPicPr>
        <p:blipFill>
          <a:blip r:embed="rId1"/>
          <a:stretch>
            <a:fillRect/>
          </a:stretch>
        </p:blipFill>
        <p:spPr>
          <a:xfrm>
            <a:off x="8136788" y="2056028"/>
            <a:ext cx="231343" cy="231343"/>
          </a:xfrm>
          <a:prstGeom prst="rect">
            <a:avLst/>
          </a:prstGeom>
        </p:spPr>
      </p:pic>
      <p:sp>
        <p:nvSpPr>
          <p:cNvPr id="23" name="Text 20"/>
          <p:cNvSpPr/>
          <p:nvPr/>
        </p:nvSpPr>
        <p:spPr>
          <a:xfrm>
            <a:off x="8001000" y="2542032"/>
            <a:ext cx="3291840" cy="365760"/>
          </a:xfrm>
          <a:prstGeom prst="rect">
            <a:avLst/>
          </a:prstGeom>
          <a:noFill/>
        </p:spPr>
        <p:txBody>
          <a:bodyPr wrap="square" rtlCol="0" anchor="ctr"/>
          <a:lstStyle/>
          <a:p>
            <a:pPr marL="0" indent="0">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Version 1 Scope</a:t>
            </a:r>
            <a:endParaRPr lang="en-US" sz="1500" dirty="0"/>
          </a:p>
        </p:txBody>
      </p:sp>
      <p:sp>
        <p:nvSpPr>
          <p:cNvPr id="24" name="Text 21"/>
          <p:cNvSpPr/>
          <p:nvPr/>
        </p:nvSpPr>
        <p:spPr>
          <a:xfrm>
            <a:off x="8001000" y="2926080"/>
            <a:ext cx="3291840" cy="502920"/>
          </a:xfrm>
          <a:prstGeom prst="rect">
            <a:avLst/>
          </a:prstGeom>
          <a:noFill/>
        </p:spPr>
        <p:txBody>
          <a:bodyPr wrap="square" rtlCol="0" anchor="ctr"/>
          <a:lstStyle/>
          <a:p>
            <a:pPr marL="0" indent="0">
              <a:lnSpc>
                <a:spcPct val="120000"/>
              </a:lnSpc>
              <a:buNone/>
            </a:pPr>
            <a:r>
              <a:rPr lang="en-US" dirty="0">
                <a:solidFill>
                  <a:srgbClr val="F2F4F7"/>
                </a:solidFill>
                <a:latin typeface="Arial" panose="020B0604020202020204" pitchFamily="34" charset="0"/>
                <a:ea typeface="Arial" panose="020B0604020202020204" pitchFamily="34" charset="-122"/>
                <a:cs typeface="Arial" panose="020B0604020202020204" pitchFamily="34" charset="-120"/>
              </a:rPr>
              <a:t>The initial release focuses only on the six core modules.</a:t>
            </a:r>
            <a:endParaRPr lang="en-US" dirty="0"/>
          </a:p>
        </p:txBody>
      </p:sp>
      <p:sp>
        <p:nvSpPr>
          <p:cNvPr id="25" name="Shape 22"/>
          <p:cNvSpPr/>
          <p:nvPr/>
        </p:nvSpPr>
        <p:spPr>
          <a:xfrm>
            <a:off x="8001000" y="3520440"/>
            <a:ext cx="3291840" cy="0"/>
          </a:xfrm>
          <a:prstGeom prst="line">
            <a:avLst/>
          </a:prstGeom>
          <a:noFill/>
          <a:ln w="12700">
            <a:solidFill>
              <a:srgbClr val="13294F"/>
            </a:solidFill>
            <a:prstDash val="solid"/>
          </a:ln>
        </p:spPr>
      </p:sp>
      <p:sp>
        <p:nvSpPr>
          <p:cNvPr id="26" name="Text 23"/>
          <p:cNvSpPr/>
          <p:nvPr/>
        </p:nvSpPr>
        <p:spPr>
          <a:xfrm>
            <a:off x="8001000" y="3657600"/>
            <a:ext cx="3291840" cy="274320"/>
          </a:xfrm>
          <a:prstGeom prst="rect">
            <a:avLst/>
          </a:prstGeom>
          <a:noFill/>
        </p:spPr>
        <p:txBody>
          <a:bodyPr wrap="square" rtlCol="0" anchor="ctr"/>
          <a:lstStyle/>
          <a:p>
            <a:pPr marL="0" indent="0">
              <a:buNone/>
            </a:pPr>
            <a:r>
              <a:rPr lang="en-US" sz="1600" b="1" kern="0" spc="150" dirty="0">
                <a:solidFill>
                  <a:srgbClr val="2F6FED"/>
                </a:solidFill>
                <a:latin typeface="Arial" panose="020B0604020202020204" pitchFamily="34" charset="0"/>
                <a:ea typeface="Arial" panose="020B0604020202020204" pitchFamily="34" charset="-122"/>
                <a:cs typeface="Arial" panose="020B0604020202020204" pitchFamily="34" charset="-120"/>
              </a:rPr>
              <a:t>FUTURE ENHANCEMENTS</a:t>
            </a:r>
            <a:endParaRPr lang="en-US" sz="1600" b="1" kern="0" spc="150" dirty="0">
              <a:solidFill>
                <a:srgbClr val="2F6FED"/>
              </a:solidFill>
              <a:latin typeface="Arial" panose="020B0604020202020204" pitchFamily="34" charset="0"/>
              <a:ea typeface="Arial" panose="020B0604020202020204" pitchFamily="34" charset="-122"/>
              <a:cs typeface="Arial" panose="020B0604020202020204" pitchFamily="34" charset="-120"/>
            </a:endParaRPr>
          </a:p>
        </p:txBody>
      </p:sp>
      <p:pic>
        <p:nvPicPr>
          <p:cNvPr id="27" name="Image 1" descr="icons/checkCircle_white.png"/>
          <p:cNvPicPr>
            <a:picLocks noChangeAspect="1"/>
          </p:cNvPicPr>
          <p:nvPr/>
        </p:nvPicPr>
        <p:blipFill>
          <a:blip r:embed="rId2"/>
          <a:stretch>
            <a:fillRect/>
          </a:stretch>
        </p:blipFill>
        <p:spPr>
          <a:xfrm>
            <a:off x="8001000" y="3977640"/>
            <a:ext cx="201168" cy="201168"/>
          </a:xfrm>
          <a:prstGeom prst="rect">
            <a:avLst/>
          </a:prstGeom>
        </p:spPr>
      </p:pic>
      <p:sp>
        <p:nvSpPr>
          <p:cNvPr id="28" name="Text 24"/>
          <p:cNvSpPr/>
          <p:nvPr/>
        </p:nvSpPr>
        <p:spPr>
          <a:xfrm>
            <a:off x="8302752" y="3931920"/>
            <a:ext cx="2926080" cy="310896"/>
          </a:xfrm>
          <a:prstGeom prst="rect">
            <a:avLst/>
          </a:prstGeom>
          <a:noFill/>
        </p:spPr>
        <p:txBody>
          <a:bodyPr wrap="square" rtlCol="0" anchor="ctr"/>
          <a:lstStyle/>
          <a:p>
            <a:pPr marL="0" indent="0">
              <a:buNone/>
            </a:pPr>
            <a:r>
              <a:rPr lang="en-US" sz="1600" dirty="0">
                <a:solidFill>
                  <a:srgbClr val="FFFFFF"/>
                </a:solidFill>
                <a:latin typeface="Arial" panose="020B0604020202020204" pitchFamily="34" charset="0"/>
                <a:ea typeface="Arial" panose="020B0604020202020204" pitchFamily="34" charset="-122"/>
                <a:cs typeface="Arial" panose="020B0604020202020204" pitchFamily="34" charset="-120"/>
              </a:rPr>
              <a:t>Loyalty programmes</a:t>
            </a:r>
            <a:endParaRPr lang="en-US" sz="1600" dirty="0"/>
          </a:p>
        </p:txBody>
      </p:sp>
      <p:pic>
        <p:nvPicPr>
          <p:cNvPr id="29" name="Image 2" descr="icons/checkCircle_white.png"/>
          <p:cNvPicPr>
            <a:picLocks noChangeAspect="1"/>
          </p:cNvPicPr>
          <p:nvPr/>
        </p:nvPicPr>
        <p:blipFill>
          <a:blip r:embed="rId2"/>
          <a:stretch>
            <a:fillRect/>
          </a:stretch>
        </p:blipFill>
        <p:spPr>
          <a:xfrm>
            <a:off x="8001000" y="4379976"/>
            <a:ext cx="201168" cy="201168"/>
          </a:xfrm>
          <a:prstGeom prst="rect">
            <a:avLst/>
          </a:prstGeom>
        </p:spPr>
      </p:pic>
      <p:sp>
        <p:nvSpPr>
          <p:cNvPr id="30" name="Text 25"/>
          <p:cNvSpPr/>
          <p:nvPr/>
        </p:nvSpPr>
        <p:spPr>
          <a:xfrm>
            <a:off x="8366887" y="4289171"/>
            <a:ext cx="2926080" cy="310896"/>
          </a:xfrm>
          <a:prstGeom prst="rect">
            <a:avLst/>
          </a:prstGeom>
          <a:noFill/>
        </p:spPr>
        <p:txBody>
          <a:bodyPr wrap="square" rtlCol="0" anchor="ctr"/>
          <a:lstStyle/>
          <a:p>
            <a:pPr marL="0" indent="0">
              <a:buNone/>
            </a:pPr>
            <a:r>
              <a:rPr lang="en-US" sz="1600" dirty="0">
                <a:solidFill>
                  <a:srgbClr val="FFFFFF"/>
                </a:solidFill>
                <a:latin typeface="Arial" panose="020B0604020202020204" pitchFamily="34" charset="0"/>
                <a:ea typeface="Arial" panose="020B0604020202020204" pitchFamily="34" charset="-122"/>
                <a:cs typeface="Arial" panose="020B0604020202020204" pitchFamily="34" charset="-120"/>
              </a:rPr>
              <a:t>Advanced analytics</a:t>
            </a:r>
            <a:endParaRPr lang="en-US" sz="1600" dirty="0">
              <a:solidFill>
                <a:srgbClr val="FFFFFF"/>
              </a:solidFill>
              <a:latin typeface="Arial" panose="020B0604020202020204" pitchFamily="34" charset="0"/>
              <a:ea typeface="Arial" panose="020B0604020202020204" pitchFamily="34" charset="-122"/>
              <a:cs typeface="Arial" panose="020B0604020202020204" pitchFamily="34" charset="-120"/>
            </a:endParaRPr>
          </a:p>
        </p:txBody>
      </p:sp>
      <p:pic>
        <p:nvPicPr>
          <p:cNvPr id="31" name="Image 3" descr="icons/checkCircle_white.png"/>
          <p:cNvPicPr>
            <a:picLocks noChangeAspect="1"/>
          </p:cNvPicPr>
          <p:nvPr/>
        </p:nvPicPr>
        <p:blipFill>
          <a:blip r:embed="rId2"/>
          <a:stretch>
            <a:fillRect/>
          </a:stretch>
        </p:blipFill>
        <p:spPr>
          <a:xfrm>
            <a:off x="8001000" y="4782312"/>
            <a:ext cx="201168" cy="201168"/>
          </a:xfrm>
          <a:prstGeom prst="rect">
            <a:avLst/>
          </a:prstGeom>
        </p:spPr>
      </p:pic>
      <p:sp>
        <p:nvSpPr>
          <p:cNvPr id="32" name="Text 26"/>
          <p:cNvSpPr/>
          <p:nvPr/>
        </p:nvSpPr>
        <p:spPr>
          <a:xfrm>
            <a:off x="8302752" y="4736592"/>
            <a:ext cx="2926080" cy="310896"/>
          </a:xfrm>
          <a:prstGeom prst="rect">
            <a:avLst/>
          </a:prstGeom>
          <a:noFill/>
        </p:spPr>
        <p:txBody>
          <a:bodyPr wrap="square" rtlCol="0" anchor="ctr"/>
          <a:lstStyle/>
          <a:p>
            <a:pPr marL="0" indent="0">
              <a:buNone/>
            </a:pPr>
            <a:r>
              <a:rPr lang="en-US" sz="1600" dirty="0">
                <a:solidFill>
                  <a:srgbClr val="FFFFFF"/>
                </a:solidFill>
                <a:latin typeface="Arial" panose="020B0604020202020204" pitchFamily="34" charset="0"/>
                <a:ea typeface="Arial" panose="020B0604020202020204" pitchFamily="34" charset="-122"/>
                <a:cs typeface="Arial" panose="020B0604020202020204" pitchFamily="34" charset="-120"/>
              </a:rPr>
              <a:t>Group bookings</a:t>
            </a:r>
            <a:endParaRPr lang="en-US" sz="1600" dirty="0"/>
          </a:p>
        </p:txBody>
      </p:sp>
      <p:pic>
        <p:nvPicPr>
          <p:cNvPr id="33" name="Image 4" descr="icons/checkCircle_white.png"/>
          <p:cNvPicPr>
            <a:picLocks noChangeAspect="1"/>
          </p:cNvPicPr>
          <p:nvPr/>
        </p:nvPicPr>
        <p:blipFill>
          <a:blip r:embed="rId2"/>
          <a:stretch>
            <a:fillRect/>
          </a:stretch>
        </p:blipFill>
        <p:spPr>
          <a:xfrm>
            <a:off x="8001000" y="5184648"/>
            <a:ext cx="201168" cy="201168"/>
          </a:xfrm>
          <a:prstGeom prst="rect">
            <a:avLst/>
          </a:prstGeom>
        </p:spPr>
      </p:pic>
      <p:sp>
        <p:nvSpPr>
          <p:cNvPr id="34" name="Text 27"/>
          <p:cNvSpPr/>
          <p:nvPr/>
        </p:nvSpPr>
        <p:spPr>
          <a:xfrm>
            <a:off x="8302752" y="5138928"/>
            <a:ext cx="2926080" cy="310896"/>
          </a:xfrm>
          <a:prstGeom prst="rect">
            <a:avLst/>
          </a:prstGeom>
          <a:noFill/>
        </p:spPr>
        <p:txBody>
          <a:bodyPr wrap="square" rtlCol="0" anchor="ctr"/>
          <a:lstStyle/>
          <a:p>
            <a:pPr marL="0" indent="0">
              <a:buNone/>
            </a:pPr>
            <a:r>
              <a:rPr lang="en-US" sz="1600" dirty="0">
                <a:solidFill>
                  <a:srgbClr val="FFFFFF"/>
                </a:solidFill>
                <a:latin typeface="Arial" panose="020B0604020202020204" pitchFamily="34" charset="0"/>
                <a:ea typeface="Arial" panose="020B0604020202020204" pitchFamily="34" charset="-122"/>
                <a:cs typeface="Arial" panose="020B0604020202020204" pitchFamily="34" charset="-120"/>
              </a:rPr>
              <a:t>Mobile app</a:t>
            </a:r>
            <a:endParaRPr lang="en-US" sz="1600" dirty="0"/>
          </a:p>
        </p:txBody>
      </p:sp>
      <p:sp>
        <p:nvSpPr>
          <p:cNvPr id="35" name="Text 28"/>
          <p:cNvSpPr/>
          <p:nvPr/>
        </p:nvSpPr>
        <p:spPr>
          <a:xfrm>
            <a:off x="11503152" y="6400800"/>
            <a:ext cx="457200" cy="274320"/>
          </a:xfrm>
          <a:prstGeom prst="rect">
            <a:avLst/>
          </a:prstGeom>
          <a:noFill/>
        </p:spPr>
        <p:txBody>
          <a:bodyPr wrap="square" rtlCol="0" anchor="ctr"/>
          <a:lstStyle/>
          <a:p>
            <a:pPr marL="0" indent="0" algn="r">
              <a:buNone/>
            </a:pPr>
            <a:r>
              <a:rPr lang="en-US" sz="900" dirty="0">
                <a:solidFill>
                  <a:srgbClr val="6B7684"/>
                </a:solidFill>
                <a:latin typeface="Arial" panose="020B0604020202020204" pitchFamily="34" charset="0"/>
                <a:ea typeface="Arial" panose="020B0604020202020204" pitchFamily="34" charset="-122"/>
                <a:cs typeface="Arial" panose="020B0604020202020204"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0" cy="274320"/>
          </a:xfrm>
          <a:prstGeom prst="rect">
            <a:avLst/>
          </a:prstGeom>
          <a:noFill/>
        </p:spPr>
        <p:txBody>
          <a:bodyPr wrap="square" rtlCol="0" anchor="ctr"/>
          <a:lstStyle/>
          <a:p>
            <a:pPr marL="0" indent="0">
              <a:buNone/>
            </a:pPr>
            <a:r>
              <a:rPr lang="en-US" sz="2000" b="1" kern="0" spc="200" dirty="0">
                <a:solidFill>
                  <a:srgbClr val="2F6FED"/>
                </a:solidFill>
                <a:latin typeface="Arial" panose="020B0604020202020204" pitchFamily="34" charset="0"/>
                <a:ea typeface="Arial" panose="020B0604020202020204" pitchFamily="34" charset="-122"/>
                <a:cs typeface="Arial" panose="020B0604020202020204" pitchFamily="34" charset="-120"/>
              </a:rPr>
              <a:t>PLANNING</a:t>
            </a:r>
            <a:endParaRPr lang="en-US" sz="2000" dirty="0"/>
          </a:p>
        </p:txBody>
      </p:sp>
      <p:sp>
        <p:nvSpPr>
          <p:cNvPr id="3" name="Text 1"/>
          <p:cNvSpPr/>
          <p:nvPr/>
        </p:nvSpPr>
        <p:spPr>
          <a:xfrm>
            <a:off x="640080" y="685800"/>
            <a:ext cx="10515600" cy="640080"/>
          </a:xfrm>
          <a:prstGeom prst="rect">
            <a:avLst/>
          </a:prstGeom>
          <a:noFill/>
        </p:spPr>
        <p:txBody>
          <a:bodyPr wrap="square" rtlCol="0" anchor="ctr"/>
          <a:lstStyle/>
          <a:p>
            <a:pPr marL="0" indent="0">
              <a:buNone/>
            </a:pPr>
            <a:r>
              <a:rPr lang="en-US" sz="3000" b="1" dirty="0">
                <a:solidFill>
                  <a:srgbClr val="0B1F3A"/>
                </a:solidFill>
                <a:latin typeface="Arial" panose="020B0604020202020204" pitchFamily="34" charset="0"/>
                <a:ea typeface="Arial" panose="020B0604020202020204" pitchFamily="34" charset="-122"/>
                <a:cs typeface="Arial" panose="020B0604020202020204" pitchFamily="34" charset="-120"/>
              </a:rPr>
              <a:t>Project Timeline — Week 3 to Week 14</a:t>
            </a:r>
            <a:endParaRPr lang="en-US" sz="3000" dirty="0"/>
          </a:p>
        </p:txBody>
      </p:sp>
      <p:sp>
        <p:nvSpPr>
          <p:cNvPr id="4" name="Text 2"/>
          <p:cNvSpPr/>
          <p:nvPr/>
        </p:nvSpPr>
        <p:spPr>
          <a:xfrm>
            <a:off x="2907030" y="1188720"/>
            <a:ext cx="678180" cy="228600"/>
          </a:xfrm>
          <a:prstGeom prst="rect">
            <a:avLst/>
          </a:prstGeom>
          <a:noFill/>
        </p:spPr>
        <p:txBody>
          <a:bodyPr wrap="square" rtlCol="0" anchor="ctr"/>
          <a:lstStyle/>
          <a:p>
            <a:pPr marL="0" indent="0" algn="ctr">
              <a:buNone/>
            </a:pPr>
            <a:r>
              <a:rPr lang="en-US" sz="800" dirty="0">
                <a:solidFill>
                  <a:srgbClr val="6B7684"/>
                </a:solidFill>
                <a:latin typeface="Arial" panose="020B0604020202020204" pitchFamily="34" charset="0"/>
                <a:ea typeface="Arial" panose="020B0604020202020204" pitchFamily="34" charset="-122"/>
                <a:cs typeface="Arial" panose="020B0604020202020204" pitchFamily="34" charset="-120"/>
              </a:rPr>
              <a:t>3</a:t>
            </a:r>
            <a:endParaRPr lang="en-US" sz="800" dirty="0"/>
          </a:p>
        </p:txBody>
      </p:sp>
      <p:sp>
        <p:nvSpPr>
          <p:cNvPr id="5" name="Shape 3"/>
          <p:cNvSpPr/>
          <p:nvPr/>
        </p:nvSpPr>
        <p:spPr>
          <a:xfrm>
            <a:off x="3246120" y="1463040"/>
            <a:ext cx="0" cy="4498848"/>
          </a:xfrm>
          <a:prstGeom prst="line">
            <a:avLst/>
          </a:prstGeom>
          <a:noFill/>
          <a:ln w="9525">
            <a:solidFill>
              <a:srgbClr val="E7EBF0"/>
            </a:solidFill>
            <a:prstDash val="solid"/>
          </a:ln>
        </p:spPr>
      </p:sp>
      <p:sp>
        <p:nvSpPr>
          <p:cNvPr id="6" name="Text 4"/>
          <p:cNvSpPr/>
          <p:nvPr/>
        </p:nvSpPr>
        <p:spPr>
          <a:xfrm>
            <a:off x="3585210" y="1188720"/>
            <a:ext cx="678180" cy="228600"/>
          </a:xfrm>
          <a:prstGeom prst="rect">
            <a:avLst/>
          </a:prstGeom>
          <a:noFill/>
        </p:spPr>
        <p:txBody>
          <a:bodyPr wrap="square" rtlCol="0" anchor="ctr"/>
          <a:lstStyle/>
          <a:p>
            <a:pPr marL="0" indent="0" algn="ctr">
              <a:buNone/>
            </a:pPr>
            <a:r>
              <a:rPr lang="en-US" sz="800" dirty="0">
                <a:solidFill>
                  <a:srgbClr val="6B7684"/>
                </a:solidFill>
                <a:latin typeface="Arial" panose="020B0604020202020204" pitchFamily="34" charset="0"/>
                <a:ea typeface="Arial" panose="020B0604020202020204" pitchFamily="34" charset="-122"/>
                <a:cs typeface="Arial" panose="020B0604020202020204" pitchFamily="34" charset="-120"/>
              </a:rPr>
              <a:t>4</a:t>
            </a:r>
            <a:endParaRPr lang="en-US" sz="800" dirty="0"/>
          </a:p>
        </p:txBody>
      </p:sp>
      <p:sp>
        <p:nvSpPr>
          <p:cNvPr id="7" name="Shape 5"/>
          <p:cNvSpPr/>
          <p:nvPr/>
        </p:nvSpPr>
        <p:spPr>
          <a:xfrm>
            <a:off x="3924300" y="1463040"/>
            <a:ext cx="0" cy="4498848"/>
          </a:xfrm>
          <a:prstGeom prst="line">
            <a:avLst/>
          </a:prstGeom>
          <a:noFill/>
          <a:ln w="9525">
            <a:solidFill>
              <a:srgbClr val="E7EBF0"/>
            </a:solidFill>
            <a:prstDash val="solid"/>
          </a:ln>
        </p:spPr>
      </p:sp>
      <p:sp>
        <p:nvSpPr>
          <p:cNvPr id="8" name="Text 6"/>
          <p:cNvSpPr/>
          <p:nvPr/>
        </p:nvSpPr>
        <p:spPr>
          <a:xfrm>
            <a:off x="4263390" y="1188720"/>
            <a:ext cx="678180" cy="228600"/>
          </a:xfrm>
          <a:prstGeom prst="rect">
            <a:avLst/>
          </a:prstGeom>
          <a:noFill/>
        </p:spPr>
        <p:txBody>
          <a:bodyPr wrap="square" rtlCol="0" anchor="ctr"/>
          <a:lstStyle/>
          <a:p>
            <a:pPr marL="0" indent="0" algn="ctr">
              <a:buNone/>
            </a:pPr>
            <a:r>
              <a:rPr lang="en-US" sz="800" dirty="0">
                <a:solidFill>
                  <a:srgbClr val="6B7684"/>
                </a:solidFill>
                <a:latin typeface="Arial" panose="020B0604020202020204" pitchFamily="34" charset="0"/>
                <a:ea typeface="Arial" panose="020B0604020202020204" pitchFamily="34" charset="-122"/>
                <a:cs typeface="Arial" panose="020B0604020202020204" pitchFamily="34" charset="-120"/>
              </a:rPr>
              <a:t>5</a:t>
            </a:r>
            <a:endParaRPr lang="en-US" sz="800" dirty="0"/>
          </a:p>
        </p:txBody>
      </p:sp>
      <p:sp>
        <p:nvSpPr>
          <p:cNvPr id="9" name="Shape 7"/>
          <p:cNvSpPr/>
          <p:nvPr/>
        </p:nvSpPr>
        <p:spPr>
          <a:xfrm>
            <a:off x="4602480" y="1463040"/>
            <a:ext cx="0" cy="4498848"/>
          </a:xfrm>
          <a:prstGeom prst="line">
            <a:avLst/>
          </a:prstGeom>
          <a:noFill/>
          <a:ln w="9525">
            <a:solidFill>
              <a:srgbClr val="E7EBF0"/>
            </a:solidFill>
            <a:prstDash val="solid"/>
          </a:ln>
        </p:spPr>
      </p:sp>
      <p:sp>
        <p:nvSpPr>
          <p:cNvPr id="10" name="Text 8"/>
          <p:cNvSpPr/>
          <p:nvPr/>
        </p:nvSpPr>
        <p:spPr>
          <a:xfrm>
            <a:off x="4941570" y="1188720"/>
            <a:ext cx="678180" cy="228600"/>
          </a:xfrm>
          <a:prstGeom prst="rect">
            <a:avLst/>
          </a:prstGeom>
          <a:noFill/>
        </p:spPr>
        <p:txBody>
          <a:bodyPr wrap="square" rtlCol="0" anchor="ctr"/>
          <a:lstStyle/>
          <a:p>
            <a:pPr marL="0" indent="0" algn="ctr">
              <a:buNone/>
            </a:pPr>
            <a:r>
              <a:rPr lang="en-US" sz="800" dirty="0">
                <a:solidFill>
                  <a:srgbClr val="6B7684"/>
                </a:solidFill>
                <a:latin typeface="Arial" panose="020B0604020202020204" pitchFamily="34" charset="0"/>
                <a:ea typeface="Arial" panose="020B0604020202020204" pitchFamily="34" charset="-122"/>
                <a:cs typeface="Arial" panose="020B0604020202020204" pitchFamily="34" charset="-120"/>
              </a:rPr>
              <a:t>6</a:t>
            </a:r>
            <a:endParaRPr lang="en-US" sz="800" dirty="0"/>
          </a:p>
        </p:txBody>
      </p:sp>
      <p:sp>
        <p:nvSpPr>
          <p:cNvPr id="11" name="Shape 9"/>
          <p:cNvSpPr/>
          <p:nvPr/>
        </p:nvSpPr>
        <p:spPr>
          <a:xfrm>
            <a:off x="5280660" y="1463040"/>
            <a:ext cx="0" cy="4498848"/>
          </a:xfrm>
          <a:prstGeom prst="line">
            <a:avLst/>
          </a:prstGeom>
          <a:noFill/>
          <a:ln w="9525">
            <a:solidFill>
              <a:srgbClr val="E7EBF0"/>
            </a:solidFill>
            <a:prstDash val="solid"/>
          </a:ln>
        </p:spPr>
      </p:sp>
      <p:sp>
        <p:nvSpPr>
          <p:cNvPr id="12" name="Text 10"/>
          <p:cNvSpPr/>
          <p:nvPr/>
        </p:nvSpPr>
        <p:spPr>
          <a:xfrm>
            <a:off x="5619750" y="1188720"/>
            <a:ext cx="678180" cy="228600"/>
          </a:xfrm>
          <a:prstGeom prst="rect">
            <a:avLst/>
          </a:prstGeom>
          <a:noFill/>
        </p:spPr>
        <p:txBody>
          <a:bodyPr wrap="square" rtlCol="0" anchor="ctr"/>
          <a:lstStyle/>
          <a:p>
            <a:pPr marL="0" indent="0" algn="ctr">
              <a:buNone/>
            </a:pPr>
            <a:r>
              <a:rPr lang="en-US" sz="800" dirty="0">
                <a:solidFill>
                  <a:srgbClr val="6B7684"/>
                </a:solidFill>
                <a:latin typeface="Arial" panose="020B0604020202020204" pitchFamily="34" charset="0"/>
                <a:ea typeface="Arial" panose="020B0604020202020204" pitchFamily="34" charset="-122"/>
                <a:cs typeface="Arial" panose="020B0604020202020204" pitchFamily="34" charset="-120"/>
              </a:rPr>
              <a:t>7</a:t>
            </a:r>
            <a:endParaRPr lang="en-US" sz="800" dirty="0"/>
          </a:p>
        </p:txBody>
      </p:sp>
      <p:sp>
        <p:nvSpPr>
          <p:cNvPr id="13" name="Shape 11"/>
          <p:cNvSpPr/>
          <p:nvPr/>
        </p:nvSpPr>
        <p:spPr>
          <a:xfrm>
            <a:off x="5958840" y="1463040"/>
            <a:ext cx="0" cy="4498848"/>
          </a:xfrm>
          <a:prstGeom prst="line">
            <a:avLst/>
          </a:prstGeom>
          <a:noFill/>
          <a:ln w="9525">
            <a:solidFill>
              <a:srgbClr val="E7EBF0"/>
            </a:solidFill>
            <a:prstDash val="solid"/>
          </a:ln>
        </p:spPr>
      </p:sp>
      <p:sp>
        <p:nvSpPr>
          <p:cNvPr id="14" name="Text 12"/>
          <p:cNvSpPr/>
          <p:nvPr/>
        </p:nvSpPr>
        <p:spPr>
          <a:xfrm>
            <a:off x="6297930" y="1188720"/>
            <a:ext cx="678180" cy="228600"/>
          </a:xfrm>
          <a:prstGeom prst="rect">
            <a:avLst/>
          </a:prstGeom>
          <a:noFill/>
        </p:spPr>
        <p:txBody>
          <a:bodyPr wrap="square" rtlCol="0" anchor="ctr"/>
          <a:lstStyle/>
          <a:p>
            <a:pPr marL="0" indent="0" algn="ctr">
              <a:buNone/>
            </a:pPr>
            <a:r>
              <a:rPr lang="en-US" sz="800" dirty="0">
                <a:solidFill>
                  <a:srgbClr val="6B7684"/>
                </a:solidFill>
                <a:latin typeface="Arial" panose="020B0604020202020204" pitchFamily="34" charset="0"/>
                <a:ea typeface="Arial" panose="020B0604020202020204" pitchFamily="34" charset="-122"/>
                <a:cs typeface="Arial" panose="020B0604020202020204" pitchFamily="34" charset="-120"/>
              </a:rPr>
              <a:t>8</a:t>
            </a:r>
            <a:endParaRPr lang="en-US" sz="800" dirty="0"/>
          </a:p>
        </p:txBody>
      </p:sp>
      <p:sp>
        <p:nvSpPr>
          <p:cNvPr id="15" name="Shape 13"/>
          <p:cNvSpPr/>
          <p:nvPr/>
        </p:nvSpPr>
        <p:spPr>
          <a:xfrm>
            <a:off x="6637020" y="1463040"/>
            <a:ext cx="0" cy="4498848"/>
          </a:xfrm>
          <a:prstGeom prst="line">
            <a:avLst/>
          </a:prstGeom>
          <a:noFill/>
          <a:ln w="9525">
            <a:solidFill>
              <a:srgbClr val="E7EBF0"/>
            </a:solidFill>
            <a:prstDash val="solid"/>
          </a:ln>
        </p:spPr>
      </p:sp>
      <p:sp>
        <p:nvSpPr>
          <p:cNvPr id="16" name="Text 14"/>
          <p:cNvSpPr/>
          <p:nvPr/>
        </p:nvSpPr>
        <p:spPr>
          <a:xfrm>
            <a:off x="6976110" y="1188720"/>
            <a:ext cx="678180" cy="228600"/>
          </a:xfrm>
          <a:prstGeom prst="rect">
            <a:avLst/>
          </a:prstGeom>
          <a:noFill/>
        </p:spPr>
        <p:txBody>
          <a:bodyPr wrap="square" rtlCol="0" anchor="ctr"/>
          <a:lstStyle/>
          <a:p>
            <a:pPr marL="0" indent="0" algn="ctr">
              <a:buNone/>
            </a:pPr>
            <a:r>
              <a:rPr lang="en-US" sz="800" dirty="0">
                <a:solidFill>
                  <a:srgbClr val="6B7684"/>
                </a:solidFill>
                <a:latin typeface="Arial" panose="020B0604020202020204" pitchFamily="34" charset="0"/>
                <a:ea typeface="Arial" panose="020B0604020202020204" pitchFamily="34" charset="-122"/>
                <a:cs typeface="Arial" panose="020B0604020202020204" pitchFamily="34" charset="-120"/>
              </a:rPr>
              <a:t>9</a:t>
            </a:r>
            <a:endParaRPr lang="en-US" sz="800" dirty="0"/>
          </a:p>
        </p:txBody>
      </p:sp>
      <p:sp>
        <p:nvSpPr>
          <p:cNvPr id="17" name="Shape 15"/>
          <p:cNvSpPr/>
          <p:nvPr/>
        </p:nvSpPr>
        <p:spPr>
          <a:xfrm>
            <a:off x="7315200" y="1463040"/>
            <a:ext cx="0" cy="4498848"/>
          </a:xfrm>
          <a:prstGeom prst="line">
            <a:avLst/>
          </a:prstGeom>
          <a:noFill/>
          <a:ln w="9525">
            <a:solidFill>
              <a:srgbClr val="E7EBF0"/>
            </a:solidFill>
            <a:prstDash val="solid"/>
          </a:ln>
        </p:spPr>
      </p:sp>
      <p:sp>
        <p:nvSpPr>
          <p:cNvPr id="18" name="Text 16"/>
          <p:cNvSpPr/>
          <p:nvPr/>
        </p:nvSpPr>
        <p:spPr>
          <a:xfrm>
            <a:off x="7654290" y="1188720"/>
            <a:ext cx="678180" cy="228600"/>
          </a:xfrm>
          <a:prstGeom prst="rect">
            <a:avLst/>
          </a:prstGeom>
          <a:noFill/>
        </p:spPr>
        <p:txBody>
          <a:bodyPr wrap="square" rtlCol="0" anchor="ctr"/>
          <a:lstStyle/>
          <a:p>
            <a:pPr marL="0" indent="0" algn="ctr">
              <a:buNone/>
            </a:pPr>
            <a:r>
              <a:rPr lang="en-US" sz="800" dirty="0">
                <a:solidFill>
                  <a:srgbClr val="6B7684"/>
                </a:solidFill>
                <a:latin typeface="Arial" panose="020B0604020202020204" pitchFamily="34" charset="0"/>
                <a:ea typeface="Arial" panose="020B0604020202020204" pitchFamily="34" charset="-122"/>
                <a:cs typeface="Arial" panose="020B0604020202020204" pitchFamily="34" charset="-120"/>
              </a:rPr>
              <a:t>10</a:t>
            </a:r>
            <a:endParaRPr lang="en-US" sz="800" dirty="0"/>
          </a:p>
        </p:txBody>
      </p:sp>
      <p:sp>
        <p:nvSpPr>
          <p:cNvPr id="19" name="Shape 17"/>
          <p:cNvSpPr/>
          <p:nvPr/>
        </p:nvSpPr>
        <p:spPr>
          <a:xfrm>
            <a:off x="7993380" y="1463040"/>
            <a:ext cx="0" cy="4498848"/>
          </a:xfrm>
          <a:prstGeom prst="line">
            <a:avLst/>
          </a:prstGeom>
          <a:noFill/>
          <a:ln w="9525">
            <a:solidFill>
              <a:srgbClr val="E7EBF0"/>
            </a:solidFill>
            <a:prstDash val="solid"/>
          </a:ln>
        </p:spPr>
      </p:sp>
      <p:sp>
        <p:nvSpPr>
          <p:cNvPr id="20" name="Text 18"/>
          <p:cNvSpPr/>
          <p:nvPr/>
        </p:nvSpPr>
        <p:spPr>
          <a:xfrm>
            <a:off x="8332470" y="1188720"/>
            <a:ext cx="678180" cy="228600"/>
          </a:xfrm>
          <a:prstGeom prst="rect">
            <a:avLst/>
          </a:prstGeom>
          <a:noFill/>
        </p:spPr>
        <p:txBody>
          <a:bodyPr wrap="square" rtlCol="0" anchor="ctr"/>
          <a:lstStyle/>
          <a:p>
            <a:pPr marL="0" indent="0" algn="ctr">
              <a:buNone/>
            </a:pPr>
            <a:r>
              <a:rPr lang="en-US" sz="800" dirty="0">
                <a:solidFill>
                  <a:srgbClr val="6B7684"/>
                </a:solidFill>
                <a:latin typeface="Arial" panose="020B0604020202020204" pitchFamily="34" charset="0"/>
                <a:ea typeface="Arial" panose="020B0604020202020204" pitchFamily="34" charset="-122"/>
                <a:cs typeface="Arial" panose="020B0604020202020204" pitchFamily="34" charset="-120"/>
              </a:rPr>
              <a:t>11</a:t>
            </a:r>
            <a:endParaRPr lang="en-US" sz="800" dirty="0"/>
          </a:p>
        </p:txBody>
      </p:sp>
      <p:sp>
        <p:nvSpPr>
          <p:cNvPr id="21" name="Shape 19"/>
          <p:cNvSpPr/>
          <p:nvPr/>
        </p:nvSpPr>
        <p:spPr>
          <a:xfrm>
            <a:off x="8671560" y="1463040"/>
            <a:ext cx="0" cy="4498848"/>
          </a:xfrm>
          <a:prstGeom prst="line">
            <a:avLst/>
          </a:prstGeom>
          <a:noFill/>
          <a:ln w="9525">
            <a:solidFill>
              <a:srgbClr val="E7EBF0"/>
            </a:solidFill>
            <a:prstDash val="solid"/>
          </a:ln>
        </p:spPr>
      </p:sp>
      <p:sp>
        <p:nvSpPr>
          <p:cNvPr id="22" name="Text 20"/>
          <p:cNvSpPr/>
          <p:nvPr/>
        </p:nvSpPr>
        <p:spPr>
          <a:xfrm>
            <a:off x="9010650" y="1188720"/>
            <a:ext cx="678180" cy="228600"/>
          </a:xfrm>
          <a:prstGeom prst="rect">
            <a:avLst/>
          </a:prstGeom>
          <a:noFill/>
        </p:spPr>
        <p:txBody>
          <a:bodyPr wrap="square" rtlCol="0" anchor="ctr"/>
          <a:lstStyle/>
          <a:p>
            <a:pPr marL="0" indent="0" algn="ctr">
              <a:buNone/>
            </a:pPr>
            <a:r>
              <a:rPr lang="en-US" sz="800" dirty="0">
                <a:solidFill>
                  <a:srgbClr val="6B7684"/>
                </a:solidFill>
                <a:latin typeface="Arial" panose="020B0604020202020204" pitchFamily="34" charset="0"/>
                <a:ea typeface="Arial" panose="020B0604020202020204" pitchFamily="34" charset="-122"/>
                <a:cs typeface="Arial" panose="020B0604020202020204" pitchFamily="34" charset="-120"/>
              </a:rPr>
              <a:t>12</a:t>
            </a:r>
            <a:endParaRPr lang="en-US" sz="800" dirty="0"/>
          </a:p>
        </p:txBody>
      </p:sp>
      <p:sp>
        <p:nvSpPr>
          <p:cNvPr id="23" name="Shape 21"/>
          <p:cNvSpPr/>
          <p:nvPr/>
        </p:nvSpPr>
        <p:spPr>
          <a:xfrm>
            <a:off x="9349740" y="1463040"/>
            <a:ext cx="0" cy="4498848"/>
          </a:xfrm>
          <a:prstGeom prst="line">
            <a:avLst/>
          </a:prstGeom>
          <a:noFill/>
          <a:ln w="9525">
            <a:solidFill>
              <a:srgbClr val="E7EBF0"/>
            </a:solidFill>
            <a:prstDash val="solid"/>
          </a:ln>
        </p:spPr>
      </p:sp>
      <p:sp>
        <p:nvSpPr>
          <p:cNvPr id="24" name="Text 22"/>
          <p:cNvSpPr/>
          <p:nvPr/>
        </p:nvSpPr>
        <p:spPr>
          <a:xfrm>
            <a:off x="9688830" y="1188720"/>
            <a:ext cx="678180" cy="228600"/>
          </a:xfrm>
          <a:prstGeom prst="rect">
            <a:avLst/>
          </a:prstGeom>
          <a:noFill/>
        </p:spPr>
        <p:txBody>
          <a:bodyPr wrap="square" rtlCol="0" anchor="ctr"/>
          <a:lstStyle/>
          <a:p>
            <a:pPr marL="0" indent="0" algn="ctr">
              <a:buNone/>
            </a:pPr>
            <a:r>
              <a:rPr lang="en-US" sz="800" dirty="0">
                <a:solidFill>
                  <a:srgbClr val="6B7684"/>
                </a:solidFill>
                <a:latin typeface="Arial" panose="020B0604020202020204" pitchFamily="34" charset="0"/>
                <a:ea typeface="Arial" panose="020B0604020202020204" pitchFamily="34" charset="-122"/>
                <a:cs typeface="Arial" panose="020B0604020202020204" pitchFamily="34" charset="-120"/>
              </a:rPr>
              <a:t>13</a:t>
            </a:r>
            <a:endParaRPr lang="en-US" sz="800" dirty="0"/>
          </a:p>
        </p:txBody>
      </p:sp>
      <p:sp>
        <p:nvSpPr>
          <p:cNvPr id="25" name="Shape 23"/>
          <p:cNvSpPr/>
          <p:nvPr/>
        </p:nvSpPr>
        <p:spPr>
          <a:xfrm>
            <a:off x="10027920" y="1463040"/>
            <a:ext cx="0" cy="4498848"/>
          </a:xfrm>
          <a:prstGeom prst="line">
            <a:avLst/>
          </a:prstGeom>
          <a:noFill/>
          <a:ln w="9525">
            <a:solidFill>
              <a:srgbClr val="E7EBF0"/>
            </a:solidFill>
            <a:prstDash val="solid"/>
          </a:ln>
        </p:spPr>
      </p:sp>
      <p:sp>
        <p:nvSpPr>
          <p:cNvPr id="26" name="Text 24"/>
          <p:cNvSpPr/>
          <p:nvPr/>
        </p:nvSpPr>
        <p:spPr>
          <a:xfrm>
            <a:off x="10367010" y="1188720"/>
            <a:ext cx="678180" cy="228600"/>
          </a:xfrm>
          <a:prstGeom prst="rect">
            <a:avLst/>
          </a:prstGeom>
          <a:noFill/>
        </p:spPr>
        <p:txBody>
          <a:bodyPr wrap="square" rtlCol="0" anchor="ctr"/>
          <a:lstStyle/>
          <a:p>
            <a:pPr marL="0" indent="0" algn="ctr">
              <a:buNone/>
            </a:pPr>
            <a:r>
              <a:rPr lang="en-US" sz="800" dirty="0">
                <a:solidFill>
                  <a:srgbClr val="6B7684"/>
                </a:solidFill>
                <a:latin typeface="Arial" panose="020B0604020202020204" pitchFamily="34" charset="0"/>
                <a:ea typeface="Arial" panose="020B0604020202020204" pitchFamily="34" charset="-122"/>
                <a:cs typeface="Arial" panose="020B0604020202020204" pitchFamily="34" charset="-120"/>
              </a:rPr>
              <a:t>14</a:t>
            </a:r>
            <a:endParaRPr lang="en-US" sz="800" dirty="0"/>
          </a:p>
        </p:txBody>
      </p:sp>
      <p:sp>
        <p:nvSpPr>
          <p:cNvPr id="27" name="Shape 25"/>
          <p:cNvSpPr/>
          <p:nvPr/>
        </p:nvSpPr>
        <p:spPr>
          <a:xfrm>
            <a:off x="10706100" y="1463040"/>
            <a:ext cx="0" cy="4498848"/>
          </a:xfrm>
          <a:prstGeom prst="line">
            <a:avLst/>
          </a:prstGeom>
          <a:noFill/>
          <a:ln w="9525">
            <a:solidFill>
              <a:srgbClr val="E7EBF0"/>
            </a:solidFill>
            <a:prstDash val="solid"/>
          </a:ln>
        </p:spPr>
      </p:sp>
      <p:sp>
        <p:nvSpPr>
          <p:cNvPr id="28" name="Shape 26"/>
          <p:cNvSpPr/>
          <p:nvPr/>
        </p:nvSpPr>
        <p:spPr>
          <a:xfrm>
            <a:off x="11384280" y="1463040"/>
            <a:ext cx="0" cy="4498848"/>
          </a:xfrm>
          <a:prstGeom prst="line">
            <a:avLst/>
          </a:prstGeom>
          <a:noFill/>
          <a:ln w="9525">
            <a:solidFill>
              <a:srgbClr val="E7EBF0"/>
            </a:solidFill>
            <a:prstDash val="solid"/>
          </a:ln>
        </p:spPr>
      </p:sp>
      <p:sp>
        <p:nvSpPr>
          <p:cNvPr id="29" name="Shape 27"/>
          <p:cNvSpPr/>
          <p:nvPr/>
        </p:nvSpPr>
        <p:spPr>
          <a:xfrm>
            <a:off x="640080" y="1481328"/>
            <a:ext cx="10972800" cy="562356"/>
          </a:xfrm>
          <a:prstGeom prst="rect">
            <a:avLst/>
          </a:prstGeom>
          <a:solidFill>
            <a:srgbClr val="F2F4F7"/>
          </a:solidFill>
        </p:spPr>
      </p:sp>
      <p:sp>
        <p:nvSpPr>
          <p:cNvPr id="30" name="Text 28"/>
          <p:cNvSpPr/>
          <p:nvPr/>
        </p:nvSpPr>
        <p:spPr>
          <a:xfrm>
            <a:off x="685800" y="1481328"/>
            <a:ext cx="777240" cy="562356"/>
          </a:xfrm>
          <a:prstGeom prst="rect">
            <a:avLst/>
          </a:prstGeom>
          <a:noFill/>
        </p:spPr>
        <p:txBody>
          <a:bodyPr wrap="square" rtlCol="0" anchor="ctr"/>
          <a:lstStyle/>
          <a:p>
            <a:pPr marL="0" indent="0">
              <a:buNone/>
            </a:pPr>
            <a:r>
              <a:rPr lang="en-US" sz="950" b="1" dirty="0">
                <a:solidFill>
                  <a:srgbClr val="0B1F3A"/>
                </a:solidFill>
                <a:latin typeface="Arial" panose="020B0604020202020204" pitchFamily="34" charset="0"/>
                <a:ea typeface="Arial" panose="020B0604020202020204" pitchFamily="34" charset="-122"/>
                <a:cs typeface="Arial" panose="020B0604020202020204" pitchFamily="34" charset="-120"/>
              </a:rPr>
              <a:t>Wk 3</a:t>
            </a:r>
            <a:endParaRPr lang="en-US" sz="950" dirty="0"/>
          </a:p>
        </p:txBody>
      </p:sp>
      <p:sp>
        <p:nvSpPr>
          <p:cNvPr id="31" name="Text 29"/>
          <p:cNvSpPr/>
          <p:nvPr/>
        </p:nvSpPr>
        <p:spPr>
          <a:xfrm>
            <a:off x="1508760" y="1481328"/>
            <a:ext cx="1645920" cy="562356"/>
          </a:xfrm>
          <a:prstGeom prst="rect">
            <a:avLst/>
          </a:prstGeom>
          <a:noFill/>
        </p:spPr>
        <p:txBody>
          <a:bodyPr wrap="square" rtlCol="0" anchor="ctr"/>
          <a:lstStyle/>
          <a:p>
            <a:pPr marL="0" indent="0">
              <a:lnSpc>
                <a:spcPct val="100000"/>
              </a:lnSpc>
              <a:buNone/>
            </a:pPr>
            <a:r>
              <a:rPr lang="en-US" sz="1000" dirty="0">
                <a:solidFill>
                  <a:srgbClr val="4A5563"/>
                </a:solidFill>
                <a:latin typeface="Arial" panose="020B0604020202020204" pitchFamily="34" charset="0"/>
                <a:ea typeface="Arial" panose="020B0604020202020204" pitchFamily="34" charset="-122"/>
                <a:cs typeface="Arial" panose="020B0604020202020204" pitchFamily="34" charset="-120"/>
              </a:rPr>
              <a:t>Proposal presentation &amp; requirements approval</a:t>
            </a:r>
            <a:endParaRPr lang="en-US" sz="1000" dirty="0"/>
          </a:p>
        </p:txBody>
      </p:sp>
      <p:sp>
        <p:nvSpPr>
          <p:cNvPr id="32" name="Shape 30"/>
          <p:cNvSpPr/>
          <p:nvPr/>
        </p:nvSpPr>
        <p:spPr>
          <a:xfrm>
            <a:off x="3273552" y="1625346"/>
            <a:ext cx="623316" cy="274320"/>
          </a:xfrm>
          <a:prstGeom prst="roundRect">
            <a:avLst>
              <a:gd name="adj" fmla="val 20000"/>
            </a:avLst>
          </a:prstGeom>
          <a:solidFill>
            <a:srgbClr val="0B1F3A"/>
          </a:solidFill>
        </p:spPr>
      </p:sp>
      <p:sp>
        <p:nvSpPr>
          <p:cNvPr id="33" name="Text 31"/>
          <p:cNvSpPr/>
          <p:nvPr/>
        </p:nvSpPr>
        <p:spPr>
          <a:xfrm>
            <a:off x="685800" y="2043684"/>
            <a:ext cx="777240" cy="562356"/>
          </a:xfrm>
          <a:prstGeom prst="rect">
            <a:avLst/>
          </a:prstGeom>
          <a:noFill/>
        </p:spPr>
        <p:txBody>
          <a:bodyPr wrap="square" rtlCol="0" anchor="ctr"/>
          <a:lstStyle/>
          <a:p>
            <a:pPr marL="0" indent="0">
              <a:buNone/>
            </a:pPr>
            <a:r>
              <a:rPr lang="en-US" sz="950" b="1" dirty="0">
                <a:solidFill>
                  <a:srgbClr val="0B1F3A"/>
                </a:solidFill>
                <a:latin typeface="Arial" panose="020B0604020202020204" pitchFamily="34" charset="0"/>
                <a:ea typeface="Arial" panose="020B0604020202020204" pitchFamily="34" charset="-122"/>
                <a:cs typeface="Arial" panose="020B0604020202020204" pitchFamily="34" charset="-120"/>
              </a:rPr>
              <a:t>Wk 4-5</a:t>
            </a:r>
            <a:endParaRPr lang="en-US" sz="950" dirty="0"/>
          </a:p>
        </p:txBody>
      </p:sp>
      <p:sp>
        <p:nvSpPr>
          <p:cNvPr id="34" name="Text 32"/>
          <p:cNvSpPr/>
          <p:nvPr/>
        </p:nvSpPr>
        <p:spPr>
          <a:xfrm>
            <a:off x="1508760" y="2043684"/>
            <a:ext cx="1645920" cy="562356"/>
          </a:xfrm>
          <a:prstGeom prst="rect">
            <a:avLst/>
          </a:prstGeom>
          <a:noFill/>
        </p:spPr>
        <p:txBody>
          <a:bodyPr wrap="square" rtlCol="0" anchor="ctr"/>
          <a:lstStyle/>
          <a:p>
            <a:pPr marL="0" indent="0">
              <a:lnSpc>
                <a:spcPct val="100000"/>
              </a:lnSpc>
              <a:buNone/>
            </a:pPr>
            <a:r>
              <a:rPr lang="en-US" sz="1000" dirty="0">
                <a:solidFill>
                  <a:srgbClr val="4A5563"/>
                </a:solidFill>
                <a:latin typeface="Arial" panose="020B0604020202020204" pitchFamily="34" charset="0"/>
                <a:ea typeface="Arial" panose="020B0604020202020204" pitchFamily="34" charset="-122"/>
                <a:cs typeface="Arial" panose="020B0604020202020204" pitchFamily="34" charset="-120"/>
              </a:rPr>
              <a:t>Requirements analysis, use cases, DB design, wireframes</a:t>
            </a:r>
            <a:endParaRPr lang="en-US" sz="1000" dirty="0"/>
          </a:p>
        </p:txBody>
      </p:sp>
      <p:sp>
        <p:nvSpPr>
          <p:cNvPr id="35" name="Shape 33"/>
          <p:cNvSpPr/>
          <p:nvPr/>
        </p:nvSpPr>
        <p:spPr>
          <a:xfrm>
            <a:off x="3951732" y="2187702"/>
            <a:ext cx="1301496" cy="274320"/>
          </a:xfrm>
          <a:prstGeom prst="roundRect">
            <a:avLst>
              <a:gd name="adj" fmla="val 20000"/>
            </a:avLst>
          </a:prstGeom>
          <a:solidFill>
            <a:srgbClr val="0B1F3A"/>
          </a:solidFill>
        </p:spPr>
      </p:sp>
      <p:sp>
        <p:nvSpPr>
          <p:cNvPr id="36" name="Shape 34"/>
          <p:cNvSpPr/>
          <p:nvPr/>
        </p:nvSpPr>
        <p:spPr>
          <a:xfrm>
            <a:off x="640080" y="2606040"/>
            <a:ext cx="10972800" cy="562356"/>
          </a:xfrm>
          <a:prstGeom prst="rect">
            <a:avLst/>
          </a:prstGeom>
          <a:solidFill>
            <a:srgbClr val="F2F4F7"/>
          </a:solidFill>
        </p:spPr>
      </p:sp>
      <p:sp>
        <p:nvSpPr>
          <p:cNvPr id="37" name="Text 35"/>
          <p:cNvSpPr/>
          <p:nvPr/>
        </p:nvSpPr>
        <p:spPr>
          <a:xfrm>
            <a:off x="685800" y="2606040"/>
            <a:ext cx="777240" cy="562356"/>
          </a:xfrm>
          <a:prstGeom prst="rect">
            <a:avLst/>
          </a:prstGeom>
          <a:noFill/>
        </p:spPr>
        <p:txBody>
          <a:bodyPr wrap="square" rtlCol="0" anchor="ctr"/>
          <a:lstStyle/>
          <a:p>
            <a:pPr marL="0" indent="0">
              <a:buNone/>
            </a:pPr>
            <a:r>
              <a:rPr lang="en-US" sz="950" b="1" dirty="0">
                <a:solidFill>
                  <a:srgbClr val="0B1F3A"/>
                </a:solidFill>
                <a:latin typeface="Arial" panose="020B0604020202020204" pitchFamily="34" charset="0"/>
                <a:ea typeface="Arial" panose="020B0604020202020204" pitchFamily="34" charset="-122"/>
                <a:cs typeface="Arial" panose="020B0604020202020204" pitchFamily="34" charset="-120"/>
              </a:rPr>
              <a:t>Wk 6-7</a:t>
            </a:r>
            <a:endParaRPr lang="en-US" sz="950" dirty="0"/>
          </a:p>
        </p:txBody>
      </p:sp>
      <p:sp>
        <p:nvSpPr>
          <p:cNvPr id="38" name="Text 36"/>
          <p:cNvSpPr/>
          <p:nvPr/>
        </p:nvSpPr>
        <p:spPr>
          <a:xfrm>
            <a:off x="1508760" y="2606040"/>
            <a:ext cx="1645920" cy="562356"/>
          </a:xfrm>
          <a:prstGeom prst="rect">
            <a:avLst/>
          </a:prstGeom>
          <a:noFill/>
        </p:spPr>
        <p:txBody>
          <a:bodyPr wrap="square" rtlCol="0" anchor="ctr"/>
          <a:lstStyle/>
          <a:p>
            <a:pPr marL="0" indent="0">
              <a:lnSpc>
                <a:spcPct val="100000"/>
              </a:lnSpc>
              <a:buNone/>
            </a:pPr>
            <a:r>
              <a:rPr lang="en-US" sz="1000" dirty="0">
                <a:solidFill>
                  <a:srgbClr val="4A5563"/>
                </a:solidFill>
                <a:latin typeface="Arial" panose="020B0604020202020204" pitchFamily="34" charset="0"/>
                <a:ea typeface="Arial" panose="020B0604020202020204" pitchFamily="34" charset="-122"/>
                <a:cs typeface="Arial" panose="020B0604020202020204" pitchFamily="34" charset="-120"/>
              </a:rPr>
              <a:t>Develop Vehicle, User &amp; Service Booking modules</a:t>
            </a:r>
            <a:endParaRPr lang="en-US" sz="1000" dirty="0"/>
          </a:p>
        </p:txBody>
      </p:sp>
      <p:sp>
        <p:nvSpPr>
          <p:cNvPr id="39" name="Shape 37"/>
          <p:cNvSpPr/>
          <p:nvPr/>
        </p:nvSpPr>
        <p:spPr>
          <a:xfrm>
            <a:off x="5308092" y="2750058"/>
            <a:ext cx="1301496" cy="274320"/>
          </a:xfrm>
          <a:prstGeom prst="roundRect">
            <a:avLst>
              <a:gd name="adj" fmla="val 20000"/>
            </a:avLst>
          </a:prstGeom>
          <a:solidFill>
            <a:srgbClr val="0B1F3A"/>
          </a:solidFill>
        </p:spPr>
      </p:sp>
      <p:sp>
        <p:nvSpPr>
          <p:cNvPr id="40" name="Text 38"/>
          <p:cNvSpPr/>
          <p:nvPr/>
        </p:nvSpPr>
        <p:spPr>
          <a:xfrm>
            <a:off x="685800" y="3168396"/>
            <a:ext cx="777240" cy="562356"/>
          </a:xfrm>
          <a:prstGeom prst="rect">
            <a:avLst/>
          </a:prstGeom>
          <a:noFill/>
        </p:spPr>
        <p:txBody>
          <a:bodyPr wrap="square" rtlCol="0" anchor="ctr"/>
          <a:lstStyle/>
          <a:p>
            <a:pPr marL="0" indent="0">
              <a:buNone/>
            </a:pPr>
            <a:r>
              <a:rPr lang="en-US" sz="950" b="1" dirty="0">
                <a:solidFill>
                  <a:srgbClr val="0B1F3A"/>
                </a:solidFill>
                <a:latin typeface="Arial" panose="020B0604020202020204" pitchFamily="34" charset="0"/>
                <a:ea typeface="Arial" panose="020B0604020202020204" pitchFamily="34" charset="-122"/>
                <a:cs typeface="Arial" panose="020B0604020202020204" pitchFamily="34" charset="-120"/>
              </a:rPr>
              <a:t>Wk 8-9</a:t>
            </a:r>
            <a:endParaRPr lang="en-US" sz="950" dirty="0"/>
          </a:p>
        </p:txBody>
      </p:sp>
      <p:sp>
        <p:nvSpPr>
          <p:cNvPr id="41" name="Text 39"/>
          <p:cNvSpPr/>
          <p:nvPr/>
        </p:nvSpPr>
        <p:spPr>
          <a:xfrm>
            <a:off x="1508760" y="3168396"/>
            <a:ext cx="1645920" cy="562356"/>
          </a:xfrm>
          <a:prstGeom prst="rect">
            <a:avLst/>
          </a:prstGeom>
          <a:noFill/>
        </p:spPr>
        <p:txBody>
          <a:bodyPr wrap="square" rtlCol="0" anchor="ctr"/>
          <a:lstStyle/>
          <a:p>
            <a:pPr marL="0" indent="0">
              <a:lnSpc>
                <a:spcPct val="100000"/>
              </a:lnSpc>
              <a:buNone/>
            </a:pPr>
            <a:r>
              <a:rPr lang="en-US" sz="1000" dirty="0">
                <a:solidFill>
                  <a:srgbClr val="4A5563"/>
                </a:solidFill>
                <a:latin typeface="Arial" panose="020B0604020202020204" pitchFamily="34" charset="0"/>
                <a:ea typeface="Arial" panose="020B0604020202020204" pitchFamily="34" charset="-122"/>
                <a:cs typeface="Arial" panose="020B0604020202020204" pitchFamily="34" charset="-120"/>
              </a:rPr>
              <a:t>Develop Fuel, Payment &amp; Notification modules</a:t>
            </a:r>
            <a:endParaRPr lang="en-US" sz="1000" dirty="0"/>
          </a:p>
        </p:txBody>
      </p:sp>
      <p:sp>
        <p:nvSpPr>
          <p:cNvPr id="42" name="Shape 40"/>
          <p:cNvSpPr/>
          <p:nvPr/>
        </p:nvSpPr>
        <p:spPr>
          <a:xfrm>
            <a:off x="6664452" y="3312414"/>
            <a:ext cx="1301496" cy="274320"/>
          </a:xfrm>
          <a:prstGeom prst="roundRect">
            <a:avLst>
              <a:gd name="adj" fmla="val 20000"/>
            </a:avLst>
          </a:prstGeom>
          <a:solidFill>
            <a:srgbClr val="0B1F3A"/>
          </a:solidFill>
        </p:spPr>
      </p:sp>
      <p:sp>
        <p:nvSpPr>
          <p:cNvPr id="43" name="Shape 41"/>
          <p:cNvSpPr/>
          <p:nvPr/>
        </p:nvSpPr>
        <p:spPr>
          <a:xfrm>
            <a:off x="640080" y="3730752"/>
            <a:ext cx="10972800" cy="562356"/>
          </a:xfrm>
          <a:prstGeom prst="rect">
            <a:avLst/>
          </a:prstGeom>
          <a:solidFill>
            <a:srgbClr val="F2F4F7"/>
          </a:solidFill>
        </p:spPr>
      </p:sp>
      <p:sp>
        <p:nvSpPr>
          <p:cNvPr id="44" name="Text 42"/>
          <p:cNvSpPr/>
          <p:nvPr/>
        </p:nvSpPr>
        <p:spPr>
          <a:xfrm>
            <a:off x="685800" y="3730752"/>
            <a:ext cx="777240" cy="562356"/>
          </a:xfrm>
          <a:prstGeom prst="rect">
            <a:avLst/>
          </a:prstGeom>
          <a:noFill/>
        </p:spPr>
        <p:txBody>
          <a:bodyPr wrap="square" rtlCol="0" anchor="ctr"/>
          <a:lstStyle/>
          <a:p>
            <a:pPr marL="0" indent="0">
              <a:buNone/>
            </a:pPr>
            <a:r>
              <a:rPr lang="en-US" sz="950" b="1" dirty="0">
                <a:solidFill>
                  <a:srgbClr val="0B1F3A"/>
                </a:solidFill>
                <a:latin typeface="Arial" panose="020B0604020202020204" pitchFamily="34" charset="0"/>
                <a:ea typeface="Arial" panose="020B0604020202020204" pitchFamily="34" charset="-122"/>
                <a:cs typeface="Arial" panose="020B0604020202020204" pitchFamily="34" charset="-120"/>
              </a:rPr>
              <a:t>Wk 10</a:t>
            </a:r>
            <a:endParaRPr lang="en-US" sz="950" dirty="0"/>
          </a:p>
        </p:txBody>
      </p:sp>
      <p:sp>
        <p:nvSpPr>
          <p:cNvPr id="45" name="Text 43"/>
          <p:cNvSpPr/>
          <p:nvPr/>
        </p:nvSpPr>
        <p:spPr>
          <a:xfrm>
            <a:off x="1508760" y="3730752"/>
            <a:ext cx="1645920" cy="562356"/>
          </a:xfrm>
          <a:prstGeom prst="rect">
            <a:avLst/>
          </a:prstGeom>
          <a:noFill/>
        </p:spPr>
        <p:txBody>
          <a:bodyPr wrap="square" rtlCol="0" anchor="ctr"/>
          <a:lstStyle/>
          <a:p>
            <a:pPr marL="0" indent="0">
              <a:lnSpc>
                <a:spcPct val="100000"/>
              </a:lnSpc>
              <a:buNone/>
            </a:pPr>
            <a:r>
              <a:rPr lang="en-US" sz="1000" dirty="0">
                <a:solidFill>
                  <a:srgbClr val="4A5563"/>
                </a:solidFill>
                <a:latin typeface="Arial" panose="020B0604020202020204" pitchFamily="34" charset="0"/>
                <a:ea typeface="Arial" panose="020B0604020202020204" pitchFamily="34" charset="-122"/>
                <a:cs typeface="Arial" panose="020B0604020202020204" pitchFamily="34" charset="-120"/>
              </a:rPr>
              <a:t>Progress presentation — 75% system demo</a:t>
            </a:r>
            <a:endParaRPr lang="en-US" sz="1000" dirty="0"/>
          </a:p>
        </p:txBody>
      </p:sp>
      <p:sp>
        <p:nvSpPr>
          <p:cNvPr id="46" name="Shape 44"/>
          <p:cNvSpPr/>
          <p:nvPr/>
        </p:nvSpPr>
        <p:spPr>
          <a:xfrm>
            <a:off x="8020812" y="3874770"/>
            <a:ext cx="623316" cy="274320"/>
          </a:xfrm>
          <a:prstGeom prst="roundRect">
            <a:avLst>
              <a:gd name="adj" fmla="val 20000"/>
            </a:avLst>
          </a:prstGeom>
          <a:solidFill>
            <a:srgbClr val="2F6FED"/>
          </a:solidFill>
        </p:spPr>
      </p:sp>
      <p:sp>
        <p:nvSpPr>
          <p:cNvPr id="47" name="Text 45"/>
          <p:cNvSpPr/>
          <p:nvPr/>
        </p:nvSpPr>
        <p:spPr>
          <a:xfrm>
            <a:off x="685800" y="4293108"/>
            <a:ext cx="777240" cy="562356"/>
          </a:xfrm>
          <a:prstGeom prst="rect">
            <a:avLst/>
          </a:prstGeom>
          <a:noFill/>
        </p:spPr>
        <p:txBody>
          <a:bodyPr wrap="square" rtlCol="0" anchor="ctr"/>
          <a:lstStyle/>
          <a:p>
            <a:pPr marL="0" indent="0">
              <a:buNone/>
            </a:pPr>
            <a:r>
              <a:rPr lang="en-US" sz="950" b="1" dirty="0">
                <a:solidFill>
                  <a:srgbClr val="0B1F3A"/>
                </a:solidFill>
                <a:latin typeface="Arial" panose="020B0604020202020204" pitchFamily="34" charset="0"/>
                <a:ea typeface="Arial" panose="020B0604020202020204" pitchFamily="34" charset="-122"/>
                <a:cs typeface="Arial" panose="020B0604020202020204" pitchFamily="34" charset="-120"/>
              </a:rPr>
              <a:t>Wk 11-12</a:t>
            </a:r>
            <a:endParaRPr lang="en-US" sz="950" dirty="0"/>
          </a:p>
        </p:txBody>
      </p:sp>
      <p:sp>
        <p:nvSpPr>
          <p:cNvPr id="48" name="Text 46"/>
          <p:cNvSpPr/>
          <p:nvPr/>
        </p:nvSpPr>
        <p:spPr>
          <a:xfrm>
            <a:off x="1508760" y="4293108"/>
            <a:ext cx="1645920" cy="562356"/>
          </a:xfrm>
          <a:prstGeom prst="rect">
            <a:avLst/>
          </a:prstGeom>
          <a:noFill/>
        </p:spPr>
        <p:txBody>
          <a:bodyPr wrap="square" rtlCol="0" anchor="ctr"/>
          <a:lstStyle/>
          <a:p>
            <a:pPr marL="0" indent="0">
              <a:lnSpc>
                <a:spcPct val="100000"/>
              </a:lnSpc>
              <a:buNone/>
            </a:pPr>
            <a:r>
              <a:rPr lang="en-US" sz="760" dirty="0">
                <a:solidFill>
                  <a:srgbClr val="4A5563"/>
                </a:solidFill>
                <a:latin typeface="Arial" panose="020B0604020202020204" pitchFamily="34" charset="0"/>
                <a:ea typeface="Arial" panose="020B0604020202020204" pitchFamily="34" charset="-122"/>
                <a:cs typeface="Arial" panose="020B0604020202020204" pitchFamily="34" charset="-120"/>
              </a:rPr>
              <a:t>I</a:t>
            </a:r>
            <a:r>
              <a:rPr lang="en-US" sz="1000" dirty="0">
                <a:solidFill>
                  <a:srgbClr val="4A5563"/>
                </a:solidFill>
                <a:latin typeface="Arial" panose="020B0604020202020204" pitchFamily="34" charset="0"/>
                <a:ea typeface="Arial" panose="020B0604020202020204" pitchFamily="34" charset="-122"/>
                <a:cs typeface="Arial" panose="020B0604020202020204" pitchFamily="34" charset="-120"/>
              </a:rPr>
              <a:t>ntegration, testing, bug fixes, documentation</a:t>
            </a:r>
            <a:endParaRPr lang="en-US" sz="1000" dirty="0"/>
          </a:p>
        </p:txBody>
      </p:sp>
      <p:sp>
        <p:nvSpPr>
          <p:cNvPr id="49" name="Shape 47"/>
          <p:cNvSpPr/>
          <p:nvPr/>
        </p:nvSpPr>
        <p:spPr>
          <a:xfrm>
            <a:off x="8698992" y="4437126"/>
            <a:ext cx="1301496" cy="274320"/>
          </a:xfrm>
          <a:prstGeom prst="roundRect">
            <a:avLst>
              <a:gd name="adj" fmla="val 20000"/>
            </a:avLst>
          </a:prstGeom>
          <a:solidFill>
            <a:srgbClr val="0B1F3A"/>
          </a:solidFill>
        </p:spPr>
      </p:sp>
      <p:sp>
        <p:nvSpPr>
          <p:cNvPr id="50" name="Shape 48"/>
          <p:cNvSpPr/>
          <p:nvPr/>
        </p:nvSpPr>
        <p:spPr>
          <a:xfrm>
            <a:off x="640080" y="4855464"/>
            <a:ext cx="10972800" cy="562356"/>
          </a:xfrm>
          <a:prstGeom prst="rect">
            <a:avLst/>
          </a:prstGeom>
          <a:solidFill>
            <a:srgbClr val="F2F4F7"/>
          </a:solidFill>
        </p:spPr>
      </p:sp>
      <p:sp>
        <p:nvSpPr>
          <p:cNvPr id="51" name="Text 49"/>
          <p:cNvSpPr/>
          <p:nvPr/>
        </p:nvSpPr>
        <p:spPr>
          <a:xfrm>
            <a:off x="685800" y="4855464"/>
            <a:ext cx="777240" cy="562356"/>
          </a:xfrm>
          <a:prstGeom prst="rect">
            <a:avLst/>
          </a:prstGeom>
          <a:noFill/>
        </p:spPr>
        <p:txBody>
          <a:bodyPr wrap="square" rtlCol="0" anchor="ctr"/>
          <a:lstStyle/>
          <a:p>
            <a:pPr marL="0" indent="0">
              <a:buNone/>
            </a:pPr>
            <a:r>
              <a:rPr lang="en-US" sz="950" b="1" dirty="0">
                <a:solidFill>
                  <a:srgbClr val="0B1F3A"/>
                </a:solidFill>
                <a:latin typeface="Arial" panose="020B0604020202020204" pitchFamily="34" charset="0"/>
                <a:ea typeface="Arial" panose="020B0604020202020204" pitchFamily="34" charset="-122"/>
                <a:cs typeface="Arial" panose="020B0604020202020204" pitchFamily="34" charset="-120"/>
              </a:rPr>
              <a:t>Wk 13</a:t>
            </a:r>
            <a:endParaRPr lang="en-US" sz="950" dirty="0"/>
          </a:p>
        </p:txBody>
      </p:sp>
      <p:sp>
        <p:nvSpPr>
          <p:cNvPr id="52" name="Text 50"/>
          <p:cNvSpPr/>
          <p:nvPr/>
        </p:nvSpPr>
        <p:spPr>
          <a:xfrm>
            <a:off x="1508760" y="4855464"/>
            <a:ext cx="1645920" cy="562356"/>
          </a:xfrm>
          <a:prstGeom prst="rect">
            <a:avLst/>
          </a:prstGeom>
          <a:noFill/>
        </p:spPr>
        <p:txBody>
          <a:bodyPr wrap="square" rtlCol="0" anchor="ctr"/>
          <a:lstStyle/>
          <a:p>
            <a:pPr marL="0" indent="0">
              <a:lnSpc>
                <a:spcPct val="100000"/>
              </a:lnSpc>
              <a:buNone/>
            </a:pPr>
            <a:r>
              <a:rPr lang="en-US" sz="1000" dirty="0">
                <a:solidFill>
                  <a:srgbClr val="4A5563"/>
                </a:solidFill>
                <a:latin typeface="Arial" panose="020B0604020202020204" pitchFamily="34" charset="0"/>
                <a:ea typeface="Arial" panose="020B0604020202020204" pitchFamily="34" charset="-122"/>
                <a:cs typeface="Arial" panose="020B0604020202020204" pitchFamily="34" charset="-120"/>
              </a:rPr>
              <a:t>Final presentation, system demo &amp; viva</a:t>
            </a:r>
            <a:endParaRPr lang="en-US" sz="1000" dirty="0"/>
          </a:p>
        </p:txBody>
      </p:sp>
      <p:sp>
        <p:nvSpPr>
          <p:cNvPr id="53" name="Shape 51"/>
          <p:cNvSpPr/>
          <p:nvPr/>
        </p:nvSpPr>
        <p:spPr>
          <a:xfrm>
            <a:off x="10055352" y="4999482"/>
            <a:ext cx="623316" cy="274320"/>
          </a:xfrm>
          <a:prstGeom prst="roundRect">
            <a:avLst>
              <a:gd name="adj" fmla="val 20000"/>
            </a:avLst>
          </a:prstGeom>
          <a:solidFill>
            <a:srgbClr val="2F6FED"/>
          </a:solidFill>
        </p:spPr>
      </p:sp>
      <p:sp>
        <p:nvSpPr>
          <p:cNvPr id="54" name="Text 52"/>
          <p:cNvSpPr/>
          <p:nvPr/>
        </p:nvSpPr>
        <p:spPr>
          <a:xfrm>
            <a:off x="685800" y="5417820"/>
            <a:ext cx="777240" cy="562356"/>
          </a:xfrm>
          <a:prstGeom prst="rect">
            <a:avLst/>
          </a:prstGeom>
          <a:noFill/>
        </p:spPr>
        <p:txBody>
          <a:bodyPr wrap="square" rtlCol="0" anchor="ctr"/>
          <a:lstStyle/>
          <a:p>
            <a:pPr marL="0" indent="0">
              <a:buNone/>
            </a:pPr>
            <a:r>
              <a:rPr lang="en-US" sz="950" b="1" dirty="0">
                <a:solidFill>
                  <a:srgbClr val="0B1F3A"/>
                </a:solidFill>
                <a:latin typeface="Arial" panose="020B0604020202020204" pitchFamily="34" charset="0"/>
                <a:ea typeface="Arial" panose="020B0604020202020204" pitchFamily="34" charset="-122"/>
                <a:cs typeface="Arial" panose="020B0604020202020204" pitchFamily="34" charset="-120"/>
              </a:rPr>
              <a:t>Wk 14</a:t>
            </a:r>
            <a:endParaRPr lang="en-US" sz="950" dirty="0"/>
          </a:p>
        </p:txBody>
      </p:sp>
      <p:sp>
        <p:nvSpPr>
          <p:cNvPr id="55" name="Text 53"/>
          <p:cNvSpPr/>
          <p:nvPr/>
        </p:nvSpPr>
        <p:spPr>
          <a:xfrm>
            <a:off x="1508760" y="5417820"/>
            <a:ext cx="1645920" cy="562356"/>
          </a:xfrm>
          <a:prstGeom prst="rect">
            <a:avLst/>
          </a:prstGeom>
          <a:noFill/>
        </p:spPr>
        <p:txBody>
          <a:bodyPr wrap="square" rtlCol="0" anchor="ctr"/>
          <a:lstStyle/>
          <a:p>
            <a:pPr marL="0" indent="0">
              <a:lnSpc>
                <a:spcPct val="100000"/>
              </a:lnSpc>
              <a:buNone/>
            </a:pPr>
            <a:r>
              <a:rPr lang="en-US" sz="1000" dirty="0">
                <a:solidFill>
                  <a:srgbClr val="4A5563"/>
                </a:solidFill>
                <a:latin typeface="Arial" panose="020B0604020202020204" pitchFamily="34" charset="0"/>
                <a:ea typeface="Arial" panose="020B0604020202020204" pitchFamily="34" charset="-122"/>
                <a:cs typeface="Arial" panose="020B0604020202020204" pitchFamily="34" charset="-120"/>
              </a:rPr>
              <a:t>Final report &amp; source-code submission</a:t>
            </a:r>
            <a:endParaRPr lang="en-US" sz="1000" dirty="0"/>
          </a:p>
        </p:txBody>
      </p:sp>
      <p:sp>
        <p:nvSpPr>
          <p:cNvPr id="56" name="Shape 54"/>
          <p:cNvSpPr/>
          <p:nvPr/>
        </p:nvSpPr>
        <p:spPr>
          <a:xfrm>
            <a:off x="10733532" y="5561838"/>
            <a:ext cx="623316" cy="274320"/>
          </a:xfrm>
          <a:prstGeom prst="roundRect">
            <a:avLst>
              <a:gd name="adj" fmla="val 20000"/>
            </a:avLst>
          </a:prstGeom>
          <a:solidFill>
            <a:srgbClr val="0B1F3A"/>
          </a:solidFill>
        </p:spPr>
      </p:sp>
      <p:sp>
        <p:nvSpPr>
          <p:cNvPr id="57" name="Text 55"/>
          <p:cNvSpPr/>
          <p:nvPr/>
        </p:nvSpPr>
        <p:spPr>
          <a:xfrm>
            <a:off x="11503152" y="6400800"/>
            <a:ext cx="457200" cy="274320"/>
          </a:xfrm>
          <a:prstGeom prst="rect">
            <a:avLst/>
          </a:prstGeom>
          <a:noFill/>
        </p:spPr>
        <p:txBody>
          <a:bodyPr wrap="square" rtlCol="0" anchor="ctr"/>
          <a:lstStyle/>
          <a:p>
            <a:pPr marL="0" indent="0" algn="r">
              <a:buNone/>
            </a:pPr>
            <a:r>
              <a:rPr lang="en-US" sz="900" dirty="0">
                <a:solidFill>
                  <a:srgbClr val="6B7684"/>
                </a:solidFill>
                <a:latin typeface="Arial" panose="020B0604020202020204" pitchFamily="34" charset="0"/>
                <a:ea typeface="Arial" panose="020B0604020202020204" pitchFamily="34" charset="-122"/>
                <a:cs typeface="Arial" panose="020B0604020202020204"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13294F"/>
          </a:solidFill>
        </p:spPr>
      </p:sp>
      <p:sp>
        <p:nvSpPr>
          <p:cNvPr id="3" name="Shape 1"/>
          <p:cNvSpPr/>
          <p:nvPr/>
        </p:nvSpPr>
        <p:spPr>
          <a:xfrm rot="1200000">
            <a:off x="9509760" y="3474720"/>
            <a:ext cx="4572000" cy="4572000"/>
          </a:xfrm>
          <a:prstGeom prst="rect">
            <a:avLst/>
          </a:prstGeom>
          <a:solidFill>
            <a:srgbClr val="071528"/>
          </a:solidFill>
        </p:spPr>
      </p:sp>
      <p:sp>
        <p:nvSpPr>
          <p:cNvPr id="4" name="Text 2"/>
          <p:cNvSpPr/>
          <p:nvPr/>
        </p:nvSpPr>
        <p:spPr>
          <a:xfrm>
            <a:off x="640080" y="411480"/>
            <a:ext cx="5486400" cy="274320"/>
          </a:xfrm>
          <a:prstGeom prst="rect">
            <a:avLst/>
          </a:prstGeom>
          <a:noFill/>
        </p:spPr>
        <p:txBody>
          <a:bodyPr wrap="square" rtlCol="0" anchor="ctr"/>
          <a:lstStyle/>
          <a:p>
            <a:pPr marL="0" indent="0">
              <a:buNone/>
            </a:pPr>
            <a:r>
              <a:rPr lang="en-US" sz="4000" b="1" kern="0" spc="200" dirty="0">
                <a:solidFill>
                  <a:srgbClr val="2F6FED"/>
                </a:solidFill>
                <a:latin typeface="Arial" panose="020B0604020202020204" pitchFamily="34" charset="0"/>
                <a:ea typeface="Arial" panose="020B0604020202020204" pitchFamily="34" charset="-122"/>
                <a:cs typeface="Arial" panose="020B0604020202020204" pitchFamily="34" charset="-120"/>
              </a:rPr>
              <a:t>CONCLUSION</a:t>
            </a:r>
            <a:endParaRPr lang="en-US" sz="4000" dirty="0"/>
          </a:p>
        </p:txBody>
      </p:sp>
      <p:sp>
        <p:nvSpPr>
          <p:cNvPr id="5" name="Text 3"/>
          <p:cNvSpPr/>
          <p:nvPr/>
        </p:nvSpPr>
        <p:spPr>
          <a:xfrm>
            <a:off x="640080" y="1737360"/>
            <a:ext cx="7772400" cy="1920240"/>
          </a:xfrm>
          <a:prstGeom prst="rect">
            <a:avLst/>
          </a:prstGeom>
          <a:noFill/>
        </p:spPr>
        <p:txBody>
          <a:bodyPr wrap="square" rtlCol="0" anchor="ctr"/>
          <a:lstStyle/>
          <a:p>
            <a:pPr marL="0" indent="0">
              <a:lnSpc>
                <a:spcPct val="105000"/>
              </a:lnSpc>
              <a:buNone/>
            </a:pPr>
            <a:r>
              <a:rPr lang="en-US" sz="3400" b="1" dirty="0">
                <a:solidFill>
                  <a:srgbClr val="FFFFFF"/>
                </a:solidFill>
                <a:latin typeface="Arial" panose="020B0604020202020204" pitchFamily="34" charset="0"/>
                <a:ea typeface="Arial" panose="020B0604020202020204" pitchFamily="34" charset="-122"/>
                <a:cs typeface="Arial" panose="020B0604020202020204" pitchFamily="34" charset="-120"/>
              </a:rPr>
              <a:t>One Platform.</a:t>
            </a:r>
            <a:endParaRPr lang="en-US" sz="3400" dirty="0"/>
          </a:p>
          <a:p>
            <a:pPr marL="0" indent="0">
              <a:lnSpc>
                <a:spcPct val="105000"/>
              </a:lnSpc>
              <a:buNone/>
            </a:pPr>
            <a:r>
              <a:rPr lang="en-US" sz="3400" b="1" dirty="0">
                <a:solidFill>
                  <a:srgbClr val="FFFFFF"/>
                </a:solidFill>
                <a:latin typeface="Arial" panose="020B0604020202020204" pitchFamily="34" charset="0"/>
                <a:ea typeface="Arial" panose="020B0604020202020204" pitchFamily="34" charset="-122"/>
                <a:cs typeface="Arial" panose="020B0604020202020204" pitchFamily="34" charset="-120"/>
              </a:rPr>
              <a:t>Six Core Modules.</a:t>
            </a:r>
            <a:endParaRPr lang="en-US" sz="3400" dirty="0"/>
          </a:p>
          <a:p>
            <a:pPr marL="0" indent="0">
              <a:lnSpc>
                <a:spcPct val="105000"/>
              </a:lnSpc>
              <a:buNone/>
            </a:pPr>
            <a:r>
              <a:rPr lang="en-US" sz="3400" b="1" dirty="0">
                <a:solidFill>
                  <a:srgbClr val="FFFFFF"/>
                </a:solidFill>
                <a:latin typeface="Arial" panose="020B0604020202020204" pitchFamily="34" charset="0"/>
                <a:ea typeface="Arial" panose="020B0604020202020204" pitchFamily="34" charset="-122"/>
                <a:cs typeface="Arial" panose="020B0604020202020204" pitchFamily="34" charset="-120"/>
              </a:rPr>
              <a:t>Every Vehicle Ready.</a:t>
            </a:r>
            <a:endParaRPr lang="en-US" sz="3400" dirty="0"/>
          </a:p>
        </p:txBody>
      </p:sp>
      <p:pic>
        <p:nvPicPr>
          <p:cNvPr id="6" name="Image 0" descr="icons/checkCircle_luminex.png"/>
          <p:cNvPicPr>
            <a:picLocks noChangeAspect="1"/>
          </p:cNvPicPr>
          <p:nvPr/>
        </p:nvPicPr>
        <p:blipFill>
          <a:blip r:embed="rId1"/>
          <a:stretch>
            <a:fillRect/>
          </a:stretch>
        </p:blipFill>
        <p:spPr>
          <a:xfrm>
            <a:off x="640080" y="3977640"/>
            <a:ext cx="274320" cy="274320"/>
          </a:xfrm>
          <a:prstGeom prst="rect">
            <a:avLst/>
          </a:prstGeom>
        </p:spPr>
      </p:pic>
      <p:sp>
        <p:nvSpPr>
          <p:cNvPr id="7" name="Text 4"/>
          <p:cNvSpPr/>
          <p:nvPr/>
        </p:nvSpPr>
        <p:spPr>
          <a:xfrm>
            <a:off x="1051560" y="3922776"/>
            <a:ext cx="9875520" cy="502920"/>
          </a:xfrm>
          <a:prstGeom prst="rect">
            <a:avLst/>
          </a:prstGeom>
          <a:noFill/>
        </p:spPr>
        <p:txBody>
          <a:bodyPr wrap="square" rtlCol="0" anchor="ctr"/>
          <a:lstStyle/>
          <a:p>
            <a:pPr marL="0" indent="0">
              <a:buNone/>
            </a:pPr>
            <a:r>
              <a:rPr lang="en-US" sz="2000" dirty="0">
                <a:solidFill>
                  <a:srgbClr val="F2F4F7"/>
                </a:solidFill>
                <a:latin typeface="Arial" panose="020B0604020202020204" pitchFamily="34" charset="0"/>
                <a:ea typeface="Arial" panose="020B0604020202020204" pitchFamily="34" charset="-122"/>
                <a:cs typeface="Arial" panose="020B0604020202020204" pitchFamily="34" charset="-120"/>
              </a:rPr>
              <a:t>One reliable platform for vehicle service, fuel tracking, bookings, payments, and communication</a:t>
            </a:r>
            <a:endParaRPr lang="en-US" sz="2000" dirty="0">
              <a:solidFill>
                <a:srgbClr val="F2F4F7"/>
              </a:solidFill>
              <a:latin typeface="Arial" panose="020B0604020202020204" pitchFamily="34" charset="0"/>
              <a:ea typeface="Arial" panose="020B0604020202020204" pitchFamily="34" charset="-122"/>
              <a:cs typeface="Arial" panose="020B0604020202020204" pitchFamily="34" charset="-120"/>
            </a:endParaRPr>
          </a:p>
        </p:txBody>
      </p:sp>
      <p:pic>
        <p:nvPicPr>
          <p:cNvPr id="8" name="Image 1" descr="icons/checkCircle_luminex.png"/>
          <p:cNvPicPr>
            <a:picLocks noChangeAspect="1"/>
          </p:cNvPicPr>
          <p:nvPr/>
        </p:nvPicPr>
        <p:blipFill>
          <a:blip r:embed="rId1"/>
          <a:stretch>
            <a:fillRect/>
          </a:stretch>
        </p:blipFill>
        <p:spPr>
          <a:xfrm>
            <a:off x="640080" y="4544568"/>
            <a:ext cx="274320" cy="274320"/>
          </a:xfrm>
          <a:prstGeom prst="rect">
            <a:avLst/>
          </a:prstGeom>
        </p:spPr>
      </p:pic>
      <p:sp>
        <p:nvSpPr>
          <p:cNvPr id="9" name="Text 5"/>
          <p:cNvSpPr/>
          <p:nvPr/>
        </p:nvSpPr>
        <p:spPr>
          <a:xfrm>
            <a:off x="1051560" y="4489704"/>
            <a:ext cx="9875520" cy="502920"/>
          </a:xfrm>
          <a:prstGeom prst="rect">
            <a:avLst/>
          </a:prstGeom>
          <a:noFill/>
        </p:spPr>
        <p:txBody>
          <a:bodyPr wrap="square" rtlCol="0" anchor="ctr"/>
          <a:lstStyle/>
          <a:p>
            <a:pPr marL="0" indent="0">
              <a:buNone/>
            </a:pPr>
            <a:r>
              <a:rPr lang="en-US" sz="2000" dirty="0">
                <a:solidFill>
                  <a:srgbClr val="F2F4F7"/>
                </a:solidFill>
                <a:latin typeface="Arial" panose="020B0604020202020204" pitchFamily="34" charset="0"/>
                <a:ea typeface="Arial" panose="020B0604020202020204" pitchFamily="34" charset="-122"/>
                <a:cs typeface="Arial" panose="020B0604020202020204" pitchFamily="34" charset="-120"/>
              </a:rPr>
              <a:t>Reduces manual work and improves financial control</a:t>
            </a:r>
            <a:endParaRPr lang="en-US" sz="2000" dirty="0"/>
          </a:p>
        </p:txBody>
      </p:sp>
      <p:pic>
        <p:nvPicPr>
          <p:cNvPr id="10" name="Image 2" descr="icons/checkCircle_luminex.png"/>
          <p:cNvPicPr>
            <a:picLocks noChangeAspect="1"/>
          </p:cNvPicPr>
          <p:nvPr/>
        </p:nvPicPr>
        <p:blipFill>
          <a:blip r:embed="rId1"/>
          <a:stretch>
            <a:fillRect/>
          </a:stretch>
        </p:blipFill>
        <p:spPr>
          <a:xfrm>
            <a:off x="640080" y="5111496"/>
            <a:ext cx="274320" cy="274320"/>
          </a:xfrm>
          <a:prstGeom prst="rect">
            <a:avLst/>
          </a:prstGeom>
        </p:spPr>
      </p:pic>
      <p:sp>
        <p:nvSpPr>
          <p:cNvPr id="11" name="Text 6"/>
          <p:cNvSpPr/>
          <p:nvPr/>
        </p:nvSpPr>
        <p:spPr>
          <a:xfrm>
            <a:off x="1051560" y="5056632"/>
            <a:ext cx="9875520" cy="502920"/>
          </a:xfrm>
          <a:prstGeom prst="rect">
            <a:avLst/>
          </a:prstGeom>
          <a:noFill/>
        </p:spPr>
        <p:txBody>
          <a:bodyPr wrap="square" rtlCol="0" anchor="ctr"/>
          <a:lstStyle/>
          <a:p>
            <a:pPr marL="0" indent="0">
              <a:buNone/>
            </a:pPr>
            <a:r>
              <a:rPr lang="en-US" sz="2000" dirty="0">
                <a:solidFill>
                  <a:srgbClr val="F2F4F7"/>
                </a:solidFill>
                <a:latin typeface="Arial" panose="020B0604020202020204" pitchFamily="34" charset="0"/>
                <a:ea typeface="Arial" panose="020B0604020202020204" pitchFamily="34" charset="-122"/>
                <a:cs typeface="Arial" panose="020B0604020202020204" pitchFamily="34" charset="-120"/>
              </a:rPr>
              <a:t>Avoids scheduling conflicts and gives customers a better service experience</a:t>
            </a:r>
            <a:endParaRPr lang="en-US" sz="2000" dirty="0"/>
          </a:p>
        </p:txBody>
      </p:sp>
      <p:sp>
        <p:nvSpPr>
          <p:cNvPr id="12" name="Shape 7"/>
          <p:cNvSpPr/>
          <p:nvPr/>
        </p:nvSpPr>
        <p:spPr>
          <a:xfrm>
            <a:off x="640080" y="5989320"/>
            <a:ext cx="5120640" cy="18288"/>
          </a:xfrm>
          <a:prstGeom prst="line">
            <a:avLst/>
          </a:prstGeom>
          <a:solidFill>
            <a:srgbClr val="13294F"/>
          </a:solidFill>
        </p:spPr>
      </p:sp>
      <p:sp>
        <p:nvSpPr>
          <p:cNvPr id="13" name="Text 8"/>
          <p:cNvSpPr/>
          <p:nvPr/>
        </p:nvSpPr>
        <p:spPr>
          <a:xfrm>
            <a:off x="640080" y="6080760"/>
            <a:ext cx="9144000" cy="365760"/>
          </a:xfrm>
          <a:prstGeom prst="rect">
            <a:avLst/>
          </a:prstGeom>
          <a:noFill/>
        </p:spPr>
        <p:txBody>
          <a:bodyPr wrap="square" rtlCol="0" anchor="ctr"/>
          <a:lstStyle/>
          <a:p>
            <a:pPr marL="0" indent="0">
              <a:buNone/>
            </a:pPr>
            <a:r>
              <a:rPr lang="en-US" sz="1100" dirty="0">
                <a:solidFill>
                  <a:srgbClr val="6B7684"/>
                </a:solidFill>
                <a:latin typeface="Arial" panose="020B0604020202020204" pitchFamily="34" charset="0"/>
                <a:ea typeface="Arial" panose="020B0604020202020204" pitchFamily="34" charset="-122"/>
                <a:cs typeface="Arial" panose="020B0604020202020204" pitchFamily="34" charset="-120"/>
              </a:rPr>
              <a:t>Group 2026-Y2-S1-KU-01   ·   SE2030 Software Engineering   ·   Thank You</a:t>
            </a:r>
            <a:endParaRPr lang="en-US" sz="1100" dirty="0"/>
          </a:p>
        </p:txBody>
      </p:sp>
      <p:sp>
        <p:nvSpPr>
          <p:cNvPr id="14" name="Text 9"/>
          <p:cNvSpPr/>
          <p:nvPr/>
        </p:nvSpPr>
        <p:spPr>
          <a:xfrm>
            <a:off x="11503152" y="6400800"/>
            <a:ext cx="457200" cy="274320"/>
          </a:xfrm>
          <a:prstGeom prst="rect">
            <a:avLst/>
          </a:prstGeom>
          <a:noFill/>
        </p:spPr>
        <p:txBody>
          <a:bodyPr wrap="square" rtlCol="0" anchor="ctr"/>
          <a:lstStyle/>
          <a:p>
            <a:pPr marL="0" indent="0" algn="r">
              <a:buNone/>
            </a:pPr>
            <a:r>
              <a:rPr lang="en-US" sz="900" dirty="0">
                <a:solidFill>
                  <a:srgbClr val="6B7684"/>
                </a:solidFill>
                <a:latin typeface="Arial" panose="020B0604020202020204" pitchFamily="34" charset="0"/>
                <a:ea typeface="Arial" panose="020B0604020202020204" pitchFamily="34" charset="-122"/>
                <a:cs typeface="Arial" panose="020B0604020202020204"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6830</Words>
  <Application>WPS Presentation</Application>
  <PresentationFormat>On-screen Show (16:9)</PresentationFormat>
  <Paragraphs>520</Paragraphs>
  <Slides>12</Slides>
  <Notes>12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Arial</vt:lpstr>
      <vt:lpstr>SimSun</vt:lpstr>
      <vt:lpstr>Wingdings</vt:lpstr>
      <vt:lpstr>Arial</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ASUS</cp:lastModifiedBy>
  <cp:revision>3</cp:revision>
  <dcterms:created xsi:type="dcterms:W3CDTF">2026-07-26T08:34:00Z</dcterms:created>
  <dcterms:modified xsi:type="dcterms:W3CDTF">2026-07-26T12:53:56Z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0C07AA378AA3472BB71038F673F175EB_13</vt:lpwstr>
  </property>
</Properties>
</file>